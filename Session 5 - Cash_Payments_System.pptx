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BEC354-1593-42A4-8571-F5649051F1DE}" v="3" dt="2026-03-18T09:34:27.8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72" y="6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5405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Welcome to this overview of the U.S. Cash Payments System, based on "Payment Systems in the U.S." (Third Edition).
Key talking points:
• Cash is the simplest and most widely used payment system in the United States.
• It is a "push" payments system — the payer initiates the transfer without any account required on either side.
• No one owns cash, no one writes the rules — it's a virtual payments system.
• Despite the rise of cards and digital payments, cash remains a dominant force due to simplicity, convenience, and anonymity.
Open with: "Cash may seem old-fashioned, but it's still the backbone of small-value transactions in the U.S. — and understanding how it flows through the economy is essential for anyone in the payments industry."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Cash Overview
Key points from the book:
• Cash is described as the simplest payments system in the U.S. — a self-clearing "push" payment where the payer initiates value transfer directly.
• It is a non-account-based system — neither party needs a bank account or any service relationship.
• Cash is a virtual payments system in the sense that no single entity owns it and no one writes "the rules."
• Most importantly: cash is the ONLY payment method that allows true anonymity for both payer and payee.
• Despite its simplicity, it remains the most commonly used AND the least understood payment system.
Emphasize: The anonymity and simplicity of cash are its enduring advantages — and why it persists even as digital payments grow.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Cash Volumes
• No one truly knows the total number of cash transactions in the U.S. — there is no central tracking system.
• Estimates have been made by the San Francisco Federal Reserve Bank, but they are necessarily incomplete.
• Cash is used heavily for: person-to-person transactions, small/personal business payments, off-the-books payrolls, and in the criminal economy.
• A significant factoid: economists estimate that as much as 60% of cash produced by the U.S. is held overseas — often in countries with unstable currencies.
• Globally, cash dominates developing markets. India: ~96% of purchases are cash. High percentage of unbanked population drives this.
Talking point: "Cash is far more global than we often think — the U.S. dollar is a store of value for people worldwide who may never set foot in a bank."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Cash Production &amp; Supply Chain
The lifecycle of cash begins long before it reaches your wallet:
1. PRODUCTION: 
   • Bank notes (paper bills) are produced by the U.S. Treasury's Bureau of Engraving and Printing.
   • Coins are produced by the U.S. Mint.
2. ENTRY INTO ECONOMY:
   • The ONLY way cash gets physically inserted into the economy is through Federal Reserve Bank member banks.
   • When a member bank orders cash, the Fed debits the bank's Fed account and tells the bank to collect.
3. DISTRIBUTION:
   • Banks then distribute cash to their branch vaults, ATMs, and merchants via armored car services (e.g., Brinks, Loomis, Garda).
Key insight: "Cash supply is tightly controlled — every dollar in circulation was ordered by a Fed member bank and debited against their reserve account."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Cash Acceptance &amp; Deposit
ACCEPTANCE SIDE:
• Merchants accepting cash need the people, procedures, and storage to manage it safely.
• The cost structure is mostly FIXED — so even if cash volume drops 20%, costs don't drop 20%. This is an important strategic consideration.
• The "Legal Tender" myth: many assume merchants must accept cash due to legal tender laws. In reality, legal tender refers to settling debts, not forcing merchants to accept it. Airlines have led the movement away from cash.
DEPOSIT SIDE:
• Cash deposits are more complex and costly than digital settlements.
• Onsite vaults (sometimes called "smart safes") are a growing trend — they count and verify cash electronically, giving the merchant immediate deposit credit, while armored car service picks up physically.
• Key regulation: The Bank Secrecy Act of 1970 and USA PATRIOT Act of 2001 require banks to report large cash deposits to prevent money laundering.
Interesting tidbit: Grocery stores reduce cash handling costs by offering cash-back at checkout — customers get cash, store reduces the deposit burden.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ATM Value Chain
Three paths a consumer can take when withdrawing cash:
PATH 1 — Own Bank ATM:
• Simplest scenario. Usually free (or included in checking account package).
• Most banks include a monthly limit of free ATM withdrawals.
PATH 2 — Another Bank's ATM:
• ATM network (e.g., Visa, Mastercard, STAR) connects the two banks.
• "Backward interchange" fee: customer's bank PAYS the ATM-owning bank (opposite direction from POS debit interchange).
• Customer may face BOTH: (a) surcharge from the ATM-owning bank AND (b) foreign ATM fee from their own bank.
PATH 3 — Non-Bank ATM:
• Non-bank ATM (e.g., in a convenience store) must contract with a member bank to access the customer's account.
• Revenue split between the non-bank ATM owner and its bank partner.
• Additional parties: ATM processor (provides network access), facility owner (the store) may also receive payment.
Key insight: "Surcharge-free networks like Allpoint and MoneyPass allow banks and prepaid card issuers to let customers withdraw from any network ATM without surcharges — the member bank still pays interchange."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ATM Fee Structure
This slide breaks down the often-confusing fee landscape in ATM transactions.
IMPORTANT DISTINCTION — Backward Interchange:
• In POS debit transactions, interchange flows FROM the merchant's bank TO the cardholder's bank.
• In ATM transactions, it's the OPPOSITE: the customer's bank pays the ATM bank. Hence "backward interchange."
Consumer Double-Jeopardy:
• A customer using a foreign ATM can be charged TWICE: (1) the ATM surcharge + (2) their own bank's foreign ATM fee.
• This has led to significant consumer frustration and regulatory scrutiny.
Non-Bank ATMs (like in convenience stores):
• Must contract with a bank to access networks.
• Revenue is split between the non-bank operator and the bank partner.
• Additional revenue flows to ATM processors and the host location.
Surcharge-Free Networks:
• Banks and prepaid card issuers join networks like Allpoint or MoneyPass.
• Their customers can use any network ATM without a surcharge.
• The member bank still pays interchange to the ATM-owning bank — but the consumer doesn't see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Payment Methods Comparison
This is a key strategic slide — understanding the fundamental differences helps payment professionals advise merchants and issuers.
CASH:
• Only non-account-based system — works for the unbanked.
• Full anonymity is unique to cash. No digital trail.
• Costs are FIXED, not variable — reducing cash volume doesn't reduce cash handling costs proportionally.
CARDS (Debit &amp; Credit):
• "Pull" payments — initiated by the payee (merchant) against the payer's account.
• Interchange fees are the main cost driver for merchants. Variable with volume.
• Fraud chargebacks are a major risk/cost for merchants.
ACH:
• Electronic batch processing — used for payroll, B2B payments, bill pay.
• Very low per-transaction cost, but settlement takes 1-3 business days.
• Growing use for same-day ACH is narrowing the settlement gap.
Key insight for merchants: "If you're trying to decide whether to stop accepting cash, know that your cash handling costs won't disappear proportionally — most of them are fixed."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Regulation &amp; Risk
Cash regulation is primarily concerned with two threats: money laundering and counterfeiting.
ANTI-MONEY LAUNDERING:
• Bank Secrecy Act of 1970: The foundational AML regulation. Banks must file Currency Transaction Reports (CTRs) for cash transactions over $10,000.
• USA PATRIOT Act (2001): Extended obligations, added customer identification requirements, and strengthened enforcement after 9/11.
• "Structuring" — breaking up deposits to stay under the $10k threshold — is itself illegal (called "smurfing").
• Banks use sophisticated AML software (Oracle/Mantis, Actimize) to detect suspicious patterns.
• Fines for non-compliance can be enormous — billions of dollars in some cases.
COUNTERFEITING:
• Advances in desktop printing and imaging have made counterfeiting more accessible.
• Banks and large merchants routinely scan currency for counterfeits — most are caught this way.
• The Secret Service (part of DHS, originally part of Treasury) is the primary federal agency for currency counterfeiting investigation.
• Banks can deposit worn, damaged, or excess currency back to the Federal Reserve — where it is destroyed.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Major Industry Providers
This ecosystem shows the diversity of companies that profit from or support the cash system:
• The Federal Reserve: Core infrastructure — issues all currency, provides the backbone of cash distribution.
• Cash Delivery Services (Armored Carriers): Brinks, Garda, Loomis — transport cash between Fed, banks, ATMs, and merchants. Critical physical infrastructure.
• ATM Manufacturers: Diebold and NCR dominate the U.S. ATM hardware market.
• Non-Bank ATM Operators: Cardtronics is the largest non-bank ATM operator in the world. Also operates the Allpoint surcharge-free network.
• AML Software: Oracle (via Mantis acquisition) and NICE Actimize (via Fortent) are dominant in transaction monitoring and suspicious activity detection.
• Counterfeit Detection: Specialized hardware companies like AceDepot provide currency verification equipment for banks and large merchants.
Key insight: "The cash ecosystem is surprisingly complex — a $20 bill involves the Treasury, the Fed, armored carriers, multiple banks, ATM operators, and processors before it reaches your pocket."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Key Trends in Cash
Cash is evolving, not disappearing:
1. DECLINING POS USAGE: Card acceptance has grown dramatically. Contactless/tap-to-pay is accelerating the shift. COVID-19 (after this book's edition) significantly accelerated this trend.
2. MERCHANT SMART SAFES: A significant operational innovation. Merchants get same-day credit for cash in their vault without physically transporting it to a bank. Reduces labor, theft risk, and armored car costs.
3. ENVELOPE-FREE ATMs: Major operational improvement — faster processing, less error, higher consumer confidence in deposits. Banks have seen ATM deposit volumes increase.
4. PREPAID CARDS &amp; ATM VOLUME: Even as card payments grow, prepaid cards are indirectly increasing ATM withdrawals. Unbanked consumers load prepaid cards and then withdraw cash — maintaining cash volume.
5. CICO (Cash-In, Cash-Out): In Africa and South Asia, mobile wallets are the primary financial tool for the unbanked. Agent networks replace bank branches.
6. CASH-TO-ONLINE VOUCHERS: Products like PayNearMe allow consumers to pay cash at retail locations for online purchases or bill payments.
Bottom line: "Cash volume at POS is declining, but total cash circulation remains robust due to ATM usage, overseas holdings, and informal economy activity."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Summary &amp; Conclusion
Close with these key themes:
1. SIMPLICITY IS DECEPTIVE: Cash seems simple but involves a complex supply chain from Treasury → Fed → Banks → ATMs → Consumers.
2. ECONOMICS ARE UNIQUE: Fixed-cost structure means reducing cash volume doesn't reduce merchant costs. Backward interchange in ATMs differs fundamentally from card POS interchange.
3. REGULATORY ENVIRONMENT: Banks face strict AML reporting obligations. Failure to comply carries enormous fines. The Secret Service maintains primary law enforcement responsibility for counterfeiting.
4. CASH IS EVOLVING, NOT DYING: Despite declining POS usage, cash persists because of: overseas demand, informal economy, the unbanked population, and ATM/prepaid card usage.
5. GLOBAL PERSPECTIVE: In much of the world, cash remains the only viable payment system for hundreds of millions of people — making the CICO and mobile wallet ecosystem critically important.
Closing statement: "Cash may be the oldest payment method, but understanding it thoroughly — its production, distribution, regulation, and trends — is essential for any payments professional."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1B3A6B">
              <a:alpha val="30000"/>
            </a:srgbClr>
          </a:solidFill>
          <a:ln w="12700">
            <a:solidFill>
              <a:srgbClr val="1B3A6B">
                <a:alpha val="30000"/>
              </a:srgbClr>
            </a:solidFill>
            <a:prstDash val="solid"/>
          </a:ln>
        </p:spPr>
        <p:txBody>
          <a:bodyPr/>
          <a:lstStyle/>
          <a:p>
            <a:endParaRPr lang="en-IN"/>
          </a:p>
        </p:txBody>
      </p:sp>
      <p:sp>
        <p:nvSpPr>
          <p:cNvPr id="3" name="Shape 1"/>
          <p:cNvSpPr/>
          <p:nvPr/>
        </p:nvSpPr>
        <p:spPr>
          <a:xfrm>
            <a:off x="6858000" y="2743200"/>
            <a:ext cx="3200400" cy="3200400"/>
          </a:xfrm>
          <a:prstGeom prst="ellipse">
            <a:avLst/>
          </a:prstGeom>
          <a:solidFill>
            <a:srgbClr val="1E5B9C">
              <a:alpha val="25000"/>
            </a:srgbClr>
          </a:solidFill>
          <a:ln w="12700">
            <a:solidFill>
              <a:srgbClr val="1E5B9C">
                <a:alpha val="25000"/>
              </a:srgbClr>
            </a:solidFill>
            <a:prstDash val="solid"/>
          </a:ln>
        </p:spPr>
        <p:txBody>
          <a:bodyPr/>
          <a:lstStyle/>
          <a:p>
            <a:endParaRPr lang="en-IN"/>
          </a:p>
        </p:txBody>
      </p:sp>
      <p:sp>
        <p:nvSpPr>
          <p:cNvPr id="4" name="Shape 2"/>
          <p:cNvSpPr/>
          <p:nvPr/>
        </p:nvSpPr>
        <p:spPr>
          <a:xfrm>
            <a:off x="548640" y="1554480"/>
            <a:ext cx="54864" cy="2011680"/>
          </a:xfrm>
          <a:prstGeom prst="rect">
            <a:avLst/>
          </a:prstGeom>
          <a:solidFill>
            <a:srgbClr val="E8A020"/>
          </a:solidFill>
          <a:ln w="12700">
            <a:solidFill>
              <a:srgbClr val="E8A020"/>
            </a:solidFill>
            <a:prstDash val="solid"/>
          </a:ln>
        </p:spPr>
        <p:txBody>
          <a:bodyPr/>
          <a:lstStyle/>
          <a:p>
            <a:endParaRPr lang="en-IN"/>
          </a:p>
        </p:txBody>
      </p:sp>
      <p:sp>
        <p:nvSpPr>
          <p:cNvPr id="5" name="Text 3"/>
          <p:cNvSpPr/>
          <p:nvPr/>
        </p:nvSpPr>
        <p:spPr>
          <a:xfrm>
            <a:off x="731520" y="1554480"/>
            <a:ext cx="7772400" cy="10058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U.S. Cash Payments</a:t>
            </a:r>
            <a:endParaRPr lang="en-US" sz="4400" dirty="0"/>
          </a:p>
        </p:txBody>
      </p:sp>
      <p:sp>
        <p:nvSpPr>
          <p:cNvPr id="6" name="Text 4"/>
          <p:cNvSpPr/>
          <p:nvPr/>
        </p:nvSpPr>
        <p:spPr>
          <a:xfrm>
            <a:off x="731520" y="2468880"/>
            <a:ext cx="7772400" cy="731520"/>
          </a:xfrm>
          <a:prstGeom prst="rect">
            <a:avLst/>
          </a:prstGeom>
          <a:noFill/>
          <a:ln/>
        </p:spPr>
        <p:txBody>
          <a:bodyPr wrap="square" rtlCol="0" anchor="ctr"/>
          <a:lstStyle/>
          <a:p>
            <a:pPr marL="0" indent="0">
              <a:buNone/>
            </a:pPr>
            <a:r>
              <a:rPr lang="en-US" sz="3600" dirty="0">
                <a:solidFill>
                  <a:srgbClr val="F5C842"/>
                </a:solidFill>
                <a:latin typeface="Calibri" pitchFamily="34" charset="0"/>
                <a:ea typeface="Calibri" pitchFamily="34" charset="-122"/>
                <a:cs typeface="Calibri" pitchFamily="34" charset="-120"/>
              </a:rPr>
              <a:t>Overview</a:t>
            </a:r>
            <a:endParaRPr lang="en-US" sz="3600" dirty="0"/>
          </a:p>
        </p:txBody>
      </p:sp>
      <p:sp>
        <p:nvSpPr>
          <p:cNvPr id="7" name="Text 5"/>
          <p:cNvSpPr/>
          <p:nvPr/>
        </p:nvSpPr>
        <p:spPr>
          <a:xfrm>
            <a:off x="731520" y="3291840"/>
            <a:ext cx="7315200" cy="457200"/>
          </a:xfrm>
          <a:prstGeom prst="rect">
            <a:avLst/>
          </a:prstGeom>
          <a:noFill/>
          <a:ln/>
        </p:spPr>
        <p:txBody>
          <a:bodyPr wrap="square" rtlCol="0" anchor="ctr"/>
          <a:lstStyle/>
          <a:p>
            <a:pPr marL="0" indent="0">
              <a:buNone/>
            </a:pPr>
            <a:r>
              <a:rPr lang="en-US" sz="1600" kern="0" spc="200" dirty="0">
                <a:solidFill>
                  <a:srgbClr val="8899AA"/>
                </a:solidFill>
                <a:latin typeface="Calibri" pitchFamily="34" charset="0"/>
                <a:ea typeface="Calibri" pitchFamily="34" charset="-122"/>
                <a:cs typeface="Calibri" pitchFamily="34" charset="-120"/>
              </a:rPr>
              <a:t>Circulation · ATMs · Regulation · Key Trends</a:t>
            </a:r>
            <a:endParaRPr lang="en-US" sz="1600" dirty="0"/>
          </a:p>
        </p:txBody>
      </p:sp>
      <p:sp>
        <p:nvSpPr>
          <p:cNvPr id="8" name="Text 6"/>
          <p:cNvSpPr/>
          <p:nvPr/>
        </p:nvSpPr>
        <p:spPr>
          <a:xfrm>
            <a:off x="731520" y="4572000"/>
            <a:ext cx="7315200" cy="365760"/>
          </a:xfrm>
          <a:prstGeom prst="rect">
            <a:avLst/>
          </a:prstGeom>
          <a:noFill/>
          <a:ln/>
        </p:spPr>
        <p:txBody>
          <a:bodyPr wrap="square" rtlCol="0" anchor="ctr"/>
          <a:lstStyle/>
          <a:p>
            <a:pPr marL="0" indent="0">
              <a:buNone/>
            </a:pPr>
            <a:endParaRPr lang="en-US" sz="1100" dirty="0"/>
          </a:p>
        </p:txBody>
      </p:sp>
      <p:sp>
        <p:nvSpPr>
          <p:cNvPr id="10" name="Text 8"/>
          <p:cNvSpPr/>
          <p:nvPr/>
        </p:nvSpPr>
        <p:spPr>
          <a:xfrm>
            <a:off x="6949440" y="594360"/>
            <a:ext cx="1920240" cy="594360"/>
          </a:xfrm>
          <a:prstGeom prst="rect">
            <a:avLst/>
          </a:prstGeom>
          <a:noFill/>
          <a:ln/>
        </p:spPr>
        <p:txBody>
          <a:bodyPr wrap="square" rtlCol="0" anchor="ctr"/>
          <a:lstStyle/>
          <a:p>
            <a:pPr marL="0" indent="0" algn="ctr">
              <a:buNone/>
            </a:pPr>
            <a:endParaRPr lang="en-US" sz="2600" dirty="0"/>
          </a:p>
        </p:txBody>
      </p:sp>
      <p:sp>
        <p:nvSpPr>
          <p:cNvPr id="13" name="Text 11"/>
          <p:cNvSpPr/>
          <p:nvPr/>
        </p:nvSpPr>
        <p:spPr>
          <a:xfrm>
            <a:off x="6949440" y="1965960"/>
            <a:ext cx="1920240" cy="594360"/>
          </a:xfrm>
          <a:prstGeom prst="rect">
            <a:avLst/>
          </a:prstGeom>
          <a:noFill/>
          <a:ln/>
        </p:spPr>
        <p:txBody>
          <a:bodyPr wrap="square" rtlCol="0" anchor="ctr"/>
          <a:lstStyle/>
          <a:p>
            <a:pPr marL="0" indent="0" algn="ctr">
              <a:buNone/>
            </a:pPr>
            <a:endParaRPr lang="en-US" sz="2600" dirty="0"/>
          </a:p>
        </p:txBody>
      </p:sp>
      <p:sp>
        <p:nvSpPr>
          <p:cNvPr id="14" name="Text 12"/>
          <p:cNvSpPr/>
          <p:nvPr/>
        </p:nvSpPr>
        <p:spPr>
          <a:xfrm>
            <a:off x="6949440" y="2514600"/>
            <a:ext cx="1920240" cy="411480"/>
          </a:xfrm>
          <a:prstGeom prst="rect">
            <a:avLst/>
          </a:prstGeom>
          <a:noFill/>
          <a:ln/>
        </p:spPr>
        <p:txBody>
          <a:bodyPr wrap="square" rtlCol="0" anchor="ctr"/>
          <a:lstStyle/>
          <a:p>
            <a:pPr marL="0" indent="0" algn="ctr">
              <a:buNone/>
            </a:pPr>
            <a:endParaRPr lang="en-US" sz="1000" dirty="0"/>
          </a:p>
        </p:txBody>
      </p:sp>
      <p:sp>
        <p:nvSpPr>
          <p:cNvPr id="16" name="Text 14"/>
          <p:cNvSpPr/>
          <p:nvPr/>
        </p:nvSpPr>
        <p:spPr>
          <a:xfrm>
            <a:off x="6949440" y="3337560"/>
            <a:ext cx="1920240" cy="594360"/>
          </a:xfrm>
          <a:prstGeom prst="rect">
            <a:avLst/>
          </a:prstGeom>
          <a:noFill/>
          <a:ln/>
        </p:spPr>
        <p:txBody>
          <a:bodyPr wrap="square" rtlCol="0" anchor="ctr"/>
          <a:lstStyle/>
          <a:p>
            <a:pPr marL="0" indent="0" algn="ctr">
              <a:buNone/>
            </a:pPr>
            <a:endParaRPr lang="en-US" sz="2600" dirty="0"/>
          </a:p>
        </p:txBody>
      </p:sp>
      <p:sp>
        <p:nvSpPr>
          <p:cNvPr id="17" name="Text 15"/>
          <p:cNvSpPr/>
          <p:nvPr/>
        </p:nvSpPr>
        <p:spPr>
          <a:xfrm>
            <a:off x="6949440" y="3886200"/>
            <a:ext cx="1920240" cy="411480"/>
          </a:xfrm>
          <a:prstGeom prst="rect">
            <a:avLst/>
          </a:prstGeom>
          <a:noFill/>
          <a:ln/>
        </p:spPr>
        <p:txBody>
          <a:bodyPr wrap="square" rtlCol="0" anchor="ctr"/>
          <a:lstStyle/>
          <a:p>
            <a:pPr marL="0" indent="0" algn="ctr">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txBody>
          <a:bodyPr/>
          <a:lstStyle/>
          <a:p>
            <a:endParaRPr lang="en-IN"/>
          </a:p>
        </p:txBody>
      </p:sp>
      <p:sp>
        <p:nvSpPr>
          <p:cNvPr id="3" name="Text 1"/>
          <p:cNvSpPr/>
          <p:nvPr/>
        </p:nvSpPr>
        <p:spPr>
          <a:xfrm>
            <a:off x="274320" y="0"/>
            <a:ext cx="8229600" cy="9144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Cash</a:t>
            </a:r>
            <a:endParaRPr lang="en-US" sz="2200" dirty="0"/>
          </a:p>
        </p:txBody>
      </p:sp>
      <p:sp>
        <p:nvSpPr>
          <p:cNvPr id="4" name="Text 2"/>
          <p:cNvSpPr/>
          <p:nvPr/>
        </p:nvSpPr>
        <p:spPr>
          <a:xfrm>
            <a:off x="365760" y="987552"/>
            <a:ext cx="8229600" cy="256032"/>
          </a:xfrm>
          <a:prstGeom prst="rect">
            <a:avLst/>
          </a:prstGeom>
          <a:noFill/>
          <a:ln/>
        </p:spPr>
        <p:txBody>
          <a:bodyPr wrap="square" rtlCol="0" anchor="ctr"/>
          <a:lstStyle/>
          <a:p>
            <a:pPr marL="0" indent="0">
              <a:buNone/>
            </a:pPr>
            <a:r>
              <a:rPr lang="en-US" sz="1000" b="1" kern="0" spc="200" dirty="0">
                <a:solidFill>
                  <a:srgbClr val="8899AA"/>
                </a:solidFill>
                <a:latin typeface="Calibri" pitchFamily="34" charset="0"/>
                <a:ea typeface="Calibri" pitchFamily="34" charset="-122"/>
                <a:cs typeface="Calibri" pitchFamily="34" charset="-120"/>
              </a:rPr>
              <a:t>ATTRIBUTES</a:t>
            </a:r>
            <a:endParaRPr lang="en-US" sz="1000" dirty="0"/>
          </a:p>
        </p:txBody>
      </p:sp>
      <p:sp>
        <p:nvSpPr>
          <p:cNvPr id="5" name="Shape 3"/>
          <p:cNvSpPr/>
          <p:nvPr/>
        </p:nvSpPr>
        <p:spPr>
          <a:xfrm>
            <a:off x="365760" y="1298448"/>
            <a:ext cx="2103120" cy="594360"/>
          </a:xfrm>
          <a:prstGeom prst="rect">
            <a:avLst/>
          </a:prstGeom>
          <a:solidFill>
            <a:srgbClr val="0A1628"/>
          </a:solidFill>
          <a:ln w="12700">
            <a:solidFill>
              <a:srgbClr val="0A1628"/>
            </a:solidFill>
            <a:prstDash val="solid"/>
          </a:ln>
        </p:spPr>
        <p:txBody>
          <a:bodyPr/>
          <a:lstStyle/>
          <a:p>
            <a:endParaRPr lang="en-IN"/>
          </a:p>
        </p:txBody>
      </p:sp>
      <p:sp>
        <p:nvSpPr>
          <p:cNvPr id="6" name="Text 4"/>
          <p:cNvSpPr/>
          <p:nvPr/>
        </p:nvSpPr>
        <p:spPr>
          <a:xfrm>
            <a:off x="365760" y="1298448"/>
            <a:ext cx="2103120" cy="594360"/>
          </a:xfrm>
          <a:prstGeom prst="rect">
            <a:avLst/>
          </a:prstGeom>
          <a:noFill/>
          <a:ln/>
        </p:spPr>
        <p:txBody>
          <a:bodyPr wrap="square" rtlCol="0" anchor="ctr"/>
          <a:lstStyle/>
          <a:p>
            <a:pPr marL="0" indent="0" algn="ctr">
              <a:buNone/>
            </a:pPr>
            <a:r>
              <a:rPr lang="en-US" sz="1200" b="1" dirty="0">
                <a:solidFill>
                  <a:srgbClr val="E8A020"/>
                </a:solidFill>
                <a:latin typeface="Calibri" pitchFamily="34" charset="0"/>
                <a:ea typeface="Calibri" pitchFamily="34" charset="-122"/>
                <a:cs typeface="Calibri" pitchFamily="34" charset="-120"/>
              </a:rPr>
              <a:t>Type</a:t>
            </a:r>
            <a:endParaRPr lang="en-US" sz="1200" dirty="0"/>
          </a:p>
        </p:txBody>
      </p:sp>
      <p:sp>
        <p:nvSpPr>
          <p:cNvPr id="7" name="Shape 5"/>
          <p:cNvSpPr/>
          <p:nvPr/>
        </p:nvSpPr>
        <p:spPr>
          <a:xfrm>
            <a:off x="2514600" y="1298448"/>
            <a:ext cx="6400800" cy="594360"/>
          </a:xfrm>
          <a:prstGeom prst="rect">
            <a:avLst/>
          </a:prstGeom>
          <a:solidFill>
            <a:srgbClr val="FFFFFF"/>
          </a:solidFill>
          <a:ln w="12700">
            <a:solidFill>
              <a:srgbClr val="E8ECF2"/>
            </a:solidFill>
            <a:prstDash val="solid"/>
          </a:ln>
        </p:spPr>
        <p:txBody>
          <a:bodyPr/>
          <a:lstStyle/>
          <a:p>
            <a:endParaRPr lang="en-IN"/>
          </a:p>
        </p:txBody>
      </p:sp>
      <p:sp>
        <p:nvSpPr>
          <p:cNvPr id="8" name="Text 6"/>
          <p:cNvSpPr/>
          <p:nvPr/>
        </p:nvSpPr>
        <p:spPr>
          <a:xfrm>
            <a:off x="2606040" y="1298448"/>
            <a:ext cx="6217920" cy="594360"/>
          </a:xfrm>
          <a:prstGeom prst="rect">
            <a:avLst/>
          </a:prstGeom>
          <a:noFill/>
          <a:ln/>
        </p:spPr>
        <p:txBody>
          <a:bodyPr wrap="square" rtlCol="0" anchor="ctr"/>
          <a:lstStyle/>
          <a:p>
            <a:pPr marL="0" indent="0" algn="l">
              <a:buNone/>
            </a:pPr>
            <a:r>
              <a:rPr lang="en-US" sz="1200" dirty="0">
                <a:solidFill>
                  <a:srgbClr val="2A3848"/>
                </a:solidFill>
                <a:latin typeface="Calibri" pitchFamily="34" charset="0"/>
                <a:ea typeface="Calibri" pitchFamily="34" charset="-122"/>
                <a:cs typeface="Calibri" pitchFamily="34" charset="-120"/>
              </a:rPr>
              <a:t>"Push" Payments — payer initiates the transfer</a:t>
            </a:r>
            <a:endParaRPr lang="en-US" sz="1200" dirty="0"/>
          </a:p>
        </p:txBody>
      </p:sp>
      <p:sp>
        <p:nvSpPr>
          <p:cNvPr id="9" name="Shape 7"/>
          <p:cNvSpPr/>
          <p:nvPr/>
        </p:nvSpPr>
        <p:spPr>
          <a:xfrm>
            <a:off x="365760" y="1993392"/>
            <a:ext cx="2103120" cy="594360"/>
          </a:xfrm>
          <a:prstGeom prst="rect">
            <a:avLst/>
          </a:prstGeom>
          <a:solidFill>
            <a:srgbClr val="0A1628"/>
          </a:solidFill>
          <a:ln w="12700">
            <a:solidFill>
              <a:srgbClr val="0A1628"/>
            </a:solidFill>
            <a:prstDash val="solid"/>
          </a:ln>
        </p:spPr>
        <p:txBody>
          <a:bodyPr/>
          <a:lstStyle/>
          <a:p>
            <a:endParaRPr lang="en-IN"/>
          </a:p>
        </p:txBody>
      </p:sp>
      <p:sp>
        <p:nvSpPr>
          <p:cNvPr id="10" name="Text 8"/>
          <p:cNvSpPr/>
          <p:nvPr/>
        </p:nvSpPr>
        <p:spPr>
          <a:xfrm>
            <a:off x="365760" y="1993392"/>
            <a:ext cx="2103120" cy="594360"/>
          </a:xfrm>
          <a:prstGeom prst="rect">
            <a:avLst/>
          </a:prstGeom>
          <a:noFill/>
          <a:ln/>
        </p:spPr>
        <p:txBody>
          <a:bodyPr wrap="square" rtlCol="0" anchor="ctr"/>
          <a:lstStyle/>
          <a:p>
            <a:pPr marL="0" indent="0" algn="ctr">
              <a:buNone/>
            </a:pPr>
            <a:r>
              <a:rPr lang="en-US" sz="1200" b="1" dirty="0">
                <a:solidFill>
                  <a:srgbClr val="E8A020"/>
                </a:solidFill>
                <a:latin typeface="Calibri" pitchFamily="34" charset="0"/>
                <a:ea typeface="Calibri" pitchFamily="34" charset="-122"/>
                <a:cs typeface="Calibri" pitchFamily="34" charset="-120"/>
              </a:rPr>
              <a:t>Ownership</a:t>
            </a:r>
            <a:endParaRPr lang="en-US" sz="1200" dirty="0"/>
          </a:p>
        </p:txBody>
      </p:sp>
      <p:sp>
        <p:nvSpPr>
          <p:cNvPr id="11" name="Shape 9"/>
          <p:cNvSpPr/>
          <p:nvPr/>
        </p:nvSpPr>
        <p:spPr>
          <a:xfrm>
            <a:off x="2514600" y="1993392"/>
            <a:ext cx="6400800" cy="594360"/>
          </a:xfrm>
          <a:prstGeom prst="rect">
            <a:avLst/>
          </a:prstGeom>
          <a:solidFill>
            <a:srgbClr val="FFFFFF"/>
          </a:solidFill>
          <a:ln w="12700">
            <a:solidFill>
              <a:srgbClr val="E8ECF2"/>
            </a:solidFill>
            <a:prstDash val="solid"/>
          </a:ln>
        </p:spPr>
        <p:txBody>
          <a:bodyPr/>
          <a:lstStyle/>
          <a:p>
            <a:endParaRPr lang="en-IN"/>
          </a:p>
        </p:txBody>
      </p:sp>
      <p:sp>
        <p:nvSpPr>
          <p:cNvPr id="12" name="Text 10"/>
          <p:cNvSpPr/>
          <p:nvPr/>
        </p:nvSpPr>
        <p:spPr>
          <a:xfrm>
            <a:off x="2606040" y="1993392"/>
            <a:ext cx="6217920" cy="594360"/>
          </a:xfrm>
          <a:prstGeom prst="rect">
            <a:avLst/>
          </a:prstGeom>
          <a:noFill/>
          <a:ln/>
        </p:spPr>
        <p:txBody>
          <a:bodyPr wrap="square" rtlCol="0" anchor="ctr"/>
          <a:lstStyle/>
          <a:p>
            <a:pPr marL="0" indent="0" algn="l">
              <a:buNone/>
            </a:pPr>
            <a:r>
              <a:rPr lang="en-US" sz="1200" dirty="0">
                <a:solidFill>
                  <a:srgbClr val="2A3848"/>
                </a:solidFill>
                <a:latin typeface="Calibri" pitchFamily="34" charset="0"/>
                <a:ea typeface="Calibri" pitchFamily="34" charset="-122"/>
                <a:cs typeface="Calibri" pitchFamily="34" charset="-120"/>
              </a:rPr>
              <a:t>No Ownership — no one owns or writes the rules</a:t>
            </a:r>
            <a:endParaRPr lang="en-US" sz="1200" dirty="0"/>
          </a:p>
        </p:txBody>
      </p:sp>
      <p:sp>
        <p:nvSpPr>
          <p:cNvPr id="13" name="Shape 11"/>
          <p:cNvSpPr/>
          <p:nvPr/>
        </p:nvSpPr>
        <p:spPr>
          <a:xfrm>
            <a:off x="365760" y="2688336"/>
            <a:ext cx="2103120" cy="594360"/>
          </a:xfrm>
          <a:prstGeom prst="rect">
            <a:avLst/>
          </a:prstGeom>
          <a:solidFill>
            <a:srgbClr val="0A1628"/>
          </a:solidFill>
          <a:ln w="12700">
            <a:solidFill>
              <a:srgbClr val="0A1628"/>
            </a:solidFill>
            <a:prstDash val="solid"/>
          </a:ln>
        </p:spPr>
        <p:txBody>
          <a:bodyPr/>
          <a:lstStyle/>
          <a:p>
            <a:endParaRPr lang="en-IN"/>
          </a:p>
        </p:txBody>
      </p:sp>
      <p:sp>
        <p:nvSpPr>
          <p:cNvPr id="14" name="Text 12"/>
          <p:cNvSpPr/>
          <p:nvPr/>
        </p:nvSpPr>
        <p:spPr>
          <a:xfrm>
            <a:off x="365760" y="2688336"/>
            <a:ext cx="2103120" cy="594360"/>
          </a:xfrm>
          <a:prstGeom prst="rect">
            <a:avLst/>
          </a:prstGeom>
          <a:noFill/>
          <a:ln/>
        </p:spPr>
        <p:txBody>
          <a:bodyPr wrap="square" rtlCol="0" anchor="ctr"/>
          <a:lstStyle/>
          <a:p>
            <a:pPr marL="0" indent="0" algn="ctr">
              <a:buNone/>
            </a:pPr>
            <a:r>
              <a:rPr lang="en-US" sz="1200" b="1" dirty="0">
                <a:solidFill>
                  <a:srgbClr val="E8A020"/>
                </a:solidFill>
                <a:latin typeface="Calibri" pitchFamily="34" charset="0"/>
                <a:ea typeface="Calibri" pitchFamily="34" charset="-122"/>
                <a:cs typeface="Calibri" pitchFamily="34" charset="-120"/>
              </a:rPr>
              <a:t>Regulation</a:t>
            </a:r>
            <a:endParaRPr lang="en-US" sz="1200" dirty="0"/>
          </a:p>
        </p:txBody>
      </p:sp>
      <p:sp>
        <p:nvSpPr>
          <p:cNvPr id="15" name="Shape 13"/>
          <p:cNvSpPr/>
          <p:nvPr/>
        </p:nvSpPr>
        <p:spPr>
          <a:xfrm>
            <a:off x="2514600" y="2688336"/>
            <a:ext cx="6400800" cy="594360"/>
          </a:xfrm>
          <a:prstGeom prst="rect">
            <a:avLst/>
          </a:prstGeom>
          <a:solidFill>
            <a:srgbClr val="FFFFFF"/>
          </a:solidFill>
          <a:ln w="12700">
            <a:solidFill>
              <a:srgbClr val="E8ECF2"/>
            </a:solidFill>
            <a:prstDash val="solid"/>
          </a:ln>
        </p:spPr>
        <p:txBody>
          <a:bodyPr/>
          <a:lstStyle/>
          <a:p>
            <a:endParaRPr lang="en-IN"/>
          </a:p>
        </p:txBody>
      </p:sp>
      <p:sp>
        <p:nvSpPr>
          <p:cNvPr id="16" name="Text 14"/>
          <p:cNvSpPr/>
          <p:nvPr/>
        </p:nvSpPr>
        <p:spPr>
          <a:xfrm>
            <a:off x="2606040" y="2688336"/>
            <a:ext cx="6217920" cy="594360"/>
          </a:xfrm>
          <a:prstGeom prst="rect">
            <a:avLst/>
          </a:prstGeom>
          <a:noFill/>
          <a:ln/>
        </p:spPr>
        <p:txBody>
          <a:bodyPr wrap="square" rtlCol="0" anchor="ctr"/>
          <a:lstStyle/>
          <a:p>
            <a:pPr marL="0" indent="0" algn="l">
              <a:buNone/>
            </a:pPr>
            <a:r>
              <a:rPr lang="en-US" sz="1200" dirty="0">
                <a:solidFill>
                  <a:srgbClr val="2A3848"/>
                </a:solidFill>
                <a:latin typeface="Calibri" pitchFamily="34" charset="0"/>
                <a:ea typeface="Calibri" pitchFamily="34" charset="-122"/>
                <a:cs typeface="Calibri" pitchFamily="34" charset="-120"/>
              </a:rPr>
              <a:t>U.S. Law &amp; Federal Reserve Bank regulation</a:t>
            </a:r>
            <a:endParaRPr lang="en-US" sz="1200" dirty="0"/>
          </a:p>
        </p:txBody>
      </p:sp>
      <p:sp>
        <p:nvSpPr>
          <p:cNvPr id="17" name="Shape 15"/>
          <p:cNvSpPr/>
          <p:nvPr/>
        </p:nvSpPr>
        <p:spPr>
          <a:xfrm>
            <a:off x="365760" y="3383280"/>
            <a:ext cx="2103120" cy="594360"/>
          </a:xfrm>
          <a:prstGeom prst="rect">
            <a:avLst/>
          </a:prstGeom>
          <a:solidFill>
            <a:srgbClr val="0A1628"/>
          </a:solidFill>
          <a:ln w="12700">
            <a:solidFill>
              <a:srgbClr val="0A1628"/>
            </a:solidFill>
            <a:prstDash val="solid"/>
          </a:ln>
        </p:spPr>
        <p:txBody>
          <a:bodyPr/>
          <a:lstStyle/>
          <a:p>
            <a:endParaRPr lang="en-IN"/>
          </a:p>
        </p:txBody>
      </p:sp>
      <p:sp>
        <p:nvSpPr>
          <p:cNvPr id="18" name="Text 16"/>
          <p:cNvSpPr/>
          <p:nvPr/>
        </p:nvSpPr>
        <p:spPr>
          <a:xfrm>
            <a:off x="365760" y="3383280"/>
            <a:ext cx="2103120" cy="594360"/>
          </a:xfrm>
          <a:prstGeom prst="rect">
            <a:avLst/>
          </a:prstGeom>
          <a:noFill/>
          <a:ln/>
        </p:spPr>
        <p:txBody>
          <a:bodyPr wrap="square" rtlCol="0" anchor="ctr"/>
          <a:lstStyle/>
          <a:p>
            <a:pPr marL="0" indent="0" algn="ctr">
              <a:buNone/>
            </a:pPr>
            <a:r>
              <a:rPr lang="en-US" sz="1200" b="1" dirty="0">
                <a:solidFill>
                  <a:srgbClr val="E8A020"/>
                </a:solidFill>
                <a:latin typeface="Calibri" pitchFamily="34" charset="0"/>
                <a:ea typeface="Calibri" pitchFamily="34" charset="-122"/>
                <a:cs typeface="Calibri" pitchFamily="34" charset="-120"/>
              </a:rPr>
              <a:t>Network Economics</a:t>
            </a:r>
            <a:endParaRPr lang="en-US" sz="1200" dirty="0"/>
          </a:p>
        </p:txBody>
      </p:sp>
      <p:sp>
        <p:nvSpPr>
          <p:cNvPr id="19" name="Shape 17"/>
          <p:cNvSpPr/>
          <p:nvPr/>
        </p:nvSpPr>
        <p:spPr>
          <a:xfrm>
            <a:off x="2514600" y="3383280"/>
            <a:ext cx="6400800" cy="594360"/>
          </a:xfrm>
          <a:prstGeom prst="rect">
            <a:avLst/>
          </a:prstGeom>
          <a:solidFill>
            <a:srgbClr val="FFFFFF"/>
          </a:solidFill>
          <a:ln w="12700">
            <a:solidFill>
              <a:srgbClr val="E8ECF2"/>
            </a:solidFill>
            <a:prstDash val="solid"/>
          </a:ln>
        </p:spPr>
        <p:txBody>
          <a:bodyPr/>
          <a:lstStyle/>
          <a:p>
            <a:endParaRPr lang="en-IN"/>
          </a:p>
        </p:txBody>
      </p:sp>
      <p:sp>
        <p:nvSpPr>
          <p:cNvPr id="20" name="Text 18"/>
          <p:cNvSpPr/>
          <p:nvPr/>
        </p:nvSpPr>
        <p:spPr>
          <a:xfrm>
            <a:off x="2606040" y="3383280"/>
            <a:ext cx="6217920" cy="594360"/>
          </a:xfrm>
          <a:prstGeom prst="rect">
            <a:avLst/>
          </a:prstGeom>
          <a:noFill/>
          <a:ln/>
        </p:spPr>
        <p:txBody>
          <a:bodyPr wrap="square" rtlCol="0" anchor="ctr"/>
          <a:lstStyle/>
          <a:p>
            <a:pPr marL="0" indent="0" algn="l">
              <a:buNone/>
            </a:pPr>
            <a:r>
              <a:rPr lang="en-US" sz="1200" dirty="0">
                <a:solidFill>
                  <a:srgbClr val="2A3848"/>
                </a:solidFill>
                <a:latin typeface="Calibri" pitchFamily="34" charset="0"/>
                <a:ea typeface="Calibri" pitchFamily="34" charset="-122"/>
                <a:cs typeface="Calibri" pitchFamily="34" charset="-120"/>
              </a:rPr>
              <a:t>ATM Withdrawals Subject to Network Interchange</a:t>
            </a:r>
            <a:endParaRPr lang="en-US" sz="1200" dirty="0"/>
          </a:p>
        </p:txBody>
      </p:sp>
      <p:sp>
        <p:nvSpPr>
          <p:cNvPr id="21" name="Text 19"/>
          <p:cNvSpPr/>
          <p:nvPr/>
        </p:nvSpPr>
        <p:spPr>
          <a:xfrm>
            <a:off x="365760" y="4133088"/>
            <a:ext cx="8229600" cy="256032"/>
          </a:xfrm>
          <a:prstGeom prst="rect">
            <a:avLst/>
          </a:prstGeom>
          <a:noFill/>
          <a:ln/>
        </p:spPr>
        <p:txBody>
          <a:bodyPr wrap="square" rtlCol="0" anchor="ctr"/>
          <a:lstStyle/>
          <a:p>
            <a:pPr marL="0" indent="0">
              <a:buNone/>
            </a:pPr>
            <a:r>
              <a:rPr lang="en-US" sz="1000" b="1" kern="0" spc="200" dirty="0">
                <a:solidFill>
                  <a:srgbClr val="8899AA"/>
                </a:solidFill>
                <a:latin typeface="Calibri" pitchFamily="34" charset="0"/>
                <a:ea typeface="Calibri" pitchFamily="34" charset="-122"/>
                <a:cs typeface="Calibri" pitchFamily="34" charset="-120"/>
              </a:rPr>
              <a:t>KEY CHARACTERISTICS</a:t>
            </a:r>
            <a:endParaRPr lang="en-US" sz="1000" dirty="0"/>
          </a:p>
        </p:txBody>
      </p:sp>
      <p:sp>
        <p:nvSpPr>
          <p:cNvPr id="22" name="Shape 20"/>
          <p:cNvSpPr/>
          <p:nvPr/>
        </p:nvSpPr>
        <p:spPr>
          <a:xfrm>
            <a:off x="365760" y="4434840"/>
            <a:ext cx="2743200" cy="594360"/>
          </a:xfrm>
          <a:prstGeom prst="rect">
            <a:avLst/>
          </a:prstGeom>
          <a:solidFill>
            <a:srgbClr val="1E5B9C"/>
          </a:solidFill>
          <a:ln w="12700">
            <a:solidFill>
              <a:srgbClr val="1E5B9C"/>
            </a:solidFill>
            <a:prstDash val="solid"/>
          </a:ln>
        </p:spPr>
        <p:txBody>
          <a:bodyPr/>
          <a:lstStyle/>
          <a:p>
            <a:endParaRPr lang="en-IN"/>
          </a:p>
        </p:txBody>
      </p:sp>
      <p:sp>
        <p:nvSpPr>
          <p:cNvPr id="23" name="Text 21"/>
          <p:cNvSpPr/>
          <p:nvPr/>
        </p:nvSpPr>
        <p:spPr>
          <a:xfrm>
            <a:off x="365760" y="4434840"/>
            <a:ext cx="274320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Non-Account Based</a:t>
            </a:r>
            <a:endParaRPr lang="en-US" sz="1200" dirty="0"/>
          </a:p>
        </p:txBody>
      </p:sp>
      <p:sp>
        <p:nvSpPr>
          <p:cNvPr id="24" name="Text 22"/>
          <p:cNvSpPr/>
          <p:nvPr/>
        </p:nvSpPr>
        <p:spPr>
          <a:xfrm>
            <a:off x="365760" y="4727448"/>
            <a:ext cx="2743200" cy="292608"/>
          </a:xfrm>
          <a:prstGeom prst="rect">
            <a:avLst/>
          </a:prstGeom>
          <a:noFill/>
          <a:ln/>
        </p:spPr>
        <p:txBody>
          <a:bodyPr wrap="square" rtlCol="0" anchor="ctr"/>
          <a:lstStyle/>
          <a:p>
            <a:pPr marL="0" indent="0" algn="ctr">
              <a:buNone/>
            </a:pPr>
            <a:r>
              <a:rPr lang="en-US" sz="1050" dirty="0">
                <a:solidFill>
                  <a:srgbClr val="B8D0F0"/>
                </a:solidFill>
                <a:latin typeface="Calibri" pitchFamily="34" charset="0"/>
                <a:ea typeface="Calibri" pitchFamily="34" charset="-122"/>
                <a:cs typeface="Calibri" pitchFamily="34" charset="-120"/>
              </a:rPr>
              <a:t>No account needed by payer or payee</a:t>
            </a:r>
            <a:endParaRPr lang="en-US" sz="1050" dirty="0"/>
          </a:p>
        </p:txBody>
      </p:sp>
      <p:sp>
        <p:nvSpPr>
          <p:cNvPr id="25" name="Shape 23"/>
          <p:cNvSpPr/>
          <p:nvPr/>
        </p:nvSpPr>
        <p:spPr>
          <a:xfrm>
            <a:off x="3291840" y="4434840"/>
            <a:ext cx="2743200" cy="594360"/>
          </a:xfrm>
          <a:prstGeom prst="rect">
            <a:avLst/>
          </a:prstGeom>
          <a:solidFill>
            <a:srgbClr val="1E5B9C"/>
          </a:solidFill>
          <a:ln w="12700">
            <a:solidFill>
              <a:srgbClr val="1E5B9C"/>
            </a:solidFill>
            <a:prstDash val="solid"/>
          </a:ln>
        </p:spPr>
        <p:txBody>
          <a:bodyPr/>
          <a:lstStyle/>
          <a:p>
            <a:endParaRPr lang="en-IN"/>
          </a:p>
        </p:txBody>
      </p:sp>
      <p:sp>
        <p:nvSpPr>
          <p:cNvPr id="26" name="Text 24"/>
          <p:cNvSpPr/>
          <p:nvPr/>
        </p:nvSpPr>
        <p:spPr>
          <a:xfrm>
            <a:off x="3291840" y="4434840"/>
            <a:ext cx="274320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Full Anonymity</a:t>
            </a:r>
            <a:endParaRPr lang="en-US" sz="1200" dirty="0"/>
          </a:p>
        </p:txBody>
      </p:sp>
      <p:sp>
        <p:nvSpPr>
          <p:cNvPr id="27" name="Text 25"/>
          <p:cNvSpPr/>
          <p:nvPr/>
        </p:nvSpPr>
        <p:spPr>
          <a:xfrm>
            <a:off x="3291840" y="4727448"/>
            <a:ext cx="2743200" cy="292608"/>
          </a:xfrm>
          <a:prstGeom prst="rect">
            <a:avLst/>
          </a:prstGeom>
          <a:noFill/>
          <a:ln/>
        </p:spPr>
        <p:txBody>
          <a:bodyPr wrap="square" rtlCol="0" anchor="ctr"/>
          <a:lstStyle/>
          <a:p>
            <a:pPr marL="0" indent="0" algn="ctr">
              <a:buNone/>
            </a:pPr>
            <a:r>
              <a:rPr lang="en-US" sz="1050" dirty="0">
                <a:solidFill>
                  <a:srgbClr val="B8D0F0"/>
                </a:solidFill>
                <a:latin typeface="Calibri" pitchFamily="34" charset="0"/>
                <a:ea typeface="Calibri" pitchFamily="34" charset="-122"/>
                <a:cs typeface="Calibri" pitchFamily="34" charset="-120"/>
              </a:rPr>
              <a:t>Only payment with anonymity for both parties</a:t>
            </a:r>
            <a:endParaRPr lang="en-US" sz="1050" dirty="0"/>
          </a:p>
        </p:txBody>
      </p:sp>
      <p:sp>
        <p:nvSpPr>
          <p:cNvPr id="28" name="Shape 26"/>
          <p:cNvSpPr/>
          <p:nvPr/>
        </p:nvSpPr>
        <p:spPr>
          <a:xfrm>
            <a:off x="6217920" y="4434840"/>
            <a:ext cx="2743200" cy="594360"/>
          </a:xfrm>
          <a:prstGeom prst="rect">
            <a:avLst/>
          </a:prstGeom>
          <a:solidFill>
            <a:srgbClr val="1E5B9C"/>
          </a:solidFill>
          <a:ln w="12700">
            <a:solidFill>
              <a:srgbClr val="1E5B9C"/>
            </a:solidFill>
            <a:prstDash val="solid"/>
          </a:ln>
        </p:spPr>
        <p:txBody>
          <a:bodyPr/>
          <a:lstStyle/>
          <a:p>
            <a:endParaRPr lang="en-IN"/>
          </a:p>
        </p:txBody>
      </p:sp>
      <p:sp>
        <p:nvSpPr>
          <p:cNvPr id="29" name="Text 27"/>
          <p:cNvSpPr/>
          <p:nvPr/>
        </p:nvSpPr>
        <p:spPr>
          <a:xfrm>
            <a:off x="6217920" y="4434840"/>
            <a:ext cx="2743200"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Self-Clearing</a:t>
            </a:r>
            <a:endParaRPr lang="en-US" sz="1200" dirty="0"/>
          </a:p>
        </p:txBody>
      </p:sp>
      <p:sp>
        <p:nvSpPr>
          <p:cNvPr id="30" name="Text 28"/>
          <p:cNvSpPr/>
          <p:nvPr/>
        </p:nvSpPr>
        <p:spPr>
          <a:xfrm>
            <a:off x="6217920" y="4727448"/>
            <a:ext cx="2743200" cy="292608"/>
          </a:xfrm>
          <a:prstGeom prst="rect">
            <a:avLst/>
          </a:prstGeom>
          <a:noFill/>
          <a:ln/>
        </p:spPr>
        <p:txBody>
          <a:bodyPr wrap="square" rtlCol="0" anchor="ctr"/>
          <a:lstStyle/>
          <a:p>
            <a:pPr marL="0" indent="0" algn="ctr">
              <a:buNone/>
            </a:pPr>
            <a:r>
              <a:rPr lang="en-US" sz="1050" dirty="0">
                <a:solidFill>
                  <a:srgbClr val="B8D0F0"/>
                </a:solidFill>
                <a:latin typeface="Calibri" pitchFamily="34" charset="0"/>
                <a:ea typeface="Calibri" pitchFamily="34" charset="-122"/>
                <a:cs typeface="Calibri" pitchFamily="34" charset="-120"/>
              </a:rPr>
              <a:t>Value transfers instantly — no clearinghouse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3A6B"/>
          </a:solidFill>
          <a:ln w="12700">
            <a:solidFill>
              <a:srgbClr val="1B3A6B"/>
            </a:solidFill>
            <a:prstDash val="solid"/>
          </a:ln>
        </p:spPr>
        <p:txBody>
          <a:bodyPr/>
          <a:lstStyle/>
          <a:p>
            <a:endParaRPr lang="en-IN"/>
          </a:p>
        </p:txBody>
      </p:sp>
      <p:sp>
        <p:nvSpPr>
          <p:cNvPr id="3" name="Text 1"/>
          <p:cNvSpPr/>
          <p:nvPr/>
        </p:nvSpPr>
        <p:spPr>
          <a:xfrm>
            <a:off x="274320" y="0"/>
            <a:ext cx="8229600" cy="9144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Cash Volumes &amp; Usage</a:t>
            </a:r>
            <a:endParaRPr lang="en-US" sz="2200" dirty="0"/>
          </a:p>
        </p:txBody>
      </p:sp>
      <p:sp>
        <p:nvSpPr>
          <p:cNvPr id="4" name="Shape 2"/>
          <p:cNvSpPr/>
          <p:nvPr/>
        </p:nvSpPr>
        <p:spPr>
          <a:xfrm>
            <a:off x="320040" y="1097280"/>
            <a:ext cx="4069080" cy="1645920"/>
          </a:xfrm>
          <a:prstGeom prst="rect">
            <a:avLst/>
          </a:prstGeom>
          <a:solidFill>
            <a:srgbClr val="FFFFFF"/>
          </a:solidFill>
          <a:ln w="12700">
            <a:solidFill>
              <a:srgbClr val="E8ECF2"/>
            </a:solidFill>
            <a:prstDash val="solid"/>
          </a:ln>
          <a:effectLst>
            <a:outerShdw blurRad="63500" dist="25400" dir="8100000" algn="bl" rotWithShape="0">
              <a:srgbClr val="000000">
                <a:alpha val="8000"/>
              </a:srgbClr>
            </a:outerShdw>
          </a:effectLst>
        </p:spPr>
        <p:txBody>
          <a:bodyPr/>
          <a:lstStyle/>
          <a:p>
            <a:endParaRPr lang="en-IN"/>
          </a:p>
        </p:txBody>
      </p:sp>
      <p:sp>
        <p:nvSpPr>
          <p:cNvPr id="5" name="Shape 3"/>
          <p:cNvSpPr/>
          <p:nvPr/>
        </p:nvSpPr>
        <p:spPr>
          <a:xfrm>
            <a:off x="320040" y="1097280"/>
            <a:ext cx="64008" cy="1645920"/>
          </a:xfrm>
          <a:prstGeom prst="rect">
            <a:avLst/>
          </a:prstGeom>
          <a:solidFill>
            <a:srgbClr val="0A1628"/>
          </a:solidFill>
          <a:ln w="12700">
            <a:solidFill>
              <a:srgbClr val="0A1628"/>
            </a:solidFill>
            <a:prstDash val="solid"/>
          </a:ln>
        </p:spPr>
        <p:txBody>
          <a:bodyPr/>
          <a:lstStyle/>
          <a:p>
            <a:endParaRPr lang="en-IN"/>
          </a:p>
        </p:txBody>
      </p:sp>
      <p:sp>
        <p:nvSpPr>
          <p:cNvPr id="6" name="Text 4"/>
          <p:cNvSpPr/>
          <p:nvPr/>
        </p:nvSpPr>
        <p:spPr>
          <a:xfrm>
            <a:off x="502920" y="1280160"/>
            <a:ext cx="3657600" cy="777240"/>
          </a:xfrm>
          <a:prstGeom prst="rect">
            <a:avLst/>
          </a:prstGeom>
          <a:noFill/>
          <a:ln/>
        </p:spPr>
        <p:txBody>
          <a:bodyPr wrap="square" rtlCol="0" anchor="ctr"/>
          <a:lstStyle/>
          <a:p>
            <a:pPr marL="0" indent="0">
              <a:buNone/>
            </a:pPr>
            <a:r>
              <a:rPr lang="en-US" sz="4000" b="1" dirty="0">
                <a:solidFill>
                  <a:srgbClr val="0A1628"/>
                </a:solidFill>
                <a:latin typeface="Calibri" pitchFamily="34" charset="0"/>
                <a:ea typeface="Calibri" pitchFamily="34" charset="-122"/>
                <a:cs typeface="Calibri" pitchFamily="34" charset="-120"/>
              </a:rPr>
              <a:t>~40%</a:t>
            </a:r>
            <a:endParaRPr lang="en-US" sz="4000" dirty="0"/>
          </a:p>
        </p:txBody>
      </p:sp>
      <p:sp>
        <p:nvSpPr>
          <p:cNvPr id="7" name="Text 5"/>
          <p:cNvSpPr/>
          <p:nvPr/>
        </p:nvSpPr>
        <p:spPr>
          <a:xfrm>
            <a:off x="502920" y="2011680"/>
            <a:ext cx="3657600" cy="594360"/>
          </a:xfrm>
          <a:prstGeom prst="rect">
            <a:avLst/>
          </a:prstGeom>
          <a:noFill/>
          <a:ln/>
        </p:spPr>
        <p:txBody>
          <a:bodyPr wrap="square" rtlCol="0" anchor="ctr"/>
          <a:lstStyle/>
          <a:p>
            <a:pPr marL="0" indent="0">
              <a:buNone/>
            </a:pPr>
            <a:r>
              <a:rPr lang="en-US" sz="1300" dirty="0">
                <a:solidFill>
                  <a:srgbClr val="3A4A60"/>
                </a:solidFill>
                <a:latin typeface="Calibri" pitchFamily="34" charset="0"/>
                <a:ea typeface="Calibri" pitchFamily="34" charset="-122"/>
                <a:cs typeface="Calibri" pitchFamily="34" charset="-120"/>
              </a:rPr>
              <a:t>of all U.S. consumer</a:t>
            </a:r>
            <a:endParaRPr lang="en-US" sz="1300" dirty="0"/>
          </a:p>
          <a:p>
            <a:pPr marL="0" indent="0">
              <a:buNone/>
            </a:pPr>
            <a:r>
              <a:rPr lang="en-US" sz="1300" dirty="0">
                <a:solidFill>
                  <a:srgbClr val="3A4A60"/>
                </a:solidFill>
                <a:latin typeface="Calibri" pitchFamily="34" charset="0"/>
                <a:ea typeface="Calibri" pitchFamily="34" charset="-122"/>
                <a:cs typeface="Calibri" pitchFamily="34" charset="-120"/>
              </a:rPr>
              <a:t>payments made in cash</a:t>
            </a:r>
            <a:endParaRPr lang="en-US" sz="1300" dirty="0"/>
          </a:p>
        </p:txBody>
      </p:sp>
      <p:sp>
        <p:nvSpPr>
          <p:cNvPr id="8" name="Shape 6"/>
          <p:cNvSpPr/>
          <p:nvPr/>
        </p:nvSpPr>
        <p:spPr>
          <a:xfrm>
            <a:off x="4754880" y="1097280"/>
            <a:ext cx="4069080" cy="1645920"/>
          </a:xfrm>
          <a:prstGeom prst="rect">
            <a:avLst/>
          </a:prstGeom>
          <a:solidFill>
            <a:srgbClr val="FFFFFF"/>
          </a:solidFill>
          <a:ln w="12700">
            <a:solidFill>
              <a:srgbClr val="E8ECF2"/>
            </a:solidFill>
            <a:prstDash val="solid"/>
          </a:ln>
          <a:effectLst>
            <a:outerShdw blurRad="63500" dist="25400" dir="8100000" algn="bl" rotWithShape="0">
              <a:srgbClr val="000000">
                <a:alpha val="8000"/>
              </a:srgbClr>
            </a:outerShdw>
          </a:effectLst>
        </p:spPr>
        <p:txBody>
          <a:bodyPr/>
          <a:lstStyle/>
          <a:p>
            <a:endParaRPr lang="en-IN"/>
          </a:p>
        </p:txBody>
      </p:sp>
      <p:sp>
        <p:nvSpPr>
          <p:cNvPr id="9" name="Shape 7"/>
          <p:cNvSpPr/>
          <p:nvPr/>
        </p:nvSpPr>
        <p:spPr>
          <a:xfrm>
            <a:off x="4754880" y="1097280"/>
            <a:ext cx="64008" cy="1645920"/>
          </a:xfrm>
          <a:prstGeom prst="rect">
            <a:avLst/>
          </a:prstGeom>
          <a:solidFill>
            <a:srgbClr val="1E5B9C"/>
          </a:solidFill>
          <a:ln w="12700">
            <a:solidFill>
              <a:srgbClr val="1E5B9C"/>
            </a:solidFill>
            <a:prstDash val="solid"/>
          </a:ln>
        </p:spPr>
        <p:txBody>
          <a:bodyPr/>
          <a:lstStyle/>
          <a:p>
            <a:endParaRPr lang="en-IN"/>
          </a:p>
        </p:txBody>
      </p:sp>
      <p:sp>
        <p:nvSpPr>
          <p:cNvPr id="10" name="Text 8"/>
          <p:cNvSpPr/>
          <p:nvPr/>
        </p:nvSpPr>
        <p:spPr>
          <a:xfrm>
            <a:off x="4937760" y="1280160"/>
            <a:ext cx="3657600" cy="777240"/>
          </a:xfrm>
          <a:prstGeom prst="rect">
            <a:avLst/>
          </a:prstGeom>
          <a:noFill/>
          <a:ln/>
        </p:spPr>
        <p:txBody>
          <a:bodyPr wrap="square" rtlCol="0" anchor="ctr"/>
          <a:lstStyle/>
          <a:p>
            <a:pPr marL="0" indent="0">
              <a:buNone/>
            </a:pPr>
            <a:r>
              <a:rPr lang="en-US" sz="4000" b="1" dirty="0">
                <a:solidFill>
                  <a:srgbClr val="1E5B9C"/>
                </a:solidFill>
                <a:latin typeface="Calibri" pitchFamily="34" charset="0"/>
                <a:ea typeface="Calibri" pitchFamily="34" charset="-122"/>
                <a:cs typeface="Calibri" pitchFamily="34" charset="-120"/>
              </a:rPr>
              <a:t>60%</a:t>
            </a:r>
            <a:endParaRPr lang="en-US" sz="4000" dirty="0"/>
          </a:p>
        </p:txBody>
      </p:sp>
      <p:sp>
        <p:nvSpPr>
          <p:cNvPr id="11" name="Text 9"/>
          <p:cNvSpPr/>
          <p:nvPr/>
        </p:nvSpPr>
        <p:spPr>
          <a:xfrm>
            <a:off x="4937760" y="2011680"/>
            <a:ext cx="3657600" cy="594360"/>
          </a:xfrm>
          <a:prstGeom prst="rect">
            <a:avLst/>
          </a:prstGeom>
          <a:noFill/>
          <a:ln/>
        </p:spPr>
        <p:txBody>
          <a:bodyPr wrap="square" rtlCol="0" anchor="ctr"/>
          <a:lstStyle/>
          <a:p>
            <a:pPr marL="0" indent="0">
              <a:buNone/>
            </a:pPr>
            <a:r>
              <a:rPr lang="en-US" sz="1300" dirty="0">
                <a:solidFill>
                  <a:srgbClr val="3A4A60"/>
                </a:solidFill>
                <a:latin typeface="Calibri" pitchFamily="34" charset="0"/>
                <a:ea typeface="Calibri" pitchFamily="34" charset="-122"/>
                <a:cs typeface="Calibri" pitchFamily="34" charset="-120"/>
              </a:rPr>
              <a:t>of U.S.-produced cash</a:t>
            </a:r>
            <a:endParaRPr lang="en-US" sz="1300" dirty="0"/>
          </a:p>
          <a:p>
            <a:pPr marL="0" indent="0">
              <a:buNone/>
            </a:pPr>
            <a:r>
              <a:rPr lang="en-US" sz="1300" dirty="0">
                <a:solidFill>
                  <a:srgbClr val="3A4A60"/>
                </a:solidFill>
                <a:latin typeface="Calibri" pitchFamily="34" charset="0"/>
                <a:ea typeface="Calibri" pitchFamily="34" charset="-122"/>
                <a:cs typeface="Calibri" pitchFamily="34" charset="-120"/>
              </a:rPr>
              <a:t>held overseas</a:t>
            </a:r>
            <a:endParaRPr lang="en-US" sz="1300" dirty="0"/>
          </a:p>
        </p:txBody>
      </p:sp>
      <p:sp>
        <p:nvSpPr>
          <p:cNvPr id="12" name="Shape 10"/>
          <p:cNvSpPr/>
          <p:nvPr/>
        </p:nvSpPr>
        <p:spPr>
          <a:xfrm>
            <a:off x="320040" y="3017520"/>
            <a:ext cx="4069080" cy="1645920"/>
          </a:xfrm>
          <a:prstGeom prst="rect">
            <a:avLst/>
          </a:prstGeom>
          <a:solidFill>
            <a:srgbClr val="FFFFFF"/>
          </a:solidFill>
          <a:ln w="12700">
            <a:solidFill>
              <a:srgbClr val="E8ECF2"/>
            </a:solidFill>
            <a:prstDash val="solid"/>
          </a:ln>
          <a:effectLst>
            <a:outerShdw blurRad="63500" dist="25400" dir="8100000" algn="bl" rotWithShape="0">
              <a:srgbClr val="000000">
                <a:alpha val="8000"/>
              </a:srgbClr>
            </a:outerShdw>
          </a:effectLst>
        </p:spPr>
        <p:txBody>
          <a:bodyPr/>
          <a:lstStyle/>
          <a:p>
            <a:endParaRPr lang="en-IN"/>
          </a:p>
        </p:txBody>
      </p:sp>
      <p:sp>
        <p:nvSpPr>
          <p:cNvPr id="13" name="Shape 11"/>
          <p:cNvSpPr/>
          <p:nvPr/>
        </p:nvSpPr>
        <p:spPr>
          <a:xfrm>
            <a:off x="320040" y="3017520"/>
            <a:ext cx="64008" cy="1645920"/>
          </a:xfrm>
          <a:prstGeom prst="rect">
            <a:avLst/>
          </a:prstGeom>
          <a:solidFill>
            <a:srgbClr val="0D8070"/>
          </a:solidFill>
          <a:ln w="12700">
            <a:solidFill>
              <a:srgbClr val="0D8070"/>
            </a:solidFill>
            <a:prstDash val="solid"/>
          </a:ln>
        </p:spPr>
        <p:txBody>
          <a:bodyPr/>
          <a:lstStyle/>
          <a:p>
            <a:endParaRPr lang="en-IN"/>
          </a:p>
        </p:txBody>
      </p:sp>
      <p:sp>
        <p:nvSpPr>
          <p:cNvPr id="14" name="Text 12"/>
          <p:cNvSpPr/>
          <p:nvPr/>
        </p:nvSpPr>
        <p:spPr>
          <a:xfrm>
            <a:off x="502920" y="3200400"/>
            <a:ext cx="3657600" cy="777240"/>
          </a:xfrm>
          <a:prstGeom prst="rect">
            <a:avLst/>
          </a:prstGeom>
          <a:noFill/>
          <a:ln/>
        </p:spPr>
        <p:txBody>
          <a:bodyPr wrap="square" rtlCol="0" anchor="ctr"/>
          <a:lstStyle/>
          <a:p>
            <a:pPr marL="0" indent="0">
              <a:buNone/>
            </a:pPr>
            <a:r>
              <a:rPr lang="en-US" sz="4000" b="1" dirty="0">
                <a:solidFill>
                  <a:srgbClr val="0D8070"/>
                </a:solidFill>
                <a:latin typeface="Calibri" pitchFamily="34" charset="0"/>
                <a:ea typeface="Calibri" pitchFamily="34" charset="-122"/>
                <a:cs typeface="Calibri" pitchFamily="34" charset="-120"/>
              </a:rPr>
              <a:t>96%</a:t>
            </a:r>
            <a:endParaRPr lang="en-US" sz="4000" dirty="0"/>
          </a:p>
        </p:txBody>
      </p:sp>
      <p:sp>
        <p:nvSpPr>
          <p:cNvPr id="15" name="Text 13"/>
          <p:cNvSpPr/>
          <p:nvPr/>
        </p:nvSpPr>
        <p:spPr>
          <a:xfrm>
            <a:off x="502920" y="3931920"/>
            <a:ext cx="3657600" cy="594360"/>
          </a:xfrm>
          <a:prstGeom prst="rect">
            <a:avLst/>
          </a:prstGeom>
          <a:noFill/>
          <a:ln/>
        </p:spPr>
        <p:txBody>
          <a:bodyPr wrap="square" rtlCol="0" anchor="ctr"/>
          <a:lstStyle/>
          <a:p>
            <a:pPr marL="0" indent="0">
              <a:buNone/>
            </a:pPr>
            <a:r>
              <a:rPr lang="en-US" sz="1300" dirty="0">
                <a:solidFill>
                  <a:srgbClr val="3A4A60"/>
                </a:solidFill>
                <a:latin typeface="Calibri" pitchFamily="34" charset="0"/>
                <a:ea typeface="Calibri" pitchFamily="34" charset="-122"/>
                <a:cs typeface="Calibri" pitchFamily="34" charset="-120"/>
              </a:rPr>
              <a:t>of purchases in India</a:t>
            </a:r>
            <a:endParaRPr lang="en-US" sz="1300" dirty="0"/>
          </a:p>
          <a:p>
            <a:pPr marL="0" indent="0">
              <a:buNone/>
            </a:pPr>
            <a:r>
              <a:rPr lang="en-US" sz="1300" dirty="0">
                <a:solidFill>
                  <a:srgbClr val="3A4A60"/>
                </a:solidFill>
                <a:latin typeface="Calibri" pitchFamily="34" charset="0"/>
                <a:ea typeface="Calibri" pitchFamily="34" charset="-122"/>
                <a:cs typeface="Calibri" pitchFamily="34" charset="-120"/>
              </a:rPr>
              <a:t>made by cash</a:t>
            </a:r>
            <a:endParaRPr lang="en-US" sz="1300" dirty="0"/>
          </a:p>
        </p:txBody>
      </p:sp>
      <p:sp>
        <p:nvSpPr>
          <p:cNvPr id="16" name="Shape 14"/>
          <p:cNvSpPr/>
          <p:nvPr/>
        </p:nvSpPr>
        <p:spPr>
          <a:xfrm>
            <a:off x="4754880" y="3017520"/>
            <a:ext cx="4069080" cy="1645920"/>
          </a:xfrm>
          <a:prstGeom prst="rect">
            <a:avLst/>
          </a:prstGeom>
          <a:solidFill>
            <a:srgbClr val="FFFFFF"/>
          </a:solidFill>
          <a:ln w="12700">
            <a:solidFill>
              <a:srgbClr val="E8ECF2"/>
            </a:solidFill>
            <a:prstDash val="solid"/>
          </a:ln>
          <a:effectLst>
            <a:outerShdw blurRad="63500" dist="25400" dir="8100000" algn="bl" rotWithShape="0">
              <a:srgbClr val="000000">
                <a:alpha val="8000"/>
              </a:srgbClr>
            </a:outerShdw>
          </a:effectLst>
        </p:spPr>
        <p:txBody>
          <a:bodyPr/>
          <a:lstStyle/>
          <a:p>
            <a:endParaRPr lang="en-IN"/>
          </a:p>
        </p:txBody>
      </p:sp>
      <p:sp>
        <p:nvSpPr>
          <p:cNvPr id="17" name="Shape 15"/>
          <p:cNvSpPr/>
          <p:nvPr/>
        </p:nvSpPr>
        <p:spPr>
          <a:xfrm>
            <a:off x="4754880" y="3017520"/>
            <a:ext cx="64008" cy="1645920"/>
          </a:xfrm>
          <a:prstGeom prst="rect">
            <a:avLst/>
          </a:prstGeom>
          <a:solidFill>
            <a:srgbClr val="1A8754"/>
          </a:solidFill>
          <a:ln w="12700">
            <a:solidFill>
              <a:srgbClr val="1A8754"/>
            </a:solidFill>
            <a:prstDash val="solid"/>
          </a:ln>
        </p:spPr>
        <p:txBody>
          <a:bodyPr/>
          <a:lstStyle/>
          <a:p>
            <a:endParaRPr lang="en-IN"/>
          </a:p>
        </p:txBody>
      </p:sp>
      <p:sp>
        <p:nvSpPr>
          <p:cNvPr id="18" name="Text 16"/>
          <p:cNvSpPr/>
          <p:nvPr/>
        </p:nvSpPr>
        <p:spPr>
          <a:xfrm>
            <a:off x="4937760" y="3200400"/>
            <a:ext cx="3657600" cy="777240"/>
          </a:xfrm>
          <a:prstGeom prst="rect">
            <a:avLst/>
          </a:prstGeom>
          <a:noFill/>
          <a:ln/>
        </p:spPr>
        <p:txBody>
          <a:bodyPr wrap="square" rtlCol="0" anchor="ctr"/>
          <a:lstStyle/>
          <a:p>
            <a:pPr marL="0" indent="0">
              <a:buNone/>
            </a:pPr>
            <a:r>
              <a:rPr lang="en-US" sz="4000" b="1" dirty="0">
                <a:solidFill>
                  <a:srgbClr val="1A8754"/>
                </a:solidFill>
                <a:latin typeface="Calibri" pitchFamily="34" charset="0"/>
                <a:ea typeface="Calibri" pitchFamily="34" charset="-122"/>
                <a:cs typeface="Calibri" pitchFamily="34" charset="-120"/>
              </a:rPr>
              <a:t>&gt;90%</a:t>
            </a:r>
            <a:endParaRPr lang="en-US" sz="4000" dirty="0"/>
          </a:p>
        </p:txBody>
      </p:sp>
      <p:sp>
        <p:nvSpPr>
          <p:cNvPr id="19" name="Text 17"/>
          <p:cNvSpPr/>
          <p:nvPr/>
        </p:nvSpPr>
        <p:spPr>
          <a:xfrm>
            <a:off x="4937760" y="3931920"/>
            <a:ext cx="3657600" cy="594360"/>
          </a:xfrm>
          <a:prstGeom prst="rect">
            <a:avLst/>
          </a:prstGeom>
          <a:noFill/>
          <a:ln/>
        </p:spPr>
        <p:txBody>
          <a:bodyPr wrap="square" rtlCol="0" anchor="ctr"/>
          <a:lstStyle/>
          <a:p>
            <a:pPr marL="0" indent="0">
              <a:buNone/>
            </a:pPr>
            <a:r>
              <a:rPr lang="en-US" sz="1300" dirty="0">
                <a:solidFill>
                  <a:srgbClr val="3A4A60"/>
                </a:solidFill>
                <a:latin typeface="Calibri" pitchFamily="34" charset="0"/>
                <a:ea typeface="Calibri" pitchFamily="34" charset="-122"/>
                <a:cs typeface="Calibri" pitchFamily="34" charset="-120"/>
              </a:rPr>
              <a:t>of residents in developing</a:t>
            </a:r>
            <a:endParaRPr lang="en-US" sz="1300" dirty="0"/>
          </a:p>
          <a:p>
            <a:pPr marL="0" indent="0">
              <a:buNone/>
            </a:pPr>
            <a:r>
              <a:rPr lang="en-US" sz="1300" dirty="0">
                <a:solidFill>
                  <a:srgbClr val="3A4A60"/>
                </a:solidFill>
                <a:latin typeface="Calibri" pitchFamily="34" charset="0"/>
                <a:ea typeface="Calibri" pitchFamily="34" charset="-122"/>
                <a:cs typeface="Calibri" pitchFamily="34" charset="-120"/>
              </a:rPr>
              <a:t>countries are Cash Based</a:t>
            </a:r>
            <a:endParaRPr lang="en-US" sz="1300" dirty="0"/>
          </a:p>
        </p:txBody>
      </p:sp>
      <p:sp>
        <p:nvSpPr>
          <p:cNvPr id="20" name="Text 18"/>
          <p:cNvSpPr/>
          <p:nvPr/>
        </p:nvSpPr>
        <p:spPr>
          <a:xfrm>
            <a:off x="320040" y="4617720"/>
            <a:ext cx="3657600" cy="274320"/>
          </a:xfrm>
          <a:prstGeom prst="rect">
            <a:avLst/>
          </a:prstGeom>
          <a:noFill/>
          <a:ln/>
        </p:spPr>
        <p:txBody>
          <a:bodyPr wrap="square"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Why volume estimates are imprecise:</a:t>
            </a:r>
            <a:endParaRPr lang="en-US" sz="1100" dirty="0"/>
          </a:p>
        </p:txBody>
      </p:sp>
      <p:sp>
        <p:nvSpPr>
          <p:cNvPr id="21" name="Text 19"/>
          <p:cNvSpPr/>
          <p:nvPr/>
        </p:nvSpPr>
        <p:spPr>
          <a:xfrm>
            <a:off x="320040" y="4828032"/>
            <a:ext cx="8412480" cy="256032"/>
          </a:xfrm>
          <a:prstGeom prst="rect">
            <a:avLst/>
          </a:prstGeom>
          <a:noFill/>
          <a:ln/>
        </p:spPr>
        <p:txBody>
          <a:bodyPr wrap="square" rtlCol="0" anchor="ctr"/>
          <a:lstStyle/>
          <a:p>
            <a:pPr marL="0" indent="0">
              <a:buNone/>
            </a:pPr>
            <a:r>
              <a:rPr lang="en-US" sz="1100" dirty="0">
                <a:solidFill>
                  <a:srgbClr val="8899AA"/>
                </a:solidFill>
                <a:latin typeface="Calibri" pitchFamily="34" charset="0"/>
                <a:ea typeface="Calibri" pitchFamily="34" charset="-122"/>
                <a:cs typeface="Calibri" pitchFamily="34" charset="-120"/>
              </a:rPr>
              <a:t>Person-to-person · Off-the-books payrolls · Criminal economy · Overseas holdings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91120"/>
          </a:solidFill>
          <a:ln w="12700">
            <a:solidFill>
              <a:srgbClr val="091120"/>
            </a:solidFill>
            <a:prstDash val="solid"/>
          </a:ln>
        </p:spPr>
        <p:txBody>
          <a:bodyPr/>
          <a:lstStyle/>
          <a:p>
            <a:endParaRPr lang="en-IN"/>
          </a:p>
        </p:txBody>
      </p:sp>
      <p:sp>
        <p:nvSpPr>
          <p:cNvPr id="3" name="Text 1"/>
          <p:cNvSpPr/>
          <p:nvPr/>
        </p:nvSpPr>
        <p:spPr>
          <a:xfrm>
            <a:off x="274320" y="0"/>
            <a:ext cx="8229600" cy="9144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Cash Production &amp; Supply Chain</a:t>
            </a:r>
            <a:endParaRPr lang="en-US" sz="2200" dirty="0"/>
          </a:p>
        </p:txBody>
      </p:sp>
      <p:sp>
        <p:nvSpPr>
          <p:cNvPr id="4" name="Text 2"/>
          <p:cNvSpPr/>
          <p:nvPr/>
        </p:nvSpPr>
        <p:spPr>
          <a:xfrm>
            <a:off x="274320" y="566928"/>
            <a:ext cx="7315200" cy="320040"/>
          </a:xfrm>
          <a:prstGeom prst="rect">
            <a:avLst/>
          </a:prstGeom>
          <a:noFill/>
          <a:ln/>
        </p:spPr>
        <p:txBody>
          <a:bodyPr wrap="square" rtlCol="0" anchor="ctr"/>
          <a:lstStyle/>
          <a:p>
            <a:pPr marL="0" indent="0">
              <a:buNone/>
            </a:pPr>
            <a:r>
              <a:rPr lang="en-US" sz="1200" dirty="0">
                <a:solidFill>
                  <a:srgbClr val="E8A020"/>
                </a:solidFill>
                <a:latin typeface="Calibri" pitchFamily="34" charset="0"/>
                <a:ea typeface="Calibri" pitchFamily="34" charset="-122"/>
                <a:cs typeface="Calibri" pitchFamily="34" charset="-120"/>
              </a:rPr>
              <a:t>How Cash Enters the Economy</a:t>
            </a:r>
            <a:endParaRPr lang="en-US" sz="1200" dirty="0"/>
          </a:p>
        </p:txBody>
      </p:sp>
      <p:sp>
        <p:nvSpPr>
          <p:cNvPr id="5" name="Shape 3"/>
          <p:cNvSpPr/>
          <p:nvPr/>
        </p:nvSpPr>
        <p:spPr>
          <a:xfrm>
            <a:off x="274320" y="1371600"/>
            <a:ext cx="1463040" cy="1463040"/>
          </a:xfrm>
          <a:prstGeom prst="ellipse">
            <a:avLst/>
          </a:prstGeom>
          <a:solidFill>
            <a:srgbClr val="1E5B9C"/>
          </a:solidFill>
          <a:ln w="12700">
            <a:solidFill>
              <a:srgbClr val="3A8FD6"/>
            </a:solidFill>
            <a:prstDash val="solid"/>
          </a:ln>
        </p:spPr>
        <p:txBody>
          <a:bodyPr/>
          <a:lstStyle/>
          <a:p>
            <a:endParaRPr lang="en-IN"/>
          </a:p>
        </p:txBody>
      </p:sp>
      <p:sp>
        <p:nvSpPr>
          <p:cNvPr id="6" name="Text 4"/>
          <p:cNvSpPr/>
          <p:nvPr/>
        </p:nvSpPr>
        <p:spPr>
          <a:xfrm>
            <a:off x="274320" y="1417320"/>
            <a:ext cx="1463040" cy="9144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Bureau of</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Engraving</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&amp; Printing</a:t>
            </a:r>
            <a:endParaRPr lang="en-US" sz="1100" dirty="0"/>
          </a:p>
        </p:txBody>
      </p:sp>
      <p:sp>
        <p:nvSpPr>
          <p:cNvPr id="7" name="Text 5"/>
          <p:cNvSpPr/>
          <p:nvPr/>
        </p:nvSpPr>
        <p:spPr>
          <a:xfrm>
            <a:off x="274320" y="3017520"/>
            <a:ext cx="1463040" cy="320040"/>
          </a:xfrm>
          <a:prstGeom prst="rect">
            <a:avLst/>
          </a:prstGeom>
          <a:noFill/>
          <a:ln/>
        </p:spPr>
        <p:txBody>
          <a:bodyPr wrap="square" rtlCol="0" anchor="ctr"/>
          <a:lstStyle/>
          <a:p>
            <a:pPr marL="0" indent="0" algn="ctr">
              <a:buNone/>
            </a:pPr>
            <a:r>
              <a:rPr lang="en-US" sz="1000" dirty="0">
                <a:solidFill>
                  <a:srgbClr val="F5C842"/>
                </a:solidFill>
                <a:latin typeface="Calibri" pitchFamily="34" charset="0"/>
                <a:ea typeface="Calibri" pitchFamily="34" charset="-122"/>
                <a:cs typeface="Calibri" pitchFamily="34" charset="-120"/>
              </a:rPr>
              <a:t>Bank Notes</a:t>
            </a:r>
            <a:endParaRPr lang="en-US" sz="1000" dirty="0"/>
          </a:p>
        </p:txBody>
      </p:sp>
      <p:sp>
        <p:nvSpPr>
          <p:cNvPr id="8" name="Shape 6"/>
          <p:cNvSpPr/>
          <p:nvPr/>
        </p:nvSpPr>
        <p:spPr>
          <a:xfrm>
            <a:off x="1737360" y="2103120"/>
            <a:ext cx="502920" cy="0"/>
          </a:xfrm>
          <a:prstGeom prst="line">
            <a:avLst/>
          </a:prstGeom>
          <a:noFill/>
          <a:ln w="31750">
            <a:solidFill>
              <a:srgbClr val="E8A020"/>
            </a:solidFill>
            <a:prstDash val="solid"/>
          </a:ln>
        </p:spPr>
        <p:txBody>
          <a:bodyPr/>
          <a:lstStyle/>
          <a:p>
            <a:endParaRPr lang="en-IN"/>
          </a:p>
        </p:txBody>
      </p:sp>
      <p:sp>
        <p:nvSpPr>
          <p:cNvPr id="9" name="Text 7"/>
          <p:cNvSpPr/>
          <p:nvPr/>
        </p:nvSpPr>
        <p:spPr>
          <a:xfrm>
            <a:off x="2057400" y="1984248"/>
            <a:ext cx="228600" cy="228600"/>
          </a:xfrm>
          <a:prstGeom prst="rect">
            <a:avLst/>
          </a:prstGeom>
          <a:noFill/>
          <a:ln/>
        </p:spPr>
        <p:txBody>
          <a:bodyPr wrap="square" rtlCol="0" anchor="ctr"/>
          <a:lstStyle/>
          <a:p>
            <a:pPr marL="0" indent="0" algn="ctr">
              <a:buNone/>
            </a:pPr>
            <a:r>
              <a:rPr lang="en-US" sz="1200" dirty="0">
                <a:solidFill>
                  <a:srgbClr val="E8A020"/>
                </a:solidFill>
                <a:latin typeface="Calibri" pitchFamily="34" charset="0"/>
                <a:ea typeface="Calibri" pitchFamily="34" charset="-122"/>
                <a:cs typeface="Calibri" pitchFamily="34" charset="-120"/>
              </a:rPr>
              <a:t>▶</a:t>
            </a:r>
            <a:endParaRPr lang="en-US" sz="1200" dirty="0"/>
          </a:p>
        </p:txBody>
      </p:sp>
      <p:sp>
        <p:nvSpPr>
          <p:cNvPr id="10" name="Shape 8"/>
          <p:cNvSpPr/>
          <p:nvPr/>
        </p:nvSpPr>
        <p:spPr>
          <a:xfrm>
            <a:off x="1965960" y="1371600"/>
            <a:ext cx="1463040" cy="1463040"/>
          </a:xfrm>
          <a:prstGeom prst="ellipse">
            <a:avLst/>
          </a:prstGeom>
          <a:solidFill>
            <a:srgbClr val="1E5B9C"/>
          </a:solidFill>
          <a:ln w="12700">
            <a:solidFill>
              <a:srgbClr val="3A8FD6"/>
            </a:solidFill>
            <a:prstDash val="solid"/>
          </a:ln>
        </p:spPr>
        <p:txBody>
          <a:bodyPr/>
          <a:lstStyle/>
          <a:p>
            <a:endParaRPr lang="en-IN"/>
          </a:p>
        </p:txBody>
      </p:sp>
      <p:sp>
        <p:nvSpPr>
          <p:cNvPr id="11" name="Text 9"/>
          <p:cNvSpPr/>
          <p:nvPr/>
        </p:nvSpPr>
        <p:spPr>
          <a:xfrm>
            <a:off x="1965960" y="1417320"/>
            <a:ext cx="1463040" cy="9144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Mint</a:t>
            </a:r>
            <a:endParaRPr lang="en-US" sz="1100" dirty="0"/>
          </a:p>
        </p:txBody>
      </p:sp>
      <p:sp>
        <p:nvSpPr>
          <p:cNvPr id="12" name="Text 10"/>
          <p:cNvSpPr/>
          <p:nvPr/>
        </p:nvSpPr>
        <p:spPr>
          <a:xfrm>
            <a:off x="1965960" y="3017520"/>
            <a:ext cx="1463040" cy="320040"/>
          </a:xfrm>
          <a:prstGeom prst="rect">
            <a:avLst/>
          </a:prstGeom>
          <a:noFill/>
          <a:ln/>
        </p:spPr>
        <p:txBody>
          <a:bodyPr wrap="square" rtlCol="0" anchor="ctr"/>
          <a:lstStyle/>
          <a:p>
            <a:pPr marL="0" indent="0" algn="ctr">
              <a:buNone/>
            </a:pPr>
            <a:r>
              <a:rPr lang="en-US" sz="1000" dirty="0">
                <a:solidFill>
                  <a:srgbClr val="F5C842"/>
                </a:solidFill>
                <a:latin typeface="Calibri" pitchFamily="34" charset="0"/>
                <a:ea typeface="Calibri" pitchFamily="34" charset="-122"/>
                <a:cs typeface="Calibri" pitchFamily="34" charset="-120"/>
              </a:rPr>
              <a:t>Coins</a:t>
            </a:r>
            <a:endParaRPr lang="en-US" sz="1000" dirty="0"/>
          </a:p>
        </p:txBody>
      </p:sp>
      <p:sp>
        <p:nvSpPr>
          <p:cNvPr id="13" name="Shape 11"/>
          <p:cNvSpPr/>
          <p:nvPr/>
        </p:nvSpPr>
        <p:spPr>
          <a:xfrm>
            <a:off x="3429000" y="2103120"/>
            <a:ext cx="502920" cy="0"/>
          </a:xfrm>
          <a:prstGeom prst="line">
            <a:avLst/>
          </a:prstGeom>
          <a:noFill/>
          <a:ln w="31750">
            <a:solidFill>
              <a:srgbClr val="E8A020"/>
            </a:solidFill>
            <a:prstDash val="solid"/>
          </a:ln>
        </p:spPr>
        <p:txBody>
          <a:bodyPr/>
          <a:lstStyle/>
          <a:p>
            <a:endParaRPr lang="en-IN"/>
          </a:p>
        </p:txBody>
      </p:sp>
      <p:sp>
        <p:nvSpPr>
          <p:cNvPr id="14" name="Text 12"/>
          <p:cNvSpPr/>
          <p:nvPr/>
        </p:nvSpPr>
        <p:spPr>
          <a:xfrm>
            <a:off x="3749040" y="1984248"/>
            <a:ext cx="228600" cy="228600"/>
          </a:xfrm>
          <a:prstGeom prst="rect">
            <a:avLst/>
          </a:prstGeom>
          <a:noFill/>
          <a:ln/>
        </p:spPr>
        <p:txBody>
          <a:bodyPr wrap="square" rtlCol="0" anchor="ctr"/>
          <a:lstStyle/>
          <a:p>
            <a:pPr marL="0" indent="0" algn="ctr">
              <a:buNone/>
            </a:pPr>
            <a:r>
              <a:rPr lang="en-US" sz="1200" dirty="0">
                <a:solidFill>
                  <a:srgbClr val="E8A020"/>
                </a:solidFill>
                <a:latin typeface="Calibri" pitchFamily="34" charset="0"/>
                <a:ea typeface="Calibri" pitchFamily="34" charset="-122"/>
                <a:cs typeface="Calibri" pitchFamily="34" charset="-120"/>
              </a:rPr>
              <a:t>▶</a:t>
            </a:r>
            <a:endParaRPr lang="en-US" sz="1200" dirty="0"/>
          </a:p>
        </p:txBody>
      </p:sp>
      <p:sp>
        <p:nvSpPr>
          <p:cNvPr id="15" name="Shape 13"/>
          <p:cNvSpPr/>
          <p:nvPr/>
        </p:nvSpPr>
        <p:spPr>
          <a:xfrm>
            <a:off x="3657600" y="1371600"/>
            <a:ext cx="1463040" cy="1463040"/>
          </a:xfrm>
          <a:prstGeom prst="ellipse">
            <a:avLst/>
          </a:prstGeom>
          <a:solidFill>
            <a:srgbClr val="1E5B9C"/>
          </a:solidFill>
          <a:ln w="12700">
            <a:solidFill>
              <a:srgbClr val="3A8FD6"/>
            </a:solidFill>
            <a:prstDash val="solid"/>
          </a:ln>
        </p:spPr>
        <p:txBody>
          <a:bodyPr/>
          <a:lstStyle/>
          <a:p>
            <a:endParaRPr lang="en-IN"/>
          </a:p>
        </p:txBody>
      </p:sp>
      <p:sp>
        <p:nvSpPr>
          <p:cNvPr id="16" name="Text 14"/>
          <p:cNvSpPr/>
          <p:nvPr/>
        </p:nvSpPr>
        <p:spPr>
          <a:xfrm>
            <a:off x="3657600" y="1417320"/>
            <a:ext cx="1463040" cy="9144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Federal</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Reserve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17" name="Text 15"/>
          <p:cNvSpPr/>
          <p:nvPr/>
        </p:nvSpPr>
        <p:spPr>
          <a:xfrm>
            <a:off x="3657600" y="3017520"/>
            <a:ext cx="1463040" cy="320040"/>
          </a:xfrm>
          <a:prstGeom prst="rect">
            <a:avLst/>
          </a:prstGeom>
          <a:noFill/>
          <a:ln/>
        </p:spPr>
        <p:txBody>
          <a:bodyPr wrap="square" rtlCol="0" anchor="ctr"/>
          <a:lstStyle/>
          <a:p>
            <a:pPr marL="0" indent="0" algn="ctr">
              <a:buNone/>
            </a:pPr>
            <a:r>
              <a:rPr lang="en-US" sz="1000" dirty="0">
                <a:solidFill>
                  <a:srgbClr val="F5C842"/>
                </a:solidFill>
                <a:latin typeface="Calibri" pitchFamily="34" charset="0"/>
                <a:ea typeface="Calibri" pitchFamily="34" charset="-122"/>
                <a:cs typeface="Calibri" pitchFamily="34" charset="-120"/>
              </a:rPr>
              <a:t>Issues Cash</a:t>
            </a:r>
            <a:endParaRPr lang="en-US" sz="1000" dirty="0"/>
          </a:p>
        </p:txBody>
      </p:sp>
      <p:sp>
        <p:nvSpPr>
          <p:cNvPr id="18" name="Shape 16"/>
          <p:cNvSpPr/>
          <p:nvPr/>
        </p:nvSpPr>
        <p:spPr>
          <a:xfrm>
            <a:off x="5120640" y="2103120"/>
            <a:ext cx="502920" cy="0"/>
          </a:xfrm>
          <a:prstGeom prst="line">
            <a:avLst/>
          </a:prstGeom>
          <a:noFill/>
          <a:ln w="31750">
            <a:solidFill>
              <a:srgbClr val="E8A020"/>
            </a:solidFill>
            <a:prstDash val="solid"/>
          </a:ln>
        </p:spPr>
        <p:txBody>
          <a:bodyPr/>
          <a:lstStyle/>
          <a:p>
            <a:endParaRPr lang="en-IN"/>
          </a:p>
        </p:txBody>
      </p:sp>
      <p:sp>
        <p:nvSpPr>
          <p:cNvPr id="19" name="Text 17"/>
          <p:cNvSpPr/>
          <p:nvPr/>
        </p:nvSpPr>
        <p:spPr>
          <a:xfrm>
            <a:off x="5440680" y="1984248"/>
            <a:ext cx="228600" cy="228600"/>
          </a:xfrm>
          <a:prstGeom prst="rect">
            <a:avLst/>
          </a:prstGeom>
          <a:noFill/>
          <a:ln/>
        </p:spPr>
        <p:txBody>
          <a:bodyPr wrap="square" rtlCol="0" anchor="ctr"/>
          <a:lstStyle/>
          <a:p>
            <a:pPr marL="0" indent="0" algn="ctr">
              <a:buNone/>
            </a:pPr>
            <a:r>
              <a:rPr lang="en-US" sz="1200" dirty="0">
                <a:solidFill>
                  <a:srgbClr val="E8A020"/>
                </a:solidFill>
                <a:latin typeface="Calibri" pitchFamily="34" charset="0"/>
                <a:ea typeface="Calibri" pitchFamily="34" charset="-122"/>
                <a:cs typeface="Calibri" pitchFamily="34" charset="-120"/>
              </a:rPr>
              <a:t>▶</a:t>
            </a:r>
            <a:endParaRPr lang="en-US" sz="1200" dirty="0"/>
          </a:p>
        </p:txBody>
      </p:sp>
      <p:sp>
        <p:nvSpPr>
          <p:cNvPr id="20" name="Shape 18"/>
          <p:cNvSpPr/>
          <p:nvPr/>
        </p:nvSpPr>
        <p:spPr>
          <a:xfrm>
            <a:off x="5349240" y="1371600"/>
            <a:ext cx="1463040" cy="1463040"/>
          </a:xfrm>
          <a:prstGeom prst="ellipse">
            <a:avLst/>
          </a:prstGeom>
          <a:solidFill>
            <a:srgbClr val="1E5B9C"/>
          </a:solidFill>
          <a:ln w="12700">
            <a:solidFill>
              <a:srgbClr val="3A8FD6"/>
            </a:solidFill>
            <a:prstDash val="solid"/>
          </a:ln>
        </p:spPr>
        <p:txBody>
          <a:bodyPr/>
          <a:lstStyle/>
          <a:p>
            <a:endParaRPr lang="en-IN"/>
          </a:p>
        </p:txBody>
      </p:sp>
      <p:sp>
        <p:nvSpPr>
          <p:cNvPr id="21" name="Text 19"/>
          <p:cNvSpPr/>
          <p:nvPr/>
        </p:nvSpPr>
        <p:spPr>
          <a:xfrm>
            <a:off x="5349240" y="1417320"/>
            <a:ext cx="1463040" cy="9144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Member</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Banks</a:t>
            </a:r>
            <a:endParaRPr lang="en-US" sz="1100" dirty="0"/>
          </a:p>
        </p:txBody>
      </p:sp>
      <p:sp>
        <p:nvSpPr>
          <p:cNvPr id="22" name="Text 20"/>
          <p:cNvSpPr/>
          <p:nvPr/>
        </p:nvSpPr>
        <p:spPr>
          <a:xfrm>
            <a:off x="5349240" y="3017520"/>
            <a:ext cx="1463040" cy="320040"/>
          </a:xfrm>
          <a:prstGeom prst="rect">
            <a:avLst/>
          </a:prstGeom>
          <a:noFill/>
          <a:ln/>
        </p:spPr>
        <p:txBody>
          <a:bodyPr wrap="square" rtlCol="0" anchor="ctr"/>
          <a:lstStyle/>
          <a:p>
            <a:pPr marL="0" indent="0" algn="ctr">
              <a:buNone/>
            </a:pPr>
            <a:r>
              <a:rPr lang="en-US" sz="1000" dirty="0">
                <a:solidFill>
                  <a:srgbClr val="F5C842"/>
                </a:solidFill>
                <a:latin typeface="Calibri" pitchFamily="34" charset="0"/>
                <a:ea typeface="Calibri" pitchFamily="34" charset="-122"/>
                <a:cs typeface="Calibri" pitchFamily="34" charset="-120"/>
              </a:rPr>
              <a:t>Order &amp; Collect</a:t>
            </a:r>
            <a:endParaRPr lang="en-US" sz="1000" dirty="0"/>
          </a:p>
        </p:txBody>
      </p:sp>
      <p:sp>
        <p:nvSpPr>
          <p:cNvPr id="23" name="Shape 21"/>
          <p:cNvSpPr/>
          <p:nvPr/>
        </p:nvSpPr>
        <p:spPr>
          <a:xfrm>
            <a:off x="6812280" y="2103120"/>
            <a:ext cx="502920" cy="0"/>
          </a:xfrm>
          <a:prstGeom prst="line">
            <a:avLst/>
          </a:prstGeom>
          <a:noFill/>
          <a:ln w="31750">
            <a:solidFill>
              <a:srgbClr val="E8A020"/>
            </a:solidFill>
            <a:prstDash val="solid"/>
          </a:ln>
        </p:spPr>
        <p:txBody>
          <a:bodyPr/>
          <a:lstStyle/>
          <a:p>
            <a:endParaRPr lang="en-IN"/>
          </a:p>
        </p:txBody>
      </p:sp>
      <p:sp>
        <p:nvSpPr>
          <p:cNvPr id="24" name="Text 22"/>
          <p:cNvSpPr/>
          <p:nvPr/>
        </p:nvSpPr>
        <p:spPr>
          <a:xfrm>
            <a:off x="7132320" y="1984248"/>
            <a:ext cx="228600" cy="228600"/>
          </a:xfrm>
          <a:prstGeom prst="rect">
            <a:avLst/>
          </a:prstGeom>
          <a:noFill/>
          <a:ln/>
        </p:spPr>
        <p:txBody>
          <a:bodyPr wrap="square" rtlCol="0" anchor="ctr"/>
          <a:lstStyle/>
          <a:p>
            <a:pPr marL="0" indent="0" algn="ctr">
              <a:buNone/>
            </a:pPr>
            <a:r>
              <a:rPr lang="en-US" sz="1200" dirty="0">
                <a:solidFill>
                  <a:srgbClr val="E8A020"/>
                </a:solidFill>
                <a:latin typeface="Calibri" pitchFamily="34" charset="0"/>
                <a:ea typeface="Calibri" pitchFamily="34" charset="-122"/>
                <a:cs typeface="Calibri" pitchFamily="34" charset="-120"/>
              </a:rPr>
              <a:t>▶</a:t>
            </a:r>
            <a:endParaRPr lang="en-US" sz="1200" dirty="0"/>
          </a:p>
        </p:txBody>
      </p:sp>
      <p:sp>
        <p:nvSpPr>
          <p:cNvPr id="25" name="Shape 23"/>
          <p:cNvSpPr/>
          <p:nvPr/>
        </p:nvSpPr>
        <p:spPr>
          <a:xfrm>
            <a:off x="7040880" y="1371600"/>
            <a:ext cx="1463040" cy="1463040"/>
          </a:xfrm>
          <a:prstGeom prst="ellipse">
            <a:avLst/>
          </a:prstGeom>
          <a:solidFill>
            <a:srgbClr val="1E5B9C"/>
          </a:solidFill>
          <a:ln w="12700">
            <a:solidFill>
              <a:srgbClr val="3A8FD6"/>
            </a:solidFill>
            <a:prstDash val="solid"/>
          </a:ln>
        </p:spPr>
        <p:txBody>
          <a:bodyPr/>
          <a:lstStyle/>
          <a:p>
            <a:endParaRPr lang="en-IN"/>
          </a:p>
        </p:txBody>
      </p:sp>
      <p:sp>
        <p:nvSpPr>
          <p:cNvPr id="26" name="Text 24"/>
          <p:cNvSpPr/>
          <p:nvPr/>
        </p:nvSpPr>
        <p:spPr>
          <a:xfrm>
            <a:off x="7040880" y="1417320"/>
            <a:ext cx="1463040" cy="9144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Vault /</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Branch /</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ATM</a:t>
            </a:r>
            <a:endParaRPr lang="en-US" sz="1100" dirty="0"/>
          </a:p>
        </p:txBody>
      </p:sp>
      <p:sp>
        <p:nvSpPr>
          <p:cNvPr id="27" name="Text 25"/>
          <p:cNvSpPr/>
          <p:nvPr/>
        </p:nvSpPr>
        <p:spPr>
          <a:xfrm>
            <a:off x="7040880" y="3017520"/>
            <a:ext cx="1463040" cy="320040"/>
          </a:xfrm>
          <a:prstGeom prst="rect">
            <a:avLst/>
          </a:prstGeom>
          <a:noFill/>
          <a:ln/>
        </p:spPr>
        <p:txBody>
          <a:bodyPr wrap="square" rtlCol="0" anchor="ctr"/>
          <a:lstStyle/>
          <a:p>
            <a:pPr marL="0" indent="0" algn="ctr">
              <a:buNone/>
            </a:pPr>
            <a:r>
              <a:rPr lang="en-US" sz="1000" dirty="0">
                <a:solidFill>
                  <a:srgbClr val="F5C842"/>
                </a:solidFill>
                <a:latin typeface="Calibri" pitchFamily="34" charset="0"/>
                <a:ea typeface="Calibri" pitchFamily="34" charset="-122"/>
                <a:cs typeface="Calibri" pitchFamily="34" charset="-120"/>
              </a:rPr>
              <a:t>Distribution</a:t>
            </a:r>
            <a:endParaRPr lang="en-US" sz="1000" dirty="0"/>
          </a:p>
        </p:txBody>
      </p:sp>
      <p:sp>
        <p:nvSpPr>
          <p:cNvPr id="28" name="Shape 26"/>
          <p:cNvSpPr/>
          <p:nvPr/>
        </p:nvSpPr>
        <p:spPr>
          <a:xfrm>
            <a:off x="274320" y="3520440"/>
            <a:ext cx="8595360" cy="73152"/>
          </a:xfrm>
          <a:prstGeom prst="rect">
            <a:avLst/>
          </a:prstGeom>
          <a:solidFill>
            <a:srgbClr val="1E5B9C"/>
          </a:solidFill>
          <a:ln w="12700">
            <a:solidFill>
              <a:srgbClr val="1E5B9C"/>
            </a:solidFill>
            <a:prstDash val="solid"/>
          </a:ln>
        </p:spPr>
        <p:txBody>
          <a:bodyPr/>
          <a:lstStyle/>
          <a:p>
            <a:endParaRPr lang="en-IN"/>
          </a:p>
        </p:txBody>
      </p:sp>
      <p:sp>
        <p:nvSpPr>
          <p:cNvPr id="29" name="Shape 27"/>
          <p:cNvSpPr/>
          <p:nvPr/>
        </p:nvSpPr>
        <p:spPr>
          <a:xfrm>
            <a:off x="274320" y="3749040"/>
            <a:ext cx="2743200" cy="1188720"/>
          </a:xfrm>
          <a:prstGeom prst="rect">
            <a:avLst/>
          </a:prstGeom>
          <a:solidFill>
            <a:srgbClr val="1B3A6B"/>
          </a:solidFill>
          <a:ln w="12700">
            <a:solidFill>
              <a:srgbClr val="1E5B9C"/>
            </a:solidFill>
            <a:prstDash val="solid"/>
          </a:ln>
        </p:spPr>
        <p:txBody>
          <a:bodyPr/>
          <a:lstStyle/>
          <a:p>
            <a:endParaRPr lang="en-IN"/>
          </a:p>
        </p:txBody>
      </p:sp>
      <p:sp>
        <p:nvSpPr>
          <p:cNvPr id="30" name="Text 28"/>
          <p:cNvSpPr/>
          <p:nvPr/>
        </p:nvSpPr>
        <p:spPr>
          <a:xfrm>
            <a:off x="274320" y="3767328"/>
            <a:ext cx="2743200" cy="320040"/>
          </a:xfrm>
          <a:prstGeom prst="rect">
            <a:avLst/>
          </a:prstGeom>
          <a:noFill/>
          <a:ln/>
        </p:spPr>
        <p:txBody>
          <a:bodyPr wrap="square" rtlCol="0" anchor="ctr"/>
          <a:lstStyle/>
          <a:p>
            <a:pPr marL="0" indent="0" algn="ctr">
              <a:buNone/>
            </a:pPr>
            <a:r>
              <a:rPr lang="en-US" sz="1200" b="1" dirty="0">
                <a:solidFill>
                  <a:srgbClr val="E8A020"/>
                </a:solidFill>
                <a:latin typeface="Calibri" pitchFamily="34" charset="0"/>
                <a:ea typeface="Calibri" pitchFamily="34" charset="-122"/>
                <a:cs typeface="Calibri" pitchFamily="34" charset="-120"/>
              </a:rPr>
              <a:t>Ordering</a:t>
            </a:r>
            <a:endParaRPr lang="en-US" sz="1200" dirty="0"/>
          </a:p>
        </p:txBody>
      </p:sp>
      <p:sp>
        <p:nvSpPr>
          <p:cNvPr id="31" name="Text 29"/>
          <p:cNvSpPr/>
          <p:nvPr/>
        </p:nvSpPr>
        <p:spPr>
          <a:xfrm>
            <a:off x="274320" y="4069080"/>
            <a:ext cx="2743200" cy="822960"/>
          </a:xfrm>
          <a:prstGeom prst="rect">
            <a:avLst/>
          </a:prstGeom>
          <a:noFill/>
          <a:ln/>
        </p:spPr>
        <p:txBody>
          <a:bodyPr wrap="square" lIns="0" tIns="101600" rIns="0" bIns="0" rtlCol="0" anchor="ctr"/>
          <a:lstStyle/>
          <a:p>
            <a:pPr marL="0" indent="0" algn="l">
              <a:buNone/>
            </a:pPr>
            <a:r>
              <a:rPr lang="en-US" sz="1100" dirty="0">
                <a:solidFill>
                  <a:srgbClr val="B8C8DC"/>
                </a:solidFill>
                <a:latin typeface="Calibri" pitchFamily="34" charset="0"/>
                <a:ea typeface="Calibri" pitchFamily="34" charset="-122"/>
                <a:cs typeface="Calibri" pitchFamily="34" charset="-120"/>
              </a:rPr>
              <a:t>Member bank orders cash from the Fed. Fed debits the bank's account and notifies the bank to collect.</a:t>
            </a:r>
            <a:endParaRPr lang="en-US" sz="1100" dirty="0"/>
          </a:p>
        </p:txBody>
      </p:sp>
      <p:sp>
        <p:nvSpPr>
          <p:cNvPr id="32" name="Shape 30"/>
          <p:cNvSpPr/>
          <p:nvPr/>
        </p:nvSpPr>
        <p:spPr>
          <a:xfrm>
            <a:off x="3172968" y="3749040"/>
            <a:ext cx="2743200" cy="1188720"/>
          </a:xfrm>
          <a:prstGeom prst="rect">
            <a:avLst/>
          </a:prstGeom>
          <a:solidFill>
            <a:srgbClr val="1B3A6B"/>
          </a:solidFill>
          <a:ln w="12700">
            <a:solidFill>
              <a:srgbClr val="1E5B9C"/>
            </a:solidFill>
            <a:prstDash val="solid"/>
          </a:ln>
        </p:spPr>
        <p:txBody>
          <a:bodyPr/>
          <a:lstStyle/>
          <a:p>
            <a:endParaRPr lang="en-IN"/>
          </a:p>
        </p:txBody>
      </p:sp>
      <p:sp>
        <p:nvSpPr>
          <p:cNvPr id="33" name="Text 31"/>
          <p:cNvSpPr/>
          <p:nvPr/>
        </p:nvSpPr>
        <p:spPr>
          <a:xfrm>
            <a:off x="3172968" y="3767328"/>
            <a:ext cx="2743200" cy="320040"/>
          </a:xfrm>
          <a:prstGeom prst="rect">
            <a:avLst/>
          </a:prstGeom>
          <a:noFill/>
          <a:ln/>
        </p:spPr>
        <p:txBody>
          <a:bodyPr wrap="square" rtlCol="0" anchor="ctr"/>
          <a:lstStyle/>
          <a:p>
            <a:pPr marL="0" indent="0" algn="ctr">
              <a:buNone/>
            </a:pPr>
            <a:r>
              <a:rPr lang="en-US" sz="1200" b="1" dirty="0">
                <a:solidFill>
                  <a:srgbClr val="E8A020"/>
                </a:solidFill>
                <a:latin typeface="Calibri" pitchFamily="34" charset="0"/>
                <a:ea typeface="Calibri" pitchFamily="34" charset="-122"/>
                <a:cs typeface="Calibri" pitchFamily="34" charset="-120"/>
              </a:rPr>
              <a:t>Delivery</a:t>
            </a:r>
            <a:endParaRPr lang="en-US" sz="1200" dirty="0"/>
          </a:p>
        </p:txBody>
      </p:sp>
      <p:sp>
        <p:nvSpPr>
          <p:cNvPr id="34" name="Text 32"/>
          <p:cNvSpPr/>
          <p:nvPr/>
        </p:nvSpPr>
        <p:spPr>
          <a:xfrm>
            <a:off x="3172968" y="4069080"/>
            <a:ext cx="2743200" cy="822960"/>
          </a:xfrm>
          <a:prstGeom prst="rect">
            <a:avLst/>
          </a:prstGeom>
          <a:noFill/>
          <a:ln/>
        </p:spPr>
        <p:txBody>
          <a:bodyPr wrap="square" lIns="0" tIns="101600" rIns="0" bIns="0" rtlCol="0" anchor="ctr"/>
          <a:lstStyle/>
          <a:p>
            <a:pPr marL="0" indent="0" algn="l">
              <a:buNone/>
            </a:pPr>
            <a:r>
              <a:rPr lang="en-US" sz="1100" dirty="0">
                <a:solidFill>
                  <a:srgbClr val="B8C8DC"/>
                </a:solidFill>
                <a:latin typeface="Calibri" pitchFamily="34" charset="0"/>
                <a:ea typeface="Calibri" pitchFamily="34" charset="-122"/>
                <a:cs typeface="Calibri" pitchFamily="34" charset="-120"/>
              </a:rPr>
              <a:t>Banks deliver cash to branch vaults, ATMs, and merchant orders via armored car services.</a:t>
            </a:r>
            <a:endParaRPr lang="en-US" sz="1100" dirty="0"/>
          </a:p>
        </p:txBody>
      </p:sp>
      <p:sp>
        <p:nvSpPr>
          <p:cNvPr id="35" name="Shape 33"/>
          <p:cNvSpPr/>
          <p:nvPr/>
        </p:nvSpPr>
        <p:spPr>
          <a:xfrm>
            <a:off x="6071616" y="3749040"/>
            <a:ext cx="2743200" cy="1188720"/>
          </a:xfrm>
          <a:prstGeom prst="rect">
            <a:avLst/>
          </a:prstGeom>
          <a:solidFill>
            <a:srgbClr val="1B3A6B"/>
          </a:solidFill>
          <a:ln w="12700">
            <a:solidFill>
              <a:srgbClr val="1E5B9C"/>
            </a:solidFill>
            <a:prstDash val="solid"/>
          </a:ln>
        </p:spPr>
        <p:txBody>
          <a:bodyPr/>
          <a:lstStyle/>
          <a:p>
            <a:endParaRPr lang="en-IN"/>
          </a:p>
        </p:txBody>
      </p:sp>
      <p:sp>
        <p:nvSpPr>
          <p:cNvPr id="36" name="Text 34"/>
          <p:cNvSpPr/>
          <p:nvPr/>
        </p:nvSpPr>
        <p:spPr>
          <a:xfrm>
            <a:off x="6071616" y="3767328"/>
            <a:ext cx="2743200" cy="320040"/>
          </a:xfrm>
          <a:prstGeom prst="rect">
            <a:avLst/>
          </a:prstGeom>
          <a:noFill/>
          <a:ln/>
        </p:spPr>
        <p:txBody>
          <a:bodyPr wrap="square" rtlCol="0" anchor="ctr"/>
          <a:lstStyle/>
          <a:p>
            <a:pPr marL="0" indent="0" algn="ctr">
              <a:buNone/>
            </a:pPr>
            <a:r>
              <a:rPr lang="en-US" sz="1200" b="1" dirty="0">
                <a:solidFill>
                  <a:srgbClr val="E8A020"/>
                </a:solidFill>
                <a:latin typeface="Calibri" pitchFamily="34" charset="0"/>
                <a:ea typeface="Calibri" pitchFamily="34" charset="-122"/>
                <a:cs typeface="Calibri" pitchFamily="34" charset="-120"/>
              </a:rPr>
              <a:t>Circulation</a:t>
            </a:r>
            <a:endParaRPr lang="en-US" sz="1200" dirty="0"/>
          </a:p>
        </p:txBody>
      </p:sp>
      <p:sp>
        <p:nvSpPr>
          <p:cNvPr id="37" name="Text 35"/>
          <p:cNvSpPr/>
          <p:nvPr/>
        </p:nvSpPr>
        <p:spPr>
          <a:xfrm>
            <a:off x="6071616" y="4069080"/>
            <a:ext cx="2743200" cy="822960"/>
          </a:xfrm>
          <a:prstGeom prst="rect">
            <a:avLst/>
          </a:prstGeom>
          <a:noFill/>
          <a:ln/>
        </p:spPr>
        <p:txBody>
          <a:bodyPr wrap="square" lIns="0" tIns="101600" rIns="0" bIns="0" rtlCol="0" anchor="ctr"/>
          <a:lstStyle/>
          <a:p>
            <a:pPr marL="0" indent="0" algn="l">
              <a:buNone/>
            </a:pPr>
            <a:r>
              <a:rPr lang="en-US" sz="1100" dirty="0">
                <a:solidFill>
                  <a:srgbClr val="B8C8DC"/>
                </a:solidFill>
                <a:latin typeface="Calibri" pitchFamily="34" charset="0"/>
                <a:ea typeface="Calibri" pitchFamily="34" charset="-122"/>
                <a:cs typeface="Calibri" pitchFamily="34" charset="-120"/>
              </a:rPr>
              <a:t>Cash reaches consumers via ATM withdrawals, bank teller transactions, and change at merchants.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txBody>
          <a:bodyPr/>
          <a:lstStyle/>
          <a:p>
            <a:endParaRPr lang="en-IN"/>
          </a:p>
        </p:txBody>
      </p:sp>
      <p:sp>
        <p:nvSpPr>
          <p:cNvPr id="3" name="Text 1"/>
          <p:cNvSpPr/>
          <p:nvPr/>
        </p:nvSpPr>
        <p:spPr>
          <a:xfrm>
            <a:off x="274320" y="0"/>
            <a:ext cx="8229600" cy="9144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Cash Acceptance &amp; Deposit</a:t>
            </a:r>
            <a:endParaRPr lang="en-US" sz="2200" dirty="0"/>
          </a:p>
        </p:txBody>
      </p:sp>
      <p:sp>
        <p:nvSpPr>
          <p:cNvPr id="4" name="Shape 2"/>
          <p:cNvSpPr/>
          <p:nvPr/>
        </p:nvSpPr>
        <p:spPr>
          <a:xfrm>
            <a:off x="274320" y="1005840"/>
            <a:ext cx="3977640" cy="411480"/>
          </a:xfrm>
          <a:prstGeom prst="rect">
            <a:avLst/>
          </a:prstGeom>
          <a:solidFill>
            <a:srgbClr val="1E5B9C"/>
          </a:solidFill>
          <a:ln w="12700">
            <a:solidFill>
              <a:srgbClr val="1E5B9C"/>
            </a:solidFill>
            <a:prstDash val="solid"/>
          </a:ln>
        </p:spPr>
        <p:txBody>
          <a:bodyPr/>
          <a:lstStyle/>
          <a:p>
            <a:endParaRPr lang="en-IN"/>
          </a:p>
        </p:txBody>
      </p:sp>
      <p:sp>
        <p:nvSpPr>
          <p:cNvPr id="5" name="Text 3"/>
          <p:cNvSpPr/>
          <p:nvPr/>
        </p:nvSpPr>
        <p:spPr>
          <a:xfrm>
            <a:off x="274320" y="1005840"/>
            <a:ext cx="397764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Cash Acceptance</a:t>
            </a:r>
            <a:endParaRPr lang="en-US" sz="1400" dirty="0"/>
          </a:p>
        </p:txBody>
      </p:sp>
      <p:sp>
        <p:nvSpPr>
          <p:cNvPr id="6" name="Shape 4"/>
          <p:cNvSpPr/>
          <p:nvPr/>
        </p:nvSpPr>
        <p:spPr>
          <a:xfrm>
            <a:off x="320040" y="1572768"/>
            <a:ext cx="201168" cy="201168"/>
          </a:xfrm>
          <a:prstGeom prst="ellipse">
            <a:avLst/>
          </a:prstGeom>
          <a:solidFill>
            <a:srgbClr val="E8A020"/>
          </a:solidFill>
          <a:ln w="12700">
            <a:solidFill>
              <a:srgbClr val="E8A020"/>
            </a:solidFill>
            <a:prstDash val="solid"/>
          </a:ln>
        </p:spPr>
        <p:txBody>
          <a:bodyPr/>
          <a:lstStyle/>
          <a:p>
            <a:endParaRPr lang="en-IN"/>
          </a:p>
        </p:txBody>
      </p:sp>
      <p:sp>
        <p:nvSpPr>
          <p:cNvPr id="7" name="Text 5"/>
          <p:cNvSpPr/>
          <p:nvPr/>
        </p:nvSpPr>
        <p:spPr>
          <a:xfrm>
            <a:off x="594360" y="1536192"/>
            <a:ext cx="3520440" cy="548640"/>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Merchants need personnel, secure storage, and theft controls</a:t>
            </a:r>
            <a:endParaRPr lang="en-US" sz="1200" dirty="0"/>
          </a:p>
        </p:txBody>
      </p:sp>
      <p:sp>
        <p:nvSpPr>
          <p:cNvPr id="8" name="Shape 6"/>
          <p:cNvSpPr/>
          <p:nvPr/>
        </p:nvSpPr>
        <p:spPr>
          <a:xfrm>
            <a:off x="320040" y="2194560"/>
            <a:ext cx="201168" cy="201168"/>
          </a:xfrm>
          <a:prstGeom prst="ellipse">
            <a:avLst/>
          </a:prstGeom>
          <a:solidFill>
            <a:srgbClr val="E8A020"/>
          </a:solidFill>
          <a:ln w="12700">
            <a:solidFill>
              <a:srgbClr val="E8A020"/>
            </a:solidFill>
            <a:prstDash val="solid"/>
          </a:ln>
        </p:spPr>
        <p:txBody>
          <a:bodyPr/>
          <a:lstStyle/>
          <a:p>
            <a:endParaRPr lang="en-IN"/>
          </a:p>
        </p:txBody>
      </p:sp>
      <p:sp>
        <p:nvSpPr>
          <p:cNvPr id="9" name="Text 7"/>
          <p:cNvSpPr/>
          <p:nvPr/>
        </p:nvSpPr>
        <p:spPr>
          <a:xfrm>
            <a:off x="594360" y="2157984"/>
            <a:ext cx="3520440" cy="548640"/>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Fixed costs dominate — handling, depositing, fraud control are largely fixed</a:t>
            </a:r>
            <a:endParaRPr lang="en-US" sz="1200" dirty="0"/>
          </a:p>
        </p:txBody>
      </p:sp>
      <p:sp>
        <p:nvSpPr>
          <p:cNvPr id="10" name="Shape 8"/>
          <p:cNvSpPr/>
          <p:nvPr/>
        </p:nvSpPr>
        <p:spPr>
          <a:xfrm>
            <a:off x="320040" y="2816352"/>
            <a:ext cx="201168" cy="201168"/>
          </a:xfrm>
          <a:prstGeom prst="ellipse">
            <a:avLst/>
          </a:prstGeom>
          <a:solidFill>
            <a:srgbClr val="E8A020"/>
          </a:solidFill>
          <a:ln w="12700">
            <a:solidFill>
              <a:srgbClr val="E8A020"/>
            </a:solidFill>
            <a:prstDash val="solid"/>
          </a:ln>
        </p:spPr>
        <p:txBody>
          <a:bodyPr/>
          <a:lstStyle/>
          <a:p>
            <a:endParaRPr lang="en-IN"/>
          </a:p>
        </p:txBody>
      </p:sp>
      <p:sp>
        <p:nvSpPr>
          <p:cNvPr id="11" name="Text 9"/>
          <p:cNvSpPr/>
          <p:nvPr/>
        </p:nvSpPr>
        <p:spPr>
          <a:xfrm>
            <a:off x="594360" y="2779776"/>
            <a:ext cx="3520440" cy="548640"/>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Reducing cash payments does NOT proportionally reduce costs</a:t>
            </a:r>
            <a:endParaRPr lang="en-US" sz="1200" dirty="0"/>
          </a:p>
        </p:txBody>
      </p:sp>
      <p:sp>
        <p:nvSpPr>
          <p:cNvPr id="12" name="Shape 10"/>
          <p:cNvSpPr/>
          <p:nvPr/>
        </p:nvSpPr>
        <p:spPr>
          <a:xfrm>
            <a:off x="320040" y="3438144"/>
            <a:ext cx="201168" cy="201168"/>
          </a:xfrm>
          <a:prstGeom prst="ellipse">
            <a:avLst/>
          </a:prstGeom>
          <a:solidFill>
            <a:srgbClr val="E8A020"/>
          </a:solidFill>
          <a:ln w="12700">
            <a:solidFill>
              <a:srgbClr val="E8A020"/>
            </a:solidFill>
            <a:prstDash val="solid"/>
          </a:ln>
        </p:spPr>
        <p:txBody>
          <a:bodyPr/>
          <a:lstStyle/>
          <a:p>
            <a:endParaRPr lang="en-IN"/>
          </a:p>
        </p:txBody>
      </p:sp>
      <p:sp>
        <p:nvSpPr>
          <p:cNvPr id="13" name="Text 11"/>
          <p:cNvSpPr/>
          <p:nvPr/>
        </p:nvSpPr>
        <p:spPr>
          <a:xfrm>
            <a:off x="594360" y="3401568"/>
            <a:ext cx="3520440" cy="548640"/>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Legal Tender? — Merchants are NOT required by law to accept cash</a:t>
            </a:r>
            <a:endParaRPr lang="en-US" sz="1200" dirty="0"/>
          </a:p>
        </p:txBody>
      </p:sp>
      <p:sp>
        <p:nvSpPr>
          <p:cNvPr id="15" name="Text 13"/>
          <p:cNvSpPr/>
          <p:nvPr/>
        </p:nvSpPr>
        <p:spPr>
          <a:xfrm>
            <a:off x="594360" y="4023360"/>
            <a:ext cx="3520440" cy="548640"/>
          </a:xfrm>
          <a:prstGeom prst="rect">
            <a:avLst/>
          </a:prstGeom>
          <a:noFill/>
          <a:ln/>
        </p:spPr>
        <p:txBody>
          <a:bodyPr wrap="square" rtlCol="0" anchor="ctr"/>
          <a:lstStyle/>
          <a:p>
            <a:pPr marL="0" indent="0">
              <a:buNone/>
            </a:pPr>
            <a:endParaRPr lang="en-US" sz="1200" dirty="0"/>
          </a:p>
        </p:txBody>
      </p:sp>
      <p:sp>
        <p:nvSpPr>
          <p:cNvPr id="16" name="Shape 14"/>
          <p:cNvSpPr/>
          <p:nvPr/>
        </p:nvSpPr>
        <p:spPr>
          <a:xfrm>
            <a:off x="4892040" y="1005840"/>
            <a:ext cx="3977640" cy="411480"/>
          </a:xfrm>
          <a:prstGeom prst="rect">
            <a:avLst/>
          </a:prstGeom>
          <a:solidFill>
            <a:srgbClr val="0D8070"/>
          </a:solidFill>
          <a:ln w="12700">
            <a:solidFill>
              <a:srgbClr val="0D8070"/>
            </a:solidFill>
            <a:prstDash val="solid"/>
          </a:ln>
        </p:spPr>
        <p:txBody>
          <a:bodyPr/>
          <a:lstStyle/>
          <a:p>
            <a:endParaRPr lang="en-IN"/>
          </a:p>
        </p:txBody>
      </p:sp>
      <p:sp>
        <p:nvSpPr>
          <p:cNvPr id="17" name="Text 15"/>
          <p:cNvSpPr/>
          <p:nvPr/>
        </p:nvSpPr>
        <p:spPr>
          <a:xfrm>
            <a:off x="4892040" y="1005840"/>
            <a:ext cx="397764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Cash Deposit</a:t>
            </a:r>
            <a:endParaRPr lang="en-US" sz="1400" dirty="0"/>
          </a:p>
        </p:txBody>
      </p:sp>
      <p:sp>
        <p:nvSpPr>
          <p:cNvPr id="18" name="Shape 16"/>
          <p:cNvSpPr/>
          <p:nvPr/>
        </p:nvSpPr>
        <p:spPr>
          <a:xfrm>
            <a:off x="4937760" y="1572768"/>
            <a:ext cx="201168" cy="201168"/>
          </a:xfrm>
          <a:prstGeom prst="ellipse">
            <a:avLst/>
          </a:prstGeom>
          <a:solidFill>
            <a:srgbClr val="F5C842"/>
          </a:solidFill>
          <a:ln w="12700">
            <a:solidFill>
              <a:srgbClr val="F5C842"/>
            </a:solidFill>
            <a:prstDash val="solid"/>
          </a:ln>
        </p:spPr>
        <p:txBody>
          <a:bodyPr/>
          <a:lstStyle/>
          <a:p>
            <a:endParaRPr lang="en-IN"/>
          </a:p>
        </p:txBody>
      </p:sp>
      <p:sp>
        <p:nvSpPr>
          <p:cNvPr id="19" name="Text 17"/>
          <p:cNvSpPr/>
          <p:nvPr/>
        </p:nvSpPr>
        <p:spPr>
          <a:xfrm>
            <a:off x="5212080" y="1490472"/>
            <a:ext cx="3520437" cy="508596"/>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Banks accept deposits at branches and ATMs</a:t>
            </a:r>
            <a:endParaRPr lang="en-US" sz="1200" dirty="0"/>
          </a:p>
        </p:txBody>
      </p:sp>
      <p:sp>
        <p:nvSpPr>
          <p:cNvPr id="20" name="Shape 18"/>
          <p:cNvSpPr/>
          <p:nvPr/>
        </p:nvSpPr>
        <p:spPr>
          <a:xfrm>
            <a:off x="4937760" y="2212848"/>
            <a:ext cx="201168" cy="201168"/>
          </a:xfrm>
          <a:prstGeom prst="ellipse">
            <a:avLst/>
          </a:prstGeom>
          <a:solidFill>
            <a:srgbClr val="F5C842"/>
          </a:solidFill>
          <a:ln w="12700">
            <a:solidFill>
              <a:srgbClr val="F5C842"/>
            </a:solidFill>
            <a:prstDash val="solid"/>
          </a:ln>
        </p:spPr>
        <p:txBody>
          <a:bodyPr/>
          <a:lstStyle/>
          <a:p>
            <a:endParaRPr lang="en-IN"/>
          </a:p>
        </p:txBody>
      </p:sp>
      <p:sp>
        <p:nvSpPr>
          <p:cNvPr id="21" name="Text 19"/>
          <p:cNvSpPr/>
          <p:nvPr/>
        </p:nvSpPr>
        <p:spPr>
          <a:xfrm>
            <a:off x="5212080" y="2072220"/>
            <a:ext cx="3520440" cy="634404"/>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Late-night deposit vaults for business end-of-day proceeds</a:t>
            </a:r>
            <a:endParaRPr lang="en-US" sz="1200" dirty="0"/>
          </a:p>
        </p:txBody>
      </p:sp>
      <p:sp>
        <p:nvSpPr>
          <p:cNvPr id="22" name="Shape 20"/>
          <p:cNvSpPr/>
          <p:nvPr/>
        </p:nvSpPr>
        <p:spPr>
          <a:xfrm>
            <a:off x="4937760" y="2816352"/>
            <a:ext cx="201168" cy="201168"/>
          </a:xfrm>
          <a:prstGeom prst="ellipse">
            <a:avLst/>
          </a:prstGeom>
          <a:solidFill>
            <a:srgbClr val="F5C842"/>
          </a:solidFill>
          <a:ln w="12700">
            <a:solidFill>
              <a:srgbClr val="F5C842"/>
            </a:solidFill>
            <a:prstDash val="solid"/>
          </a:ln>
        </p:spPr>
        <p:txBody>
          <a:bodyPr/>
          <a:lstStyle/>
          <a:p>
            <a:endParaRPr lang="en-IN"/>
          </a:p>
        </p:txBody>
      </p:sp>
      <p:sp>
        <p:nvSpPr>
          <p:cNvPr id="23" name="Text 21"/>
          <p:cNvSpPr/>
          <p:nvPr/>
        </p:nvSpPr>
        <p:spPr>
          <a:xfrm>
            <a:off x="5256222" y="2694012"/>
            <a:ext cx="3476297" cy="634404"/>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Banks charge enterprises for frequent/large cash deposits</a:t>
            </a:r>
            <a:endParaRPr lang="en-US" sz="1200" dirty="0"/>
          </a:p>
        </p:txBody>
      </p:sp>
      <p:sp>
        <p:nvSpPr>
          <p:cNvPr id="24" name="Shape 22"/>
          <p:cNvSpPr/>
          <p:nvPr/>
        </p:nvSpPr>
        <p:spPr>
          <a:xfrm>
            <a:off x="4937760" y="3438144"/>
            <a:ext cx="201168" cy="201168"/>
          </a:xfrm>
          <a:prstGeom prst="ellipse">
            <a:avLst/>
          </a:prstGeom>
          <a:solidFill>
            <a:srgbClr val="F5C842"/>
          </a:solidFill>
          <a:ln w="12700">
            <a:solidFill>
              <a:srgbClr val="F5C842"/>
            </a:solidFill>
            <a:prstDash val="solid"/>
          </a:ln>
        </p:spPr>
        <p:txBody>
          <a:bodyPr/>
          <a:lstStyle/>
          <a:p>
            <a:endParaRPr lang="en-IN"/>
          </a:p>
        </p:txBody>
      </p:sp>
      <p:sp>
        <p:nvSpPr>
          <p:cNvPr id="25" name="Text 23"/>
          <p:cNvSpPr/>
          <p:nvPr/>
        </p:nvSpPr>
        <p:spPr>
          <a:xfrm>
            <a:off x="5212080" y="3374136"/>
            <a:ext cx="3520440" cy="576072"/>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Large merchants: count, wrap, and bundle cash to reduce fees</a:t>
            </a:r>
            <a:endParaRPr lang="en-US" sz="1200" dirty="0"/>
          </a:p>
        </p:txBody>
      </p:sp>
      <p:sp>
        <p:nvSpPr>
          <p:cNvPr id="26" name="Shape 24"/>
          <p:cNvSpPr/>
          <p:nvPr/>
        </p:nvSpPr>
        <p:spPr>
          <a:xfrm>
            <a:off x="4937760" y="4059936"/>
            <a:ext cx="201168" cy="201168"/>
          </a:xfrm>
          <a:prstGeom prst="ellipse">
            <a:avLst/>
          </a:prstGeom>
          <a:solidFill>
            <a:srgbClr val="F5C842"/>
          </a:solidFill>
          <a:ln w="12700">
            <a:solidFill>
              <a:srgbClr val="F5C842"/>
            </a:solidFill>
            <a:prstDash val="solid"/>
          </a:ln>
        </p:spPr>
        <p:txBody>
          <a:bodyPr/>
          <a:lstStyle/>
          <a:p>
            <a:endParaRPr lang="en-IN"/>
          </a:p>
        </p:txBody>
      </p:sp>
      <p:sp>
        <p:nvSpPr>
          <p:cNvPr id="27" name="Text 25"/>
          <p:cNvSpPr/>
          <p:nvPr/>
        </p:nvSpPr>
        <p:spPr>
          <a:xfrm>
            <a:off x="5212080" y="3968496"/>
            <a:ext cx="3520440" cy="603504"/>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Onsite vaults: merchant deposits to secure vault; bank picks up via armored car</a:t>
            </a:r>
            <a:endParaRPr lang="en-US" sz="1200" dirty="0"/>
          </a:p>
        </p:txBody>
      </p:sp>
      <p:sp>
        <p:nvSpPr>
          <p:cNvPr id="28" name="Shape 26"/>
          <p:cNvSpPr/>
          <p:nvPr/>
        </p:nvSpPr>
        <p:spPr>
          <a:xfrm>
            <a:off x="4526280" y="1005840"/>
            <a:ext cx="0" cy="3840480"/>
          </a:xfrm>
          <a:prstGeom prst="line">
            <a:avLst/>
          </a:prstGeom>
          <a:noFill/>
          <a:ln w="19050">
            <a:solidFill>
              <a:srgbClr val="E8ECF2"/>
            </a:solidFill>
            <a:prstDash val="dash"/>
          </a:ln>
        </p:spPr>
        <p:txBody>
          <a:bodyPr/>
          <a:lstStyle/>
          <a:p>
            <a:endParaRPr lang="en-IN"/>
          </a:p>
        </p:txBody>
      </p:sp>
      <p:sp>
        <p:nvSpPr>
          <p:cNvPr id="29" name="Shape 27"/>
          <p:cNvSpPr/>
          <p:nvPr/>
        </p:nvSpPr>
        <p:spPr>
          <a:xfrm>
            <a:off x="274320" y="4663440"/>
            <a:ext cx="8595360" cy="347472"/>
          </a:xfrm>
          <a:prstGeom prst="rect">
            <a:avLst/>
          </a:prstGeom>
          <a:solidFill>
            <a:srgbClr val="FFF3CD"/>
          </a:solidFill>
          <a:ln w="12700">
            <a:solidFill>
              <a:srgbClr val="F5C842"/>
            </a:solidFill>
            <a:prstDash val="solid"/>
          </a:ln>
        </p:spPr>
        <p:txBody>
          <a:bodyPr/>
          <a:lstStyle/>
          <a:p>
            <a:endParaRPr lang="en-IN"/>
          </a:p>
        </p:txBody>
      </p:sp>
      <p:sp>
        <p:nvSpPr>
          <p:cNvPr id="30" name="Text 28"/>
          <p:cNvSpPr/>
          <p:nvPr/>
        </p:nvSpPr>
        <p:spPr>
          <a:xfrm>
            <a:off x="365760" y="4681728"/>
            <a:ext cx="8412480" cy="310896"/>
          </a:xfrm>
          <a:prstGeom prst="rect">
            <a:avLst/>
          </a:prstGeom>
          <a:noFill/>
          <a:ln/>
        </p:spPr>
        <p:txBody>
          <a:bodyPr wrap="square" rtlCol="0" anchor="ctr"/>
          <a:lstStyle/>
          <a:p>
            <a:pPr marL="0" indent="0">
              <a:buNone/>
            </a:pPr>
            <a:r>
              <a:rPr lang="en-US" sz="1100" dirty="0">
                <a:solidFill>
                  <a:srgbClr val="7A5000"/>
                </a:solidFill>
                <a:latin typeface="Calibri" pitchFamily="34" charset="0"/>
                <a:ea typeface="Calibri" pitchFamily="34" charset="-122"/>
                <a:cs typeface="Calibri" pitchFamily="34" charset="-120"/>
              </a:rPr>
              <a:t>💡  Grocery stores 'recycle' cash by providing cash-back at POS for PIN debit cardholders — reducing net cash deposit volume.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91120"/>
          </a:solidFill>
          <a:ln w="12700">
            <a:solidFill>
              <a:srgbClr val="091120"/>
            </a:solidFill>
            <a:prstDash val="solid"/>
          </a:ln>
        </p:spPr>
        <p:txBody>
          <a:bodyPr/>
          <a:lstStyle/>
          <a:p>
            <a:endParaRPr lang="en-IN"/>
          </a:p>
        </p:txBody>
      </p:sp>
      <p:sp>
        <p:nvSpPr>
          <p:cNvPr id="3" name="Text 1"/>
          <p:cNvSpPr/>
          <p:nvPr/>
        </p:nvSpPr>
        <p:spPr>
          <a:xfrm>
            <a:off x="274320" y="0"/>
            <a:ext cx="8229600" cy="5943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ATM Value Chain — Interactive Flow</a:t>
            </a:r>
            <a:endParaRPr lang="en-US" sz="2200" dirty="0"/>
          </a:p>
        </p:txBody>
      </p:sp>
      <p:sp>
        <p:nvSpPr>
          <p:cNvPr id="4" name="Text 2"/>
          <p:cNvSpPr/>
          <p:nvPr/>
        </p:nvSpPr>
        <p:spPr>
          <a:xfrm>
            <a:off x="274320" y="548640"/>
            <a:ext cx="7315200" cy="347472"/>
          </a:xfrm>
          <a:prstGeom prst="rect">
            <a:avLst/>
          </a:prstGeom>
          <a:noFill/>
          <a:ln/>
        </p:spPr>
        <p:txBody>
          <a:bodyPr wrap="square" rtlCol="0" anchor="ctr"/>
          <a:lstStyle/>
          <a:p>
            <a:pPr marL="0" indent="0">
              <a:buNone/>
            </a:pPr>
            <a:r>
              <a:rPr lang="en-US" sz="1200" dirty="0">
                <a:solidFill>
                  <a:srgbClr val="E8A020"/>
                </a:solidFill>
                <a:latin typeface="Calibri" pitchFamily="34" charset="0"/>
                <a:ea typeface="Calibri" pitchFamily="34" charset="-122"/>
                <a:cs typeface="Calibri" pitchFamily="34" charset="-120"/>
              </a:rPr>
              <a:t>Three paths a consumer can take to withdraw cash</a:t>
            </a:r>
            <a:endParaRPr lang="en-US" sz="1200" dirty="0"/>
          </a:p>
        </p:txBody>
      </p:sp>
      <p:sp>
        <p:nvSpPr>
          <p:cNvPr id="5" name="Shape 3"/>
          <p:cNvSpPr/>
          <p:nvPr/>
        </p:nvSpPr>
        <p:spPr>
          <a:xfrm>
            <a:off x="274320" y="2011680"/>
            <a:ext cx="1371600" cy="1005840"/>
          </a:xfrm>
          <a:prstGeom prst="ellipse">
            <a:avLst/>
          </a:prstGeom>
          <a:solidFill>
            <a:srgbClr val="1E5B9C"/>
          </a:solidFill>
          <a:ln w="25400">
            <a:solidFill>
              <a:srgbClr val="3A8FD6"/>
            </a:solidFill>
            <a:prstDash val="solid"/>
          </a:ln>
        </p:spPr>
        <p:txBody>
          <a:bodyPr/>
          <a:lstStyle/>
          <a:p>
            <a:endParaRPr lang="en-IN"/>
          </a:p>
        </p:txBody>
      </p:sp>
      <p:sp>
        <p:nvSpPr>
          <p:cNvPr id="6" name="Text 4"/>
          <p:cNvSpPr/>
          <p:nvPr/>
        </p:nvSpPr>
        <p:spPr>
          <a:xfrm>
            <a:off x="274320" y="2011680"/>
            <a:ext cx="1371600" cy="10058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Consumer</a:t>
            </a:r>
            <a:endParaRPr lang="en-US" sz="1300" dirty="0"/>
          </a:p>
        </p:txBody>
      </p:sp>
      <p:sp>
        <p:nvSpPr>
          <p:cNvPr id="8" name="Shape 6"/>
          <p:cNvSpPr/>
          <p:nvPr/>
        </p:nvSpPr>
        <p:spPr>
          <a:xfrm>
            <a:off x="1645920" y="2286000"/>
            <a:ext cx="457200" cy="0"/>
          </a:xfrm>
          <a:prstGeom prst="line">
            <a:avLst/>
          </a:prstGeom>
          <a:noFill/>
          <a:ln w="25400">
            <a:solidFill>
              <a:srgbClr val="F5C842"/>
            </a:solidFill>
            <a:prstDash val="solid"/>
          </a:ln>
        </p:spPr>
        <p:txBody>
          <a:bodyPr/>
          <a:lstStyle/>
          <a:p>
            <a:endParaRPr lang="en-IN"/>
          </a:p>
        </p:txBody>
      </p:sp>
      <p:sp>
        <p:nvSpPr>
          <p:cNvPr id="9" name="Shape 7"/>
          <p:cNvSpPr/>
          <p:nvPr/>
        </p:nvSpPr>
        <p:spPr>
          <a:xfrm>
            <a:off x="2103120" y="1051560"/>
            <a:ext cx="1828800" cy="822960"/>
          </a:xfrm>
          <a:prstGeom prst="rect">
            <a:avLst/>
          </a:prstGeom>
          <a:solidFill>
            <a:srgbClr val="1B3A6B"/>
          </a:solidFill>
          <a:ln w="12700">
            <a:solidFill>
              <a:srgbClr val="F5C842"/>
            </a:solidFill>
            <a:prstDash val="solid"/>
          </a:ln>
        </p:spPr>
        <p:txBody>
          <a:bodyPr/>
          <a:lstStyle/>
          <a:p>
            <a:endParaRPr lang="en-IN"/>
          </a:p>
        </p:txBody>
      </p:sp>
      <p:sp>
        <p:nvSpPr>
          <p:cNvPr id="10" name="Text 8"/>
          <p:cNvSpPr/>
          <p:nvPr/>
        </p:nvSpPr>
        <p:spPr>
          <a:xfrm>
            <a:off x="2103120" y="1051560"/>
            <a:ext cx="1828800" cy="8229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Own Bank ATM</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(No fee typically)</a:t>
            </a:r>
            <a:endParaRPr lang="en-US" sz="1100" dirty="0"/>
          </a:p>
        </p:txBody>
      </p:sp>
      <p:sp>
        <p:nvSpPr>
          <p:cNvPr id="11" name="Shape 9"/>
          <p:cNvSpPr/>
          <p:nvPr/>
        </p:nvSpPr>
        <p:spPr>
          <a:xfrm>
            <a:off x="3931920" y="1463040"/>
            <a:ext cx="548640" cy="0"/>
          </a:xfrm>
          <a:prstGeom prst="line">
            <a:avLst/>
          </a:prstGeom>
          <a:noFill/>
          <a:ln w="25400">
            <a:solidFill>
              <a:srgbClr val="F5C842"/>
            </a:solidFill>
            <a:prstDash val="solid"/>
          </a:ln>
        </p:spPr>
        <p:txBody>
          <a:bodyPr/>
          <a:lstStyle/>
          <a:p>
            <a:endParaRPr lang="en-IN"/>
          </a:p>
        </p:txBody>
      </p:sp>
      <p:sp>
        <p:nvSpPr>
          <p:cNvPr id="12" name="Shape 10"/>
          <p:cNvSpPr/>
          <p:nvPr/>
        </p:nvSpPr>
        <p:spPr>
          <a:xfrm>
            <a:off x="4480560" y="1051560"/>
            <a:ext cx="1828800" cy="822960"/>
          </a:xfrm>
          <a:prstGeom prst="rect">
            <a:avLst/>
          </a:prstGeom>
          <a:solidFill>
            <a:srgbClr val="1A8754"/>
          </a:solidFill>
          <a:ln w="12700">
            <a:solidFill>
              <a:srgbClr val="2AAA6A"/>
            </a:solidFill>
            <a:prstDash val="solid"/>
          </a:ln>
        </p:spPr>
        <p:txBody>
          <a:bodyPr/>
          <a:lstStyle/>
          <a:p>
            <a:endParaRPr lang="en-IN"/>
          </a:p>
        </p:txBody>
      </p:sp>
      <p:sp>
        <p:nvSpPr>
          <p:cNvPr id="13" name="Text 11"/>
          <p:cNvSpPr/>
          <p:nvPr/>
        </p:nvSpPr>
        <p:spPr>
          <a:xfrm>
            <a:off x="4480560" y="1051560"/>
            <a:ext cx="1828800" cy="8229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Consumer's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Bank Account</a:t>
            </a:r>
            <a:endParaRPr lang="en-US" sz="1100" dirty="0"/>
          </a:p>
        </p:txBody>
      </p:sp>
      <p:sp>
        <p:nvSpPr>
          <p:cNvPr id="15" name="Shape 13"/>
          <p:cNvSpPr/>
          <p:nvPr/>
        </p:nvSpPr>
        <p:spPr>
          <a:xfrm>
            <a:off x="1645920" y="2487168"/>
            <a:ext cx="457200" cy="0"/>
          </a:xfrm>
          <a:prstGeom prst="line">
            <a:avLst/>
          </a:prstGeom>
          <a:noFill/>
          <a:ln w="25400">
            <a:solidFill>
              <a:srgbClr val="3A8FD6"/>
            </a:solidFill>
            <a:prstDash val="solid"/>
          </a:ln>
        </p:spPr>
        <p:txBody>
          <a:bodyPr/>
          <a:lstStyle/>
          <a:p>
            <a:endParaRPr lang="en-IN"/>
          </a:p>
        </p:txBody>
      </p:sp>
      <p:sp>
        <p:nvSpPr>
          <p:cNvPr id="16" name="Shape 14"/>
          <p:cNvSpPr/>
          <p:nvPr/>
        </p:nvSpPr>
        <p:spPr>
          <a:xfrm>
            <a:off x="2103120" y="2331720"/>
            <a:ext cx="1645920" cy="822960"/>
          </a:xfrm>
          <a:prstGeom prst="rect">
            <a:avLst/>
          </a:prstGeom>
          <a:solidFill>
            <a:srgbClr val="1B3A6B"/>
          </a:solidFill>
          <a:ln w="12700">
            <a:solidFill>
              <a:srgbClr val="3A8FD6"/>
            </a:solidFill>
            <a:prstDash val="solid"/>
          </a:ln>
        </p:spPr>
        <p:txBody>
          <a:bodyPr/>
          <a:lstStyle/>
          <a:p>
            <a:endParaRPr lang="en-IN"/>
          </a:p>
        </p:txBody>
      </p:sp>
      <p:sp>
        <p:nvSpPr>
          <p:cNvPr id="17" name="Text 15"/>
          <p:cNvSpPr/>
          <p:nvPr/>
        </p:nvSpPr>
        <p:spPr>
          <a:xfrm>
            <a:off x="2103120" y="2331720"/>
            <a:ext cx="1645920" cy="8229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Other Bank</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ATM</a:t>
            </a:r>
            <a:endParaRPr lang="en-US" sz="1100" dirty="0"/>
          </a:p>
        </p:txBody>
      </p:sp>
      <p:sp>
        <p:nvSpPr>
          <p:cNvPr id="18" name="Shape 16"/>
          <p:cNvSpPr/>
          <p:nvPr/>
        </p:nvSpPr>
        <p:spPr>
          <a:xfrm>
            <a:off x="3749040" y="2743200"/>
            <a:ext cx="548640" cy="0"/>
          </a:xfrm>
          <a:prstGeom prst="line">
            <a:avLst/>
          </a:prstGeom>
          <a:noFill/>
          <a:ln w="25400">
            <a:solidFill>
              <a:srgbClr val="3A8FD6"/>
            </a:solidFill>
            <a:prstDash val="solid"/>
          </a:ln>
        </p:spPr>
        <p:txBody>
          <a:bodyPr/>
          <a:lstStyle/>
          <a:p>
            <a:endParaRPr lang="en-IN"/>
          </a:p>
        </p:txBody>
      </p:sp>
      <p:sp>
        <p:nvSpPr>
          <p:cNvPr id="19" name="Shape 17"/>
          <p:cNvSpPr/>
          <p:nvPr/>
        </p:nvSpPr>
        <p:spPr>
          <a:xfrm>
            <a:off x="4297680" y="2331720"/>
            <a:ext cx="1463040" cy="822960"/>
          </a:xfrm>
          <a:prstGeom prst="rect">
            <a:avLst/>
          </a:prstGeom>
          <a:solidFill>
            <a:srgbClr val="1E5B9C"/>
          </a:solidFill>
          <a:ln w="12700">
            <a:solidFill>
              <a:srgbClr val="3A8FD6"/>
            </a:solidFill>
            <a:prstDash val="solid"/>
          </a:ln>
        </p:spPr>
        <p:txBody>
          <a:bodyPr/>
          <a:lstStyle/>
          <a:p>
            <a:endParaRPr lang="en-IN"/>
          </a:p>
        </p:txBody>
      </p:sp>
      <p:sp>
        <p:nvSpPr>
          <p:cNvPr id="20" name="Text 18"/>
          <p:cNvSpPr/>
          <p:nvPr/>
        </p:nvSpPr>
        <p:spPr>
          <a:xfrm>
            <a:off x="4297680" y="2331720"/>
            <a:ext cx="1463040" cy="8229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ATM</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Network</a:t>
            </a:r>
            <a:endParaRPr lang="en-US" sz="1100" dirty="0"/>
          </a:p>
        </p:txBody>
      </p:sp>
      <p:sp>
        <p:nvSpPr>
          <p:cNvPr id="21" name="Shape 19"/>
          <p:cNvSpPr/>
          <p:nvPr/>
        </p:nvSpPr>
        <p:spPr>
          <a:xfrm>
            <a:off x="5760720" y="2743200"/>
            <a:ext cx="548640" cy="0"/>
          </a:xfrm>
          <a:prstGeom prst="line">
            <a:avLst/>
          </a:prstGeom>
          <a:noFill/>
          <a:ln w="25400">
            <a:solidFill>
              <a:srgbClr val="3A8FD6"/>
            </a:solidFill>
            <a:prstDash val="solid"/>
          </a:ln>
        </p:spPr>
        <p:txBody>
          <a:bodyPr/>
          <a:lstStyle/>
          <a:p>
            <a:endParaRPr lang="en-IN"/>
          </a:p>
        </p:txBody>
      </p:sp>
      <p:sp>
        <p:nvSpPr>
          <p:cNvPr id="22" name="Shape 20"/>
          <p:cNvSpPr/>
          <p:nvPr/>
        </p:nvSpPr>
        <p:spPr>
          <a:xfrm>
            <a:off x="6309360" y="2331720"/>
            <a:ext cx="1645920" cy="822960"/>
          </a:xfrm>
          <a:prstGeom prst="rect">
            <a:avLst/>
          </a:prstGeom>
          <a:solidFill>
            <a:srgbClr val="1A8754"/>
          </a:solidFill>
          <a:ln w="12700">
            <a:solidFill>
              <a:srgbClr val="2AAA6A"/>
            </a:solidFill>
            <a:prstDash val="solid"/>
          </a:ln>
        </p:spPr>
        <p:txBody>
          <a:bodyPr/>
          <a:lstStyle/>
          <a:p>
            <a:endParaRPr lang="en-IN"/>
          </a:p>
        </p:txBody>
      </p:sp>
      <p:sp>
        <p:nvSpPr>
          <p:cNvPr id="23" name="Text 21"/>
          <p:cNvSpPr/>
          <p:nvPr/>
        </p:nvSpPr>
        <p:spPr>
          <a:xfrm>
            <a:off x="6309360" y="2331720"/>
            <a:ext cx="1645920" cy="8229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Consumer's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Bank Account</a:t>
            </a:r>
            <a:endParaRPr lang="en-US" sz="1100" dirty="0"/>
          </a:p>
        </p:txBody>
      </p:sp>
      <p:sp>
        <p:nvSpPr>
          <p:cNvPr id="25" name="Shape 23"/>
          <p:cNvSpPr/>
          <p:nvPr/>
        </p:nvSpPr>
        <p:spPr>
          <a:xfrm>
            <a:off x="1645920" y="2697480"/>
            <a:ext cx="0" cy="1005840"/>
          </a:xfrm>
          <a:prstGeom prst="line">
            <a:avLst/>
          </a:prstGeom>
          <a:noFill/>
          <a:ln w="25400">
            <a:solidFill>
              <a:srgbClr val="E8A020"/>
            </a:solidFill>
            <a:prstDash val="dash"/>
          </a:ln>
        </p:spPr>
        <p:txBody>
          <a:bodyPr/>
          <a:lstStyle/>
          <a:p>
            <a:endParaRPr lang="en-IN"/>
          </a:p>
        </p:txBody>
      </p:sp>
      <p:sp>
        <p:nvSpPr>
          <p:cNvPr id="26" name="Shape 24"/>
          <p:cNvSpPr/>
          <p:nvPr/>
        </p:nvSpPr>
        <p:spPr>
          <a:xfrm>
            <a:off x="1645920" y="3703320"/>
            <a:ext cx="457200" cy="0"/>
          </a:xfrm>
          <a:prstGeom prst="line">
            <a:avLst/>
          </a:prstGeom>
          <a:noFill/>
          <a:ln w="25400">
            <a:solidFill>
              <a:srgbClr val="E8A020"/>
            </a:solidFill>
            <a:prstDash val="solid"/>
          </a:ln>
        </p:spPr>
        <p:txBody>
          <a:bodyPr/>
          <a:lstStyle/>
          <a:p>
            <a:endParaRPr lang="en-IN"/>
          </a:p>
        </p:txBody>
      </p:sp>
      <p:sp>
        <p:nvSpPr>
          <p:cNvPr id="27" name="Shape 25"/>
          <p:cNvSpPr/>
          <p:nvPr/>
        </p:nvSpPr>
        <p:spPr>
          <a:xfrm>
            <a:off x="2103120" y="3520440"/>
            <a:ext cx="1645920" cy="822960"/>
          </a:xfrm>
          <a:prstGeom prst="rect">
            <a:avLst/>
          </a:prstGeom>
          <a:solidFill>
            <a:srgbClr val="1B3A6B"/>
          </a:solidFill>
          <a:ln w="12700">
            <a:solidFill>
              <a:srgbClr val="E8A020"/>
            </a:solidFill>
            <a:prstDash val="solid"/>
          </a:ln>
        </p:spPr>
        <p:txBody>
          <a:bodyPr/>
          <a:lstStyle/>
          <a:p>
            <a:endParaRPr lang="en-IN"/>
          </a:p>
        </p:txBody>
      </p:sp>
      <p:sp>
        <p:nvSpPr>
          <p:cNvPr id="28" name="Text 26"/>
          <p:cNvSpPr/>
          <p:nvPr/>
        </p:nvSpPr>
        <p:spPr>
          <a:xfrm>
            <a:off x="2103120" y="3520440"/>
            <a:ext cx="1645920" cy="8229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Non-Bank</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ATM</a:t>
            </a:r>
            <a:endParaRPr lang="en-US" sz="1100" dirty="0"/>
          </a:p>
        </p:txBody>
      </p:sp>
      <p:sp>
        <p:nvSpPr>
          <p:cNvPr id="29" name="Shape 27"/>
          <p:cNvSpPr/>
          <p:nvPr/>
        </p:nvSpPr>
        <p:spPr>
          <a:xfrm>
            <a:off x="3749040" y="3931920"/>
            <a:ext cx="548640" cy="0"/>
          </a:xfrm>
          <a:prstGeom prst="line">
            <a:avLst/>
          </a:prstGeom>
          <a:noFill/>
          <a:ln w="25400">
            <a:solidFill>
              <a:srgbClr val="E8A020"/>
            </a:solidFill>
            <a:prstDash val="solid"/>
          </a:ln>
        </p:spPr>
        <p:txBody>
          <a:bodyPr/>
          <a:lstStyle/>
          <a:p>
            <a:endParaRPr lang="en-IN"/>
          </a:p>
        </p:txBody>
      </p:sp>
      <p:sp>
        <p:nvSpPr>
          <p:cNvPr id="30" name="Shape 28"/>
          <p:cNvSpPr/>
          <p:nvPr/>
        </p:nvSpPr>
        <p:spPr>
          <a:xfrm>
            <a:off x="4297680" y="3520440"/>
            <a:ext cx="1463040" cy="822960"/>
          </a:xfrm>
          <a:prstGeom prst="rect">
            <a:avLst/>
          </a:prstGeom>
          <a:solidFill>
            <a:srgbClr val="1E5B9C"/>
          </a:solidFill>
          <a:ln w="12700">
            <a:solidFill>
              <a:srgbClr val="E8A020"/>
            </a:solidFill>
            <a:prstDash val="solid"/>
          </a:ln>
        </p:spPr>
        <p:txBody>
          <a:bodyPr/>
          <a:lstStyle/>
          <a:p>
            <a:endParaRPr lang="en-IN"/>
          </a:p>
        </p:txBody>
      </p:sp>
      <p:sp>
        <p:nvSpPr>
          <p:cNvPr id="31" name="Text 29"/>
          <p:cNvSpPr/>
          <p:nvPr/>
        </p:nvSpPr>
        <p:spPr>
          <a:xfrm>
            <a:off x="4297680" y="3520440"/>
            <a:ext cx="1463040" cy="8229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Bank</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Partner</a:t>
            </a:r>
            <a:endParaRPr lang="en-US" sz="1100" dirty="0"/>
          </a:p>
        </p:txBody>
      </p:sp>
      <p:sp>
        <p:nvSpPr>
          <p:cNvPr id="32" name="Shape 30"/>
          <p:cNvSpPr/>
          <p:nvPr/>
        </p:nvSpPr>
        <p:spPr>
          <a:xfrm>
            <a:off x="5760720" y="3931920"/>
            <a:ext cx="548640" cy="0"/>
          </a:xfrm>
          <a:prstGeom prst="line">
            <a:avLst/>
          </a:prstGeom>
          <a:noFill/>
          <a:ln w="25400">
            <a:solidFill>
              <a:srgbClr val="E8A020"/>
            </a:solidFill>
            <a:prstDash val="solid"/>
          </a:ln>
        </p:spPr>
        <p:txBody>
          <a:bodyPr/>
          <a:lstStyle/>
          <a:p>
            <a:endParaRPr lang="en-IN"/>
          </a:p>
        </p:txBody>
      </p:sp>
      <p:sp>
        <p:nvSpPr>
          <p:cNvPr id="33" name="Shape 31"/>
          <p:cNvSpPr/>
          <p:nvPr/>
        </p:nvSpPr>
        <p:spPr>
          <a:xfrm>
            <a:off x="6309360" y="3520440"/>
            <a:ext cx="1645920" cy="822960"/>
          </a:xfrm>
          <a:prstGeom prst="rect">
            <a:avLst/>
          </a:prstGeom>
          <a:solidFill>
            <a:srgbClr val="1A8754"/>
          </a:solidFill>
          <a:ln w="12700">
            <a:solidFill>
              <a:srgbClr val="2AAA6A"/>
            </a:solidFill>
            <a:prstDash val="solid"/>
          </a:ln>
        </p:spPr>
        <p:txBody>
          <a:bodyPr/>
          <a:lstStyle/>
          <a:p>
            <a:endParaRPr lang="en-IN"/>
          </a:p>
        </p:txBody>
      </p:sp>
      <p:sp>
        <p:nvSpPr>
          <p:cNvPr id="34" name="Text 32"/>
          <p:cNvSpPr/>
          <p:nvPr/>
        </p:nvSpPr>
        <p:spPr>
          <a:xfrm>
            <a:off x="6309360" y="3520440"/>
            <a:ext cx="1645920" cy="8229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Consumer's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Bank Account</a:t>
            </a:r>
            <a:endParaRPr lang="en-US" sz="1100" dirty="0"/>
          </a:p>
        </p:txBody>
      </p:sp>
      <p:sp>
        <p:nvSpPr>
          <p:cNvPr id="35" name="Shape 33"/>
          <p:cNvSpPr/>
          <p:nvPr/>
        </p:nvSpPr>
        <p:spPr>
          <a:xfrm>
            <a:off x="274320" y="4663440"/>
            <a:ext cx="8595360" cy="347472"/>
          </a:xfrm>
          <a:prstGeom prst="rect">
            <a:avLst/>
          </a:prstGeom>
          <a:solidFill>
            <a:srgbClr val="13274A"/>
          </a:solidFill>
          <a:ln w="12700">
            <a:solidFill>
              <a:srgbClr val="1E5B9C"/>
            </a:solidFill>
            <a:prstDash val="solid"/>
          </a:ln>
        </p:spPr>
        <p:txBody>
          <a:bodyPr/>
          <a:lstStyle/>
          <a:p>
            <a:endParaRPr lang="en-IN"/>
          </a:p>
        </p:txBody>
      </p:sp>
      <p:sp>
        <p:nvSpPr>
          <p:cNvPr id="36" name="Text 34"/>
          <p:cNvSpPr/>
          <p:nvPr/>
        </p:nvSpPr>
        <p:spPr>
          <a:xfrm>
            <a:off x="365760" y="4681728"/>
            <a:ext cx="8412480" cy="310896"/>
          </a:xfrm>
          <a:prstGeom prst="rect">
            <a:avLst/>
          </a:prstGeom>
          <a:noFill/>
          <a:ln/>
        </p:spPr>
        <p:txBody>
          <a:bodyPr wrap="square" rtlCol="0" anchor="ctr"/>
          <a:lstStyle/>
          <a:p>
            <a:pPr marL="0" indent="0">
              <a:buNone/>
            </a:pPr>
            <a:r>
              <a:rPr lang="en-US" sz="1000" dirty="0">
                <a:solidFill>
                  <a:srgbClr val="8899AA"/>
                </a:solidFill>
                <a:latin typeface="Calibri" pitchFamily="34" charset="0"/>
                <a:ea typeface="Calibri" pitchFamily="34" charset="-122"/>
                <a:cs typeface="Calibri" pitchFamily="34" charset="-120"/>
              </a:rPr>
              <a:t>Fee Flows: Interchange (bank-to-bank) | Surcharge (ATM owner to customer) | Foreign ATM fee (customer's bank) | Facility fee (store hosting ATM)</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txBody>
          <a:bodyPr/>
          <a:lstStyle/>
          <a:p>
            <a:endParaRPr lang="en-IN"/>
          </a:p>
        </p:txBody>
      </p:sp>
      <p:sp>
        <p:nvSpPr>
          <p:cNvPr id="3" name="Text 1"/>
          <p:cNvSpPr/>
          <p:nvPr/>
        </p:nvSpPr>
        <p:spPr>
          <a:xfrm>
            <a:off x="274320" y="0"/>
            <a:ext cx="8229600" cy="9144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ATM Fee Structure</a:t>
            </a:r>
            <a:endParaRPr lang="en-US" sz="2200" dirty="0"/>
          </a:p>
        </p:txBody>
      </p:sp>
      <p:sp>
        <p:nvSpPr>
          <p:cNvPr id="4" name="Shape 2"/>
          <p:cNvSpPr/>
          <p:nvPr/>
        </p:nvSpPr>
        <p:spPr>
          <a:xfrm>
            <a:off x="274320" y="1005840"/>
            <a:ext cx="8595360" cy="68580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5" name="Shape 3"/>
          <p:cNvSpPr/>
          <p:nvPr/>
        </p:nvSpPr>
        <p:spPr>
          <a:xfrm>
            <a:off x="274320" y="1005840"/>
            <a:ext cx="64008" cy="685800"/>
          </a:xfrm>
          <a:prstGeom prst="rect">
            <a:avLst/>
          </a:prstGeom>
          <a:solidFill>
            <a:srgbClr val="1E5B9C"/>
          </a:solidFill>
          <a:ln w="12700">
            <a:solidFill>
              <a:srgbClr val="1E5B9C"/>
            </a:solidFill>
            <a:prstDash val="solid"/>
          </a:ln>
        </p:spPr>
        <p:txBody>
          <a:bodyPr/>
          <a:lstStyle/>
          <a:p>
            <a:endParaRPr lang="en-IN"/>
          </a:p>
        </p:txBody>
      </p:sp>
      <p:sp>
        <p:nvSpPr>
          <p:cNvPr id="6" name="Text 4"/>
          <p:cNvSpPr/>
          <p:nvPr/>
        </p:nvSpPr>
        <p:spPr>
          <a:xfrm>
            <a:off x="457200" y="1051560"/>
            <a:ext cx="2011680" cy="320040"/>
          </a:xfrm>
          <a:prstGeom prst="rect">
            <a:avLst/>
          </a:prstGeom>
          <a:noFill/>
          <a:ln/>
        </p:spPr>
        <p:txBody>
          <a:bodyPr wrap="square" rtlCol="0" anchor="ctr"/>
          <a:lstStyle/>
          <a:p>
            <a:pPr marL="0" indent="0">
              <a:buNone/>
            </a:pPr>
            <a:r>
              <a:rPr lang="en-US" sz="1200" b="1" dirty="0">
                <a:solidFill>
                  <a:srgbClr val="1E5B9C"/>
                </a:solidFill>
                <a:latin typeface="Calibri" pitchFamily="34" charset="0"/>
                <a:ea typeface="Calibri" pitchFamily="34" charset="-122"/>
                <a:cs typeface="Calibri" pitchFamily="34" charset="-120"/>
              </a:rPr>
              <a:t>Interchange Fee</a:t>
            </a:r>
            <a:endParaRPr lang="en-US" sz="1200" dirty="0"/>
          </a:p>
        </p:txBody>
      </p:sp>
      <p:sp>
        <p:nvSpPr>
          <p:cNvPr id="7" name="Text 5"/>
          <p:cNvSpPr/>
          <p:nvPr/>
        </p:nvSpPr>
        <p:spPr>
          <a:xfrm>
            <a:off x="457200" y="1371600"/>
            <a:ext cx="2194560" cy="274320"/>
          </a:xfrm>
          <a:prstGeom prst="rect">
            <a:avLst/>
          </a:prstGeom>
          <a:noFill/>
          <a:ln/>
        </p:spPr>
        <p:txBody>
          <a:bodyPr wrap="square" rtlCol="0" anchor="ctr"/>
          <a:lstStyle/>
          <a:p>
            <a:pPr marL="0" indent="0">
              <a:buNone/>
            </a:pPr>
            <a:r>
              <a:rPr lang="en-US" sz="1000" i="1" dirty="0">
                <a:solidFill>
                  <a:srgbClr val="8899AA"/>
                </a:solidFill>
                <a:latin typeface="Calibri" pitchFamily="34" charset="0"/>
                <a:ea typeface="Calibri" pitchFamily="34" charset="-122"/>
                <a:cs typeface="Calibri" pitchFamily="34" charset="-120"/>
              </a:rPr>
              <a:t>Customer's bank → ATM bank</a:t>
            </a:r>
            <a:endParaRPr lang="en-US" sz="1000" dirty="0"/>
          </a:p>
        </p:txBody>
      </p:sp>
      <p:sp>
        <p:nvSpPr>
          <p:cNvPr id="8" name="Shape 6"/>
          <p:cNvSpPr/>
          <p:nvPr/>
        </p:nvSpPr>
        <p:spPr>
          <a:xfrm>
            <a:off x="2468880" y="1097280"/>
            <a:ext cx="0" cy="502920"/>
          </a:xfrm>
          <a:prstGeom prst="line">
            <a:avLst/>
          </a:prstGeom>
          <a:noFill/>
          <a:ln w="12700">
            <a:solidFill>
              <a:srgbClr val="E8ECF2"/>
            </a:solidFill>
            <a:prstDash val="solid"/>
          </a:ln>
        </p:spPr>
        <p:txBody>
          <a:bodyPr/>
          <a:lstStyle/>
          <a:p>
            <a:endParaRPr lang="en-IN"/>
          </a:p>
        </p:txBody>
      </p:sp>
      <p:sp>
        <p:nvSpPr>
          <p:cNvPr id="9" name="Text 7"/>
          <p:cNvSpPr/>
          <p:nvPr/>
        </p:nvSpPr>
        <p:spPr>
          <a:xfrm>
            <a:off x="2560320" y="1097280"/>
            <a:ext cx="6126480" cy="548640"/>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Set by the ATM network. Flows AWAY from the customer's bank (backward interchange — opposite of POS debit).</a:t>
            </a:r>
            <a:endParaRPr lang="en-US" sz="1200" dirty="0"/>
          </a:p>
        </p:txBody>
      </p:sp>
      <p:sp>
        <p:nvSpPr>
          <p:cNvPr id="10" name="Shape 8"/>
          <p:cNvSpPr/>
          <p:nvPr/>
        </p:nvSpPr>
        <p:spPr>
          <a:xfrm>
            <a:off x="274320" y="1783080"/>
            <a:ext cx="8595360" cy="68580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11" name="Shape 9"/>
          <p:cNvSpPr/>
          <p:nvPr/>
        </p:nvSpPr>
        <p:spPr>
          <a:xfrm>
            <a:off x="274320" y="1783080"/>
            <a:ext cx="64008" cy="685800"/>
          </a:xfrm>
          <a:prstGeom prst="rect">
            <a:avLst/>
          </a:prstGeom>
          <a:solidFill>
            <a:srgbClr val="C0392B"/>
          </a:solidFill>
          <a:ln w="12700">
            <a:solidFill>
              <a:srgbClr val="C0392B"/>
            </a:solidFill>
            <a:prstDash val="solid"/>
          </a:ln>
        </p:spPr>
        <p:txBody>
          <a:bodyPr/>
          <a:lstStyle/>
          <a:p>
            <a:endParaRPr lang="en-IN"/>
          </a:p>
        </p:txBody>
      </p:sp>
      <p:sp>
        <p:nvSpPr>
          <p:cNvPr id="12" name="Text 10"/>
          <p:cNvSpPr/>
          <p:nvPr/>
        </p:nvSpPr>
        <p:spPr>
          <a:xfrm>
            <a:off x="457200" y="1828800"/>
            <a:ext cx="2011680" cy="32004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Surcharge</a:t>
            </a:r>
            <a:endParaRPr lang="en-US" sz="1200" dirty="0"/>
          </a:p>
        </p:txBody>
      </p:sp>
      <p:sp>
        <p:nvSpPr>
          <p:cNvPr id="13" name="Text 11"/>
          <p:cNvSpPr/>
          <p:nvPr/>
        </p:nvSpPr>
        <p:spPr>
          <a:xfrm>
            <a:off x="457200" y="2148840"/>
            <a:ext cx="2194560" cy="274320"/>
          </a:xfrm>
          <a:prstGeom prst="rect">
            <a:avLst/>
          </a:prstGeom>
          <a:noFill/>
          <a:ln/>
        </p:spPr>
        <p:txBody>
          <a:bodyPr wrap="square" rtlCol="0" anchor="ctr"/>
          <a:lstStyle/>
          <a:p>
            <a:pPr marL="0" indent="0">
              <a:buNone/>
            </a:pPr>
            <a:r>
              <a:rPr lang="en-US" sz="1000" i="1" dirty="0">
                <a:solidFill>
                  <a:srgbClr val="8899AA"/>
                </a:solidFill>
                <a:latin typeface="Calibri" pitchFamily="34" charset="0"/>
                <a:ea typeface="Calibri" pitchFamily="34" charset="-122"/>
                <a:cs typeface="Calibri" pitchFamily="34" charset="-120"/>
              </a:rPr>
              <a:t>ATM-owning bank → Customer</a:t>
            </a:r>
            <a:endParaRPr lang="en-US" sz="1000" dirty="0"/>
          </a:p>
        </p:txBody>
      </p:sp>
      <p:sp>
        <p:nvSpPr>
          <p:cNvPr id="14" name="Shape 12"/>
          <p:cNvSpPr/>
          <p:nvPr/>
        </p:nvSpPr>
        <p:spPr>
          <a:xfrm>
            <a:off x="2468880" y="1874520"/>
            <a:ext cx="0" cy="502920"/>
          </a:xfrm>
          <a:prstGeom prst="line">
            <a:avLst/>
          </a:prstGeom>
          <a:noFill/>
          <a:ln w="12700">
            <a:solidFill>
              <a:srgbClr val="E8ECF2"/>
            </a:solidFill>
            <a:prstDash val="solid"/>
          </a:ln>
        </p:spPr>
        <p:txBody>
          <a:bodyPr/>
          <a:lstStyle/>
          <a:p>
            <a:endParaRPr lang="en-IN"/>
          </a:p>
        </p:txBody>
      </p:sp>
      <p:sp>
        <p:nvSpPr>
          <p:cNvPr id="15" name="Text 13"/>
          <p:cNvSpPr/>
          <p:nvPr/>
        </p:nvSpPr>
        <p:spPr>
          <a:xfrm>
            <a:off x="2560320" y="1874520"/>
            <a:ext cx="6126480" cy="548640"/>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The ATM operator charges the customer directly. Taken out of the customer's account along with the withdrawal amount.</a:t>
            </a:r>
            <a:endParaRPr lang="en-US" sz="1200" dirty="0"/>
          </a:p>
        </p:txBody>
      </p:sp>
      <p:sp>
        <p:nvSpPr>
          <p:cNvPr id="16" name="Shape 14"/>
          <p:cNvSpPr/>
          <p:nvPr/>
        </p:nvSpPr>
        <p:spPr>
          <a:xfrm>
            <a:off x="274320" y="2560320"/>
            <a:ext cx="8595360" cy="68580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17" name="Shape 15"/>
          <p:cNvSpPr/>
          <p:nvPr/>
        </p:nvSpPr>
        <p:spPr>
          <a:xfrm>
            <a:off x="274320" y="2560320"/>
            <a:ext cx="64008" cy="685800"/>
          </a:xfrm>
          <a:prstGeom prst="rect">
            <a:avLst/>
          </a:prstGeom>
          <a:solidFill>
            <a:srgbClr val="0D8070"/>
          </a:solidFill>
          <a:ln w="12700">
            <a:solidFill>
              <a:srgbClr val="0D8070"/>
            </a:solidFill>
            <a:prstDash val="solid"/>
          </a:ln>
        </p:spPr>
        <p:txBody>
          <a:bodyPr/>
          <a:lstStyle/>
          <a:p>
            <a:endParaRPr lang="en-IN"/>
          </a:p>
        </p:txBody>
      </p:sp>
      <p:sp>
        <p:nvSpPr>
          <p:cNvPr id="18" name="Text 16"/>
          <p:cNvSpPr/>
          <p:nvPr/>
        </p:nvSpPr>
        <p:spPr>
          <a:xfrm>
            <a:off x="457200" y="2606040"/>
            <a:ext cx="2011680" cy="320040"/>
          </a:xfrm>
          <a:prstGeom prst="rect">
            <a:avLst/>
          </a:prstGeom>
          <a:noFill/>
          <a:ln/>
        </p:spPr>
        <p:txBody>
          <a:bodyPr wrap="square" rtlCol="0" anchor="ctr"/>
          <a:lstStyle/>
          <a:p>
            <a:pPr marL="0" indent="0">
              <a:buNone/>
            </a:pPr>
            <a:r>
              <a:rPr lang="en-US" sz="1200" b="1" dirty="0">
                <a:solidFill>
                  <a:srgbClr val="0D8070"/>
                </a:solidFill>
                <a:latin typeface="Calibri" pitchFamily="34" charset="0"/>
                <a:ea typeface="Calibri" pitchFamily="34" charset="-122"/>
                <a:cs typeface="Calibri" pitchFamily="34" charset="-120"/>
              </a:rPr>
              <a:t>Foreign ATM Fee</a:t>
            </a:r>
            <a:endParaRPr lang="en-US" sz="1200" dirty="0"/>
          </a:p>
        </p:txBody>
      </p:sp>
      <p:sp>
        <p:nvSpPr>
          <p:cNvPr id="19" name="Text 17"/>
          <p:cNvSpPr/>
          <p:nvPr/>
        </p:nvSpPr>
        <p:spPr>
          <a:xfrm>
            <a:off x="457200" y="2926080"/>
            <a:ext cx="2194560" cy="274320"/>
          </a:xfrm>
          <a:prstGeom prst="rect">
            <a:avLst/>
          </a:prstGeom>
          <a:noFill/>
          <a:ln/>
        </p:spPr>
        <p:txBody>
          <a:bodyPr wrap="square" rtlCol="0" anchor="ctr"/>
          <a:lstStyle/>
          <a:p>
            <a:pPr marL="0" indent="0">
              <a:buNone/>
            </a:pPr>
            <a:r>
              <a:rPr lang="en-US" sz="1000" i="1" dirty="0">
                <a:solidFill>
                  <a:srgbClr val="8899AA"/>
                </a:solidFill>
                <a:latin typeface="Calibri" pitchFamily="34" charset="0"/>
                <a:ea typeface="Calibri" pitchFamily="34" charset="-122"/>
                <a:cs typeface="Calibri" pitchFamily="34" charset="-120"/>
              </a:rPr>
              <a:t>Customer's own bank → Customer</a:t>
            </a:r>
            <a:endParaRPr lang="en-US" sz="1000" dirty="0"/>
          </a:p>
        </p:txBody>
      </p:sp>
      <p:sp>
        <p:nvSpPr>
          <p:cNvPr id="20" name="Shape 18"/>
          <p:cNvSpPr/>
          <p:nvPr/>
        </p:nvSpPr>
        <p:spPr>
          <a:xfrm>
            <a:off x="2468880" y="2651760"/>
            <a:ext cx="0" cy="502920"/>
          </a:xfrm>
          <a:prstGeom prst="line">
            <a:avLst/>
          </a:prstGeom>
          <a:noFill/>
          <a:ln w="12700">
            <a:solidFill>
              <a:srgbClr val="E8ECF2"/>
            </a:solidFill>
            <a:prstDash val="solid"/>
          </a:ln>
        </p:spPr>
        <p:txBody>
          <a:bodyPr/>
          <a:lstStyle/>
          <a:p>
            <a:endParaRPr lang="en-IN"/>
          </a:p>
        </p:txBody>
      </p:sp>
      <p:sp>
        <p:nvSpPr>
          <p:cNvPr id="21" name="Text 19"/>
          <p:cNvSpPr/>
          <p:nvPr/>
        </p:nvSpPr>
        <p:spPr>
          <a:xfrm>
            <a:off x="2560320" y="2651760"/>
            <a:ext cx="6126480" cy="548640"/>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Customer's bank charges for using a foreign ATM. Intended to offset the interchange it had to pay. Double-charge risk.</a:t>
            </a:r>
            <a:endParaRPr lang="en-US" sz="1200" dirty="0"/>
          </a:p>
        </p:txBody>
      </p:sp>
      <p:sp>
        <p:nvSpPr>
          <p:cNvPr id="22" name="Shape 20"/>
          <p:cNvSpPr/>
          <p:nvPr/>
        </p:nvSpPr>
        <p:spPr>
          <a:xfrm>
            <a:off x="274320" y="3337560"/>
            <a:ext cx="8595360" cy="68580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23" name="Shape 21"/>
          <p:cNvSpPr/>
          <p:nvPr/>
        </p:nvSpPr>
        <p:spPr>
          <a:xfrm>
            <a:off x="274320" y="3337560"/>
            <a:ext cx="64008" cy="685800"/>
          </a:xfrm>
          <a:prstGeom prst="rect">
            <a:avLst/>
          </a:prstGeom>
          <a:solidFill>
            <a:srgbClr val="1A8754"/>
          </a:solidFill>
          <a:ln w="12700">
            <a:solidFill>
              <a:srgbClr val="1A8754"/>
            </a:solidFill>
            <a:prstDash val="solid"/>
          </a:ln>
        </p:spPr>
        <p:txBody>
          <a:bodyPr/>
          <a:lstStyle/>
          <a:p>
            <a:endParaRPr lang="en-IN"/>
          </a:p>
        </p:txBody>
      </p:sp>
      <p:sp>
        <p:nvSpPr>
          <p:cNvPr id="24" name="Text 22"/>
          <p:cNvSpPr/>
          <p:nvPr/>
        </p:nvSpPr>
        <p:spPr>
          <a:xfrm>
            <a:off x="457200" y="3383280"/>
            <a:ext cx="2011680" cy="320040"/>
          </a:xfrm>
          <a:prstGeom prst="rect">
            <a:avLst/>
          </a:prstGeom>
          <a:noFill/>
          <a:ln/>
        </p:spPr>
        <p:txBody>
          <a:bodyPr wrap="square" rtlCol="0" anchor="ctr"/>
          <a:lstStyle/>
          <a:p>
            <a:pPr marL="0" indent="0">
              <a:buNone/>
            </a:pPr>
            <a:r>
              <a:rPr lang="en-US" sz="1200" b="1" dirty="0">
                <a:solidFill>
                  <a:srgbClr val="1A8754"/>
                </a:solidFill>
                <a:latin typeface="Calibri" pitchFamily="34" charset="0"/>
                <a:ea typeface="Calibri" pitchFamily="34" charset="-122"/>
                <a:cs typeface="Calibri" pitchFamily="34" charset="-120"/>
              </a:rPr>
              <a:t>Facility Fee</a:t>
            </a:r>
            <a:endParaRPr lang="en-US" sz="1200" dirty="0"/>
          </a:p>
        </p:txBody>
      </p:sp>
      <p:sp>
        <p:nvSpPr>
          <p:cNvPr id="25" name="Text 23"/>
          <p:cNvSpPr/>
          <p:nvPr/>
        </p:nvSpPr>
        <p:spPr>
          <a:xfrm>
            <a:off x="457200" y="3703320"/>
            <a:ext cx="2194560" cy="274320"/>
          </a:xfrm>
          <a:prstGeom prst="rect">
            <a:avLst/>
          </a:prstGeom>
          <a:noFill/>
          <a:ln/>
        </p:spPr>
        <p:txBody>
          <a:bodyPr wrap="square" rtlCol="0" anchor="ctr"/>
          <a:lstStyle/>
          <a:p>
            <a:pPr marL="0" indent="0">
              <a:buNone/>
            </a:pPr>
            <a:r>
              <a:rPr lang="en-US" sz="1000" i="1" dirty="0">
                <a:solidFill>
                  <a:srgbClr val="8899AA"/>
                </a:solidFill>
                <a:latin typeface="Calibri" pitchFamily="34" charset="0"/>
                <a:ea typeface="Calibri" pitchFamily="34" charset="-122"/>
                <a:cs typeface="Calibri" pitchFamily="34" charset="-120"/>
              </a:rPr>
              <a:t>ATM owner → Store/Location</a:t>
            </a:r>
            <a:endParaRPr lang="en-US" sz="1000" dirty="0"/>
          </a:p>
        </p:txBody>
      </p:sp>
      <p:sp>
        <p:nvSpPr>
          <p:cNvPr id="26" name="Shape 24"/>
          <p:cNvSpPr/>
          <p:nvPr/>
        </p:nvSpPr>
        <p:spPr>
          <a:xfrm>
            <a:off x="2468880" y="3429000"/>
            <a:ext cx="0" cy="502920"/>
          </a:xfrm>
          <a:prstGeom prst="line">
            <a:avLst/>
          </a:prstGeom>
          <a:noFill/>
          <a:ln w="12700">
            <a:solidFill>
              <a:srgbClr val="E8ECF2"/>
            </a:solidFill>
            <a:prstDash val="solid"/>
          </a:ln>
        </p:spPr>
        <p:txBody>
          <a:bodyPr/>
          <a:lstStyle/>
          <a:p>
            <a:endParaRPr lang="en-IN"/>
          </a:p>
        </p:txBody>
      </p:sp>
      <p:sp>
        <p:nvSpPr>
          <p:cNvPr id="27" name="Text 25"/>
          <p:cNvSpPr/>
          <p:nvPr/>
        </p:nvSpPr>
        <p:spPr>
          <a:xfrm>
            <a:off x="2560320" y="3429000"/>
            <a:ext cx="6126480" cy="548640"/>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A store hosting an ATM on its premises may be paid for providing the location and foot traffic.</a:t>
            </a:r>
            <a:endParaRPr lang="en-US" sz="1200" dirty="0"/>
          </a:p>
        </p:txBody>
      </p:sp>
      <p:sp>
        <p:nvSpPr>
          <p:cNvPr id="28" name="Shape 26"/>
          <p:cNvSpPr/>
          <p:nvPr/>
        </p:nvSpPr>
        <p:spPr>
          <a:xfrm>
            <a:off x="274320" y="4114800"/>
            <a:ext cx="8595360" cy="68580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29" name="Shape 27"/>
          <p:cNvSpPr/>
          <p:nvPr/>
        </p:nvSpPr>
        <p:spPr>
          <a:xfrm>
            <a:off x="274320" y="4114800"/>
            <a:ext cx="64008" cy="685800"/>
          </a:xfrm>
          <a:prstGeom prst="rect">
            <a:avLst/>
          </a:prstGeom>
          <a:solidFill>
            <a:srgbClr val="8E44AD"/>
          </a:solidFill>
          <a:ln w="12700">
            <a:solidFill>
              <a:srgbClr val="8E44AD"/>
            </a:solidFill>
            <a:prstDash val="solid"/>
          </a:ln>
        </p:spPr>
        <p:txBody>
          <a:bodyPr/>
          <a:lstStyle/>
          <a:p>
            <a:endParaRPr lang="en-IN"/>
          </a:p>
        </p:txBody>
      </p:sp>
      <p:sp>
        <p:nvSpPr>
          <p:cNvPr id="30" name="Text 28"/>
          <p:cNvSpPr/>
          <p:nvPr/>
        </p:nvSpPr>
        <p:spPr>
          <a:xfrm>
            <a:off x="457200" y="4160520"/>
            <a:ext cx="2011680" cy="320040"/>
          </a:xfrm>
          <a:prstGeom prst="rect">
            <a:avLst/>
          </a:prstGeom>
          <a:noFill/>
          <a:ln/>
        </p:spPr>
        <p:txBody>
          <a:bodyPr wrap="square" rtlCol="0" anchor="ctr"/>
          <a:lstStyle/>
          <a:p>
            <a:pPr marL="0" indent="0">
              <a:buNone/>
            </a:pPr>
            <a:r>
              <a:rPr lang="en-US" sz="1200" b="1" dirty="0">
                <a:solidFill>
                  <a:srgbClr val="8E44AD"/>
                </a:solidFill>
                <a:latin typeface="Calibri" pitchFamily="34" charset="0"/>
                <a:ea typeface="Calibri" pitchFamily="34" charset="-122"/>
                <a:cs typeface="Calibri" pitchFamily="34" charset="-120"/>
              </a:rPr>
              <a:t>Processor Fee</a:t>
            </a:r>
            <a:endParaRPr lang="en-US" sz="1200" dirty="0"/>
          </a:p>
        </p:txBody>
      </p:sp>
      <p:sp>
        <p:nvSpPr>
          <p:cNvPr id="31" name="Text 29"/>
          <p:cNvSpPr/>
          <p:nvPr/>
        </p:nvSpPr>
        <p:spPr>
          <a:xfrm>
            <a:off x="457200" y="4480560"/>
            <a:ext cx="2194560" cy="274320"/>
          </a:xfrm>
          <a:prstGeom prst="rect">
            <a:avLst/>
          </a:prstGeom>
          <a:noFill/>
          <a:ln/>
        </p:spPr>
        <p:txBody>
          <a:bodyPr wrap="square" rtlCol="0" anchor="ctr"/>
          <a:lstStyle/>
          <a:p>
            <a:pPr marL="0" indent="0">
              <a:buNone/>
            </a:pPr>
            <a:r>
              <a:rPr lang="en-US" sz="1000" i="1" dirty="0">
                <a:solidFill>
                  <a:srgbClr val="8899AA"/>
                </a:solidFill>
                <a:latin typeface="Calibri" pitchFamily="34" charset="0"/>
                <a:ea typeface="Calibri" pitchFamily="34" charset="-122"/>
                <a:cs typeface="Calibri" pitchFamily="34" charset="-120"/>
              </a:rPr>
              <a:t>ATM Owner → Processor</a:t>
            </a:r>
            <a:endParaRPr lang="en-US" sz="1000" dirty="0"/>
          </a:p>
        </p:txBody>
      </p:sp>
      <p:sp>
        <p:nvSpPr>
          <p:cNvPr id="32" name="Shape 30"/>
          <p:cNvSpPr/>
          <p:nvPr/>
        </p:nvSpPr>
        <p:spPr>
          <a:xfrm>
            <a:off x="2468880" y="4206240"/>
            <a:ext cx="0" cy="502920"/>
          </a:xfrm>
          <a:prstGeom prst="line">
            <a:avLst/>
          </a:prstGeom>
          <a:noFill/>
          <a:ln w="12700">
            <a:solidFill>
              <a:srgbClr val="E8ECF2"/>
            </a:solidFill>
            <a:prstDash val="solid"/>
          </a:ln>
        </p:spPr>
        <p:txBody>
          <a:bodyPr/>
          <a:lstStyle/>
          <a:p>
            <a:endParaRPr lang="en-IN"/>
          </a:p>
        </p:txBody>
      </p:sp>
      <p:sp>
        <p:nvSpPr>
          <p:cNvPr id="33" name="Text 31"/>
          <p:cNvSpPr/>
          <p:nvPr/>
        </p:nvSpPr>
        <p:spPr>
          <a:xfrm>
            <a:off x="2560320" y="4206240"/>
            <a:ext cx="6126480" cy="548640"/>
          </a:xfrm>
          <a:prstGeom prst="rect">
            <a:avLst/>
          </a:prstGeom>
          <a:noFill/>
          <a:ln/>
        </p:spPr>
        <p:txBody>
          <a:bodyPr wrap="square" rtlCol="0" anchor="ctr"/>
          <a:lstStyle/>
          <a:p>
            <a:pPr marL="0" indent="0">
              <a:buNone/>
            </a:pPr>
            <a:r>
              <a:rPr lang="en-US" sz="1200" dirty="0">
                <a:solidFill>
                  <a:srgbClr val="2A3848"/>
                </a:solidFill>
                <a:latin typeface="Calibri" pitchFamily="34" charset="0"/>
                <a:ea typeface="Calibri" pitchFamily="34" charset="-122"/>
                <a:cs typeface="Calibri" pitchFamily="34" charset="-120"/>
              </a:rPr>
              <a:t>ATM owners may contract with processors for network access or ATM driving (technical management) services.</a:t>
            </a:r>
            <a:endParaRPr lang="en-US" sz="1200" dirty="0"/>
          </a:p>
        </p:txBody>
      </p:sp>
      <p:sp>
        <p:nvSpPr>
          <p:cNvPr id="35" name="Text 33"/>
          <p:cNvSpPr/>
          <p:nvPr/>
        </p:nvSpPr>
        <p:spPr>
          <a:xfrm>
            <a:off x="365760" y="4892040"/>
            <a:ext cx="8412480" cy="182880"/>
          </a:xfrm>
          <a:prstGeom prst="rect">
            <a:avLst/>
          </a:prstGeom>
          <a:noFill/>
          <a:ln/>
        </p:spPr>
        <p:txBody>
          <a:bodyPr wrap="square" rtlCol="0" anchor="ctr"/>
          <a:lstStyle/>
          <a:p>
            <a:pPr marL="0" indent="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2C1654"/>
          </a:solidFill>
          <a:ln w="12700">
            <a:solidFill>
              <a:srgbClr val="2C1654"/>
            </a:solidFill>
            <a:prstDash val="solid"/>
          </a:ln>
        </p:spPr>
        <p:txBody>
          <a:bodyPr/>
          <a:lstStyle/>
          <a:p>
            <a:endParaRPr lang="en-IN"/>
          </a:p>
        </p:txBody>
      </p:sp>
      <p:sp>
        <p:nvSpPr>
          <p:cNvPr id="3" name="Text 1"/>
          <p:cNvSpPr/>
          <p:nvPr/>
        </p:nvSpPr>
        <p:spPr>
          <a:xfrm>
            <a:off x="274320" y="0"/>
            <a:ext cx="8595360" cy="9144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Payment Methods Comparison: Cash vs Cards vs ACH</a:t>
            </a:r>
            <a:endParaRPr lang="en-US" sz="2000" dirty="0"/>
          </a:p>
        </p:txBody>
      </p:sp>
      <p:sp>
        <p:nvSpPr>
          <p:cNvPr id="4" name="Shape 2"/>
          <p:cNvSpPr/>
          <p:nvPr/>
        </p:nvSpPr>
        <p:spPr>
          <a:xfrm>
            <a:off x="182880" y="960120"/>
            <a:ext cx="2103120" cy="457200"/>
          </a:xfrm>
          <a:prstGeom prst="rect">
            <a:avLst/>
          </a:prstGeom>
          <a:solidFill>
            <a:srgbClr val="3A4A60"/>
          </a:solidFill>
          <a:ln w="12700">
            <a:solidFill>
              <a:srgbClr val="3A4A60"/>
            </a:solidFill>
            <a:prstDash val="solid"/>
          </a:ln>
        </p:spPr>
        <p:txBody>
          <a:bodyPr/>
          <a:lstStyle/>
          <a:p>
            <a:endParaRPr lang="en-IN"/>
          </a:p>
        </p:txBody>
      </p:sp>
      <p:sp>
        <p:nvSpPr>
          <p:cNvPr id="5" name="Text 3"/>
          <p:cNvSpPr/>
          <p:nvPr/>
        </p:nvSpPr>
        <p:spPr>
          <a:xfrm>
            <a:off x="182880" y="960120"/>
            <a:ext cx="210312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Attribute</a:t>
            </a:r>
            <a:endParaRPr lang="en-US" sz="1300" dirty="0"/>
          </a:p>
        </p:txBody>
      </p:sp>
      <p:sp>
        <p:nvSpPr>
          <p:cNvPr id="6" name="Shape 4"/>
          <p:cNvSpPr/>
          <p:nvPr/>
        </p:nvSpPr>
        <p:spPr>
          <a:xfrm>
            <a:off x="2286000" y="960120"/>
            <a:ext cx="2011680" cy="457200"/>
          </a:xfrm>
          <a:prstGeom prst="rect">
            <a:avLst/>
          </a:prstGeom>
          <a:solidFill>
            <a:srgbClr val="0A1628"/>
          </a:solidFill>
          <a:ln w="12700">
            <a:solidFill>
              <a:srgbClr val="0A1628"/>
            </a:solidFill>
            <a:prstDash val="solid"/>
          </a:ln>
        </p:spPr>
        <p:txBody>
          <a:bodyPr/>
          <a:lstStyle/>
          <a:p>
            <a:endParaRPr lang="en-IN"/>
          </a:p>
        </p:txBody>
      </p:sp>
      <p:sp>
        <p:nvSpPr>
          <p:cNvPr id="7" name="Text 5"/>
          <p:cNvSpPr/>
          <p:nvPr/>
        </p:nvSpPr>
        <p:spPr>
          <a:xfrm>
            <a:off x="2286000" y="960120"/>
            <a:ext cx="201168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CASH</a:t>
            </a:r>
            <a:endParaRPr lang="en-US" sz="1300" dirty="0"/>
          </a:p>
        </p:txBody>
      </p:sp>
      <p:sp>
        <p:nvSpPr>
          <p:cNvPr id="8" name="Shape 6"/>
          <p:cNvSpPr/>
          <p:nvPr/>
        </p:nvSpPr>
        <p:spPr>
          <a:xfrm>
            <a:off x="4297680" y="960120"/>
            <a:ext cx="2560320" cy="457200"/>
          </a:xfrm>
          <a:prstGeom prst="rect">
            <a:avLst/>
          </a:prstGeom>
          <a:solidFill>
            <a:srgbClr val="6A1E8A"/>
          </a:solidFill>
          <a:ln w="12700">
            <a:solidFill>
              <a:srgbClr val="6A1E8A"/>
            </a:solidFill>
            <a:prstDash val="solid"/>
          </a:ln>
        </p:spPr>
        <p:txBody>
          <a:bodyPr/>
          <a:lstStyle/>
          <a:p>
            <a:endParaRPr lang="en-IN"/>
          </a:p>
        </p:txBody>
      </p:sp>
      <p:sp>
        <p:nvSpPr>
          <p:cNvPr id="9" name="Text 7"/>
          <p:cNvSpPr/>
          <p:nvPr/>
        </p:nvSpPr>
        <p:spPr>
          <a:xfrm>
            <a:off x="4297680" y="960120"/>
            <a:ext cx="256032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DEBIT/CREDIT CARDS</a:t>
            </a:r>
            <a:endParaRPr lang="en-US" sz="1300" dirty="0"/>
          </a:p>
        </p:txBody>
      </p:sp>
      <p:sp>
        <p:nvSpPr>
          <p:cNvPr id="10" name="Shape 8"/>
          <p:cNvSpPr/>
          <p:nvPr/>
        </p:nvSpPr>
        <p:spPr>
          <a:xfrm>
            <a:off x="6858000" y="960120"/>
            <a:ext cx="2103120" cy="457200"/>
          </a:xfrm>
          <a:prstGeom prst="rect">
            <a:avLst/>
          </a:prstGeom>
          <a:solidFill>
            <a:srgbClr val="0D8070"/>
          </a:solidFill>
          <a:ln w="12700">
            <a:solidFill>
              <a:srgbClr val="0D8070"/>
            </a:solidFill>
            <a:prstDash val="solid"/>
          </a:ln>
        </p:spPr>
        <p:txBody>
          <a:bodyPr/>
          <a:lstStyle/>
          <a:p>
            <a:endParaRPr lang="en-IN"/>
          </a:p>
        </p:txBody>
      </p:sp>
      <p:sp>
        <p:nvSpPr>
          <p:cNvPr id="11" name="Text 9"/>
          <p:cNvSpPr/>
          <p:nvPr/>
        </p:nvSpPr>
        <p:spPr>
          <a:xfrm>
            <a:off x="6858000" y="960120"/>
            <a:ext cx="210312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ACH</a:t>
            </a:r>
            <a:endParaRPr lang="en-US" sz="1300" dirty="0"/>
          </a:p>
        </p:txBody>
      </p:sp>
      <p:sp>
        <p:nvSpPr>
          <p:cNvPr id="12" name="Shape 10"/>
          <p:cNvSpPr/>
          <p:nvPr/>
        </p:nvSpPr>
        <p:spPr>
          <a:xfrm>
            <a:off x="182880" y="1417320"/>
            <a:ext cx="2103120" cy="438912"/>
          </a:xfrm>
          <a:prstGeom prst="rect">
            <a:avLst/>
          </a:prstGeom>
          <a:solidFill>
            <a:srgbClr val="F9FAFC"/>
          </a:solidFill>
          <a:ln w="12700">
            <a:solidFill>
              <a:srgbClr val="DDDDDD"/>
            </a:solidFill>
            <a:prstDash val="solid"/>
          </a:ln>
        </p:spPr>
        <p:txBody>
          <a:bodyPr/>
          <a:lstStyle/>
          <a:p>
            <a:endParaRPr lang="en-IN"/>
          </a:p>
        </p:txBody>
      </p:sp>
      <p:sp>
        <p:nvSpPr>
          <p:cNvPr id="13" name="Text 11"/>
          <p:cNvSpPr/>
          <p:nvPr/>
        </p:nvSpPr>
        <p:spPr>
          <a:xfrm>
            <a:off x="228600" y="1417320"/>
            <a:ext cx="2011680" cy="438912"/>
          </a:xfrm>
          <a:prstGeom prst="rect">
            <a:avLst/>
          </a:prstGeom>
          <a:noFill/>
          <a:ln/>
        </p:spPr>
        <p:txBody>
          <a:bodyPr wrap="square" rtlCol="0" anchor="ctr"/>
          <a:lstStyle/>
          <a:p>
            <a:pPr marL="0" indent="0" algn="l">
              <a:buNone/>
            </a:pPr>
            <a:r>
              <a:rPr lang="en-US" sz="1050" b="1" dirty="0">
                <a:solidFill>
                  <a:srgbClr val="1A2840"/>
                </a:solidFill>
                <a:latin typeface="Calibri" pitchFamily="34" charset="0"/>
                <a:ea typeface="Calibri" pitchFamily="34" charset="-122"/>
                <a:cs typeface="Calibri" pitchFamily="34" charset="-120"/>
              </a:rPr>
              <a:t>System Type</a:t>
            </a:r>
            <a:endParaRPr lang="en-US" sz="1050" dirty="0"/>
          </a:p>
        </p:txBody>
      </p:sp>
      <p:sp>
        <p:nvSpPr>
          <p:cNvPr id="14" name="Shape 12"/>
          <p:cNvSpPr/>
          <p:nvPr/>
        </p:nvSpPr>
        <p:spPr>
          <a:xfrm>
            <a:off x="2286000" y="1417320"/>
            <a:ext cx="2011680" cy="438912"/>
          </a:xfrm>
          <a:prstGeom prst="rect">
            <a:avLst/>
          </a:prstGeom>
          <a:solidFill>
            <a:srgbClr val="F9FAFC"/>
          </a:solidFill>
          <a:ln w="12700">
            <a:solidFill>
              <a:srgbClr val="DDDDDD"/>
            </a:solidFill>
            <a:prstDash val="solid"/>
          </a:ln>
        </p:spPr>
        <p:txBody>
          <a:bodyPr/>
          <a:lstStyle/>
          <a:p>
            <a:endParaRPr lang="en-IN"/>
          </a:p>
        </p:txBody>
      </p:sp>
      <p:sp>
        <p:nvSpPr>
          <p:cNvPr id="15" name="Text 13"/>
          <p:cNvSpPr/>
          <p:nvPr/>
        </p:nvSpPr>
        <p:spPr>
          <a:xfrm>
            <a:off x="2331720" y="1417320"/>
            <a:ext cx="192024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Push (self-clearing)</a:t>
            </a:r>
            <a:endParaRPr lang="en-US" sz="1050" dirty="0"/>
          </a:p>
        </p:txBody>
      </p:sp>
      <p:sp>
        <p:nvSpPr>
          <p:cNvPr id="16" name="Shape 14"/>
          <p:cNvSpPr/>
          <p:nvPr/>
        </p:nvSpPr>
        <p:spPr>
          <a:xfrm>
            <a:off x="4297680" y="1417320"/>
            <a:ext cx="2560320" cy="438912"/>
          </a:xfrm>
          <a:prstGeom prst="rect">
            <a:avLst/>
          </a:prstGeom>
          <a:solidFill>
            <a:srgbClr val="F9FAFC"/>
          </a:solidFill>
          <a:ln w="12700">
            <a:solidFill>
              <a:srgbClr val="DDDDDD"/>
            </a:solidFill>
            <a:prstDash val="solid"/>
          </a:ln>
        </p:spPr>
        <p:txBody>
          <a:bodyPr/>
          <a:lstStyle/>
          <a:p>
            <a:endParaRPr lang="en-IN"/>
          </a:p>
        </p:txBody>
      </p:sp>
      <p:sp>
        <p:nvSpPr>
          <p:cNvPr id="17" name="Text 15"/>
          <p:cNvSpPr/>
          <p:nvPr/>
        </p:nvSpPr>
        <p:spPr>
          <a:xfrm>
            <a:off x="4343400" y="1417320"/>
            <a:ext cx="24688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Pull (open/closed loop)</a:t>
            </a:r>
            <a:endParaRPr lang="en-US" sz="1050" dirty="0"/>
          </a:p>
        </p:txBody>
      </p:sp>
      <p:sp>
        <p:nvSpPr>
          <p:cNvPr id="18" name="Shape 16"/>
          <p:cNvSpPr/>
          <p:nvPr/>
        </p:nvSpPr>
        <p:spPr>
          <a:xfrm>
            <a:off x="6858000" y="1417320"/>
            <a:ext cx="2103120" cy="438912"/>
          </a:xfrm>
          <a:prstGeom prst="rect">
            <a:avLst/>
          </a:prstGeom>
          <a:solidFill>
            <a:srgbClr val="F9FAFC"/>
          </a:solidFill>
          <a:ln w="12700">
            <a:solidFill>
              <a:srgbClr val="DDDDDD"/>
            </a:solidFill>
            <a:prstDash val="solid"/>
          </a:ln>
        </p:spPr>
        <p:txBody>
          <a:bodyPr/>
          <a:lstStyle/>
          <a:p>
            <a:endParaRPr lang="en-IN"/>
          </a:p>
        </p:txBody>
      </p:sp>
      <p:sp>
        <p:nvSpPr>
          <p:cNvPr id="19" name="Text 17"/>
          <p:cNvSpPr/>
          <p:nvPr/>
        </p:nvSpPr>
        <p:spPr>
          <a:xfrm>
            <a:off x="6903720" y="1417320"/>
            <a:ext cx="20116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Push or Pull</a:t>
            </a:r>
            <a:endParaRPr lang="en-US" sz="1050" dirty="0"/>
          </a:p>
        </p:txBody>
      </p:sp>
      <p:sp>
        <p:nvSpPr>
          <p:cNvPr id="20" name="Shape 18"/>
          <p:cNvSpPr/>
          <p:nvPr/>
        </p:nvSpPr>
        <p:spPr>
          <a:xfrm>
            <a:off x="182880" y="1856232"/>
            <a:ext cx="2103120" cy="438912"/>
          </a:xfrm>
          <a:prstGeom prst="rect">
            <a:avLst/>
          </a:prstGeom>
          <a:solidFill>
            <a:srgbClr val="FFFFFF"/>
          </a:solidFill>
          <a:ln w="12700">
            <a:solidFill>
              <a:srgbClr val="DDDDDD"/>
            </a:solidFill>
            <a:prstDash val="solid"/>
          </a:ln>
        </p:spPr>
        <p:txBody>
          <a:bodyPr/>
          <a:lstStyle/>
          <a:p>
            <a:endParaRPr lang="en-IN"/>
          </a:p>
        </p:txBody>
      </p:sp>
      <p:sp>
        <p:nvSpPr>
          <p:cNvPr id="21" name="Text 19"/>
          <p:cNvSpPr/>
          <p:nvPr/>
        </p:nvSpPr>
        <p:spPr>
          <a:xfrm>
            <a:off x="228600" y="1856232"/>
            <a:ext cx="2011680" cy="438912"/>
          </a:xfrm>
          <a:prstGeom prst="rect">
            <a:avLst/>
          </a:prstGeom>
          <a:noFill/>
          <a:ln/>
        </p:spPr>
        <p:txBody>
          <a:bodyPr wrap="square" rtlCol="0" anchor="ctr"/>
          <a:lstStyle/>
          <a:p>
            <a:pPr marL="0" indent="0" algn="l">
              <a:buNone/>
            </a:pPr>
            <a:r>
              <a:rPr lang="en-US" sz="1050" b="1" dirty="0">
                <a:solidFill>
                  <a:srgbClr val="1A2840"/>
                </a:solidFill>
                <a:latin typeface="Calibri" pitchFamily="34" charset="0"/>
                <a:ea typeface="Calibri" pitchFamily="34" charset="-122"/>
                <a:cs typeface="Calibri" pitchFamily="34" charset="-120"/>
              </a:rPr>
              <a:t>Account Required</a:t>
            </a:r>
            <a:endParaRPr lang="en-US" sz="1050" dirty="0"/>
          </a:p>
        </p:txBody>
      </p:sp>
      <p:sp>
        <p:nvSpPr>
          <p:cNvPr id="22" name="Shape 20"/>
          <p:cNvSpPr/>
          <p:nvPr/>
        </p:nvSpPr>
        <p:spPr>
          <a:xfrm>
            <a:off x="2286000" y="1856232"/>
            <a:ext cx="2011680" cy="438912"/>
          </a:xfrm>
          <a:prstGeom prst="rect">
            <a:avLst/>
          </a:prstGeom>
          <a:solidFill>
            <a:srgbClr val="FFFFFF"/>
          </a:solidFill>
          <a:ln w="12700">
            <a:solidFill>
              <a:srgbClr val="DDDDDD"/>
            </a:solidFill>
            <a:prstDash val="solid"/>
          </a:ln>
        </p:spPr>
        <p:txBody>
          <a:bodyPr/>
          <a:lstStyle/>
          <a:p>
            <a:endParaRPr lang="en-IN"/>
          </a:p>
        </p:txBody>
      </p:sp>
      <p:sp>
        <p:nvSpPr>
          <p:cNvPr id="23" name="Text 21"/>
          <p:cNvSpPr/>
          <p:nvPr/>
        </p:nvSpPr>
        <p:spPr>
          <a:xfrm>
            <a:off x="2331720" y="1856232"/>
            <a:ext cx="192024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No</a:t>
            </a:r>
            <a:endParaRPr lang="en-US" sz="1050" dirty="0"/>
          </a:p>
        </p:txBody>
      </p:sp>
      <p:sp>
        <p:nvSpPr>
          <p:cNvPr id="24" name="Shape 22"/>
          <p:cNvSpPr/>
          <p:nvPr/>
        </p:nvSpPr>
        <p:spPr>
          <a:xfrm>
            <a:off x="4297680" y="1856232"/>
            <a:ext cx="2560320" cy="438912"/>
          </a:xfrm>
          <a:prstGeom prst="rect">
            <a:avLst/>
          </a:prstGeom>
          <a:solidFill>
            <a:srgbClr val="FFFFFF"/>
          </a:solidFill>
          <a:ln w="12700">
            <a:solidFill>
              <a:srgbClr val="DDDDDD"/>
            </a:solidFill>
            <a:prstDash val="solid"/>
          </a:ln>
        </p:spPr>
        <p:txBody>
          <a:bodyPr/>
          <a:lstStyle/>
          <a:p>
            <a:endParaRPr lang="en-IN"/>
          </a:p>
        </p:txBody>
      </p:sp>
      <p:sp>
        <p:nvSpPr>
          <p:cNvPr id="25" name="Text 23"/>
          <p:cNvSpPr/>
          <p:nvPr/>
        </p:nvSpPr>
        <p:spPr>
          <a:xfrm>
            <a:off x="4343400" y="1856232"/>
            <a:ext cx="24688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Yes</a:t>
            </a:r>
            <a:endParaRPr lang="en-US" sz="1050" dirty="0"/>
          </a:p>
        </p:txBody>
      </p:sp>
      <p:sp>
        <p:nvSpPr>
          <p:cNvPr id="26" name="Shape 24"/>
          <p:cNvSpPr/>
          <p:nvPr/>
        </p:nvSpPr>
        <p:spPr>
          <a:xfrm>
            <a:off x="6858000" y="1856232"/>
            <a:ext cx="2103120" cy="438912"/>
          </a:xfrm>
          <a:prstGeom prst="rect">
            <a:avLst/>
          </a:prstGeom>
          <a:solidFill>
            <a:srgbClr val="FFFFFF"/>
          </a:solidFill>
          <a:ln w="12700">
            <a:solidFill>
              <a:srgbClr val="DDDDDD"/>
            </a:solidFill>
            <a:prstDash val="solid"/>
          </a:ln>
        </p:spPr>
        <p:txBody>
          <a:bodyPr/>
          <a:lstStyle/>
          <a:p>
            <a:endParaRPr lang="en-IN"/>
          </a:p>
        </p:txBody>
      </p:sp>
      <p:sp>
        <p:nvSpPr>
          <p:cNvPr id="27" name="Text 25"/>
          <p:cNvSpPr/>
          <p:nvPr/>
        </p:nvSpPr>
        <p:spPr>
          <a:xfrm>
            <a:off x="6903720" y="1856232"/>
            <a:ext cx="20116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Yes</a:t>
            </a:r>
            <a:endParaRPr lang="en-US" sz="1050" dirty="0"/>
          </a:p>
        </p:txBody>
      </p:sp>
      <p:sp>
        <p:nvSpPr>
          <p:cNvPr id="28" name="Shape 26"/>
          <p:cNvSpPr/>
          <p:nvPr/>
        </p:nvSpPr>
        <p:spPr>
          <a:xfrm>
            <a:off x="182880" y="2295144"/>
            <a:ext cx="2103120" cy="438912"/>
          </a:xfrm>
          <a:prstGeom prst="rect">
            <a:avLst/>
          </a:prstGeom>
          <a:solidFill>
            <a:srgbClr val="F9FAFC"/>
          </a:solidFill>
          <a:ln w="12700">
            <a:solidFill>
              <a:srgbClr val="DDDDDD"/>
            </a:solidFill>
            <a:prstDash val="solid"/>
          </a:ln>
        </p:spPr>
        <p:txBody>
          <a:bodyPr/>
          <a:lstStyle/>
          <a:p>
            <a:endParaRPr lang="en-IN"/>
          </a:p>
        </p:txBody>
      </p:sp>
      <p:sp>
        <p:nvSpPr>
          <p:cNvPr id="29" name="Text 27"/>
          <p:cNvSpPr/>
          <p:nvPr/>
        </p:nvSpPr>
        <p:spPr>
          <a:xfrm>
            <a:off x="228600" y="2295144"/>
            <a:ext cx="2011680" cy="438912"/>
          </a:xfrm>
          <a:prstGeom prst="rect">
            <a:avLst/>
          </a:prstGeom>
          <a:noFill/>
          <a:ln/>
        </p:spPr>
        <p:txBody>
          <a:bodyPr wrap="square" rtlCol="0" anchor="ctr"/>
          <a:lstStyle/>
          <a:p>
            <a:pPr marL="0" indent="0" algn="l">
              <a:buNone/>
            </a:pPr>
            <a:r>
              <a:rPr lang="en-US" sz="1050" b="1" dirty="0">
                <a:solidFill>
                  <a:srgbClr val="1A2840"/>
                </a:solidFill>
                <a:latin typeface="Calibri" pitchFamily="34" charset="0"/>
                <a:ea typeface="Calibri" pitchFamily="34" charset="-122"/>
                <a:cs typeface="Calibri" pitchFamily="34" charset="-120"/>
              </a:rPr>
              <a:t>Anonymity</a:t>
            </a:r>
            <a:endParaRPr lang="en-US" sz="1050" dirty="0"/>
          </a:p>
        </p:txBody>
      </p:sp>
      <p:sp>
        <p:nvSpPr>
          <p:cNvPr id="30" name="Shape 28"/>
          <p:cNvSpPr/>
          <p:nvPr/>
        </p:nvSpPr>
        <p:spPr>
          <a:xfrm>
            <a:off x="2286000" y="2295144"/>
            <a:ext cx="2011680" cy="438912"/>
          </a:xfrm>
          <a:prstGeom prst="rect">
            <a:avLst/>
          </a:prstGeom>
          <a:solidFill>
            <a:srgbClr val="F9FAFC"/>
          </a:solidFill>
          <a:ln w="12700">
            <a:solidFill>
              <a:srgbClr val="DDDDDD"/>
            </a:solidFill>
            <a:prstDash val="solid"/>
          </a:ln>
        </p:spPr>
        <p:txBody>
          <a:bodyPr/>
          <a:lstStyle/>
          <a:p>
            <a:endParaRPr lang="en-IN"/>
          </a:p>
        </p:txBody>
      </p:sp>
      <p:sp>
        <p:nvSpPr>
          <p:cNvPr id="31" name="Text 29"/>
          <p:cNvSpPr/>
          <p:nvPr/>
        </p:nvSpPr>
        <p:spPr>
          <a:xfrm>
            <a:off x="2331720" y="2295144"/>
            <a:ext cx="192024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Full (both parties)</a:t>
            </a:r>
            <a:endParaRPr lang="en-US" sz="1050" dirty="0"/>
          </a:p>
        </p:txBody>
      </p:sp>
      <p:sp>
        <p:nvSpPr>
          <p:cNvPr id="32" name="Shape 30"/>
          <p:cNvSpPr/>
          <p:nvPr/>
        </p:nvSpPr>
        <p:spPr>
          <a:xfrm>
            <a:off x="4297680" y="2295144"/>
            <a:ext cx="2560320" cy="438912"/>
          </a:xfrm>
          <a:prstGeom prst="rect">
            <a:avLst/>
          </a:prstGeom>
          <a:solidFill>
            <a:srgbClr val="F9FAFC"/>
          </a:solidFill>
          <a:ln w="12700">
            <a:solidFill>
              <a:srgbClr val="DDDDDD"/>
            </a:solidFill>
            <a:prstDash val="solid"/>
          </a:ln>
        </p:spPr>
        <p:txBody>
          <a:bodyPr/>
          <a:lstStyle/>
          <a:p>
            <a:endParaRPr lang="en-IN"/>
          </a:p>
        </p:txBody>
      </p:sp>
      <p:sp>
        <p:nvSpPr>
          <p:cNvPr id="33" name="Text 31"/>
          <p:cNvSpPr/>
          <p:nvPr/>
        </p:nvSpPr>
        <p:spPr>
          <a:xfrm>
            <a:off x="4343400" y="2295144"/>
            <a:ext cx="24688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None</a:t>
            </a:r>
            <a:endParaRPr lang="en-US" sz="1050" dirty="0"/>
          </a:p>
        </p:txBody>
      </p:sp>
      <p:sp>
        <p:nvSpPr>
          <p:cNvPr id="34" name="Shape 32"/>
          <p:cNvSpPr/>
          <p:nvPr/>
        </p:nvSpPr>
        <p:spPr>
          <a:xfrm>
            <a:off x="6858000" y="2295144"/>
            <a:ext cx="2103120" cy="438912"/>
          </a:xfrm>
          <a:prstGeom prst="rect">
            <a:avLst/>
          </a:prstGeom>
          <a:solidFill>
            <a:srgbClr val="F9FAFC"/>
          </a:solidFill>
          <a:ln w="12700">
            <a:solidFill>
              <a:srgbClr val="DDDDDD"/>
            </a:solidFill>
            <a:prstDash val="solid"/>
          </a:ln>
        </p:spPr>
        <p:txBody>
          <a:bodyPr/>
          <a:lstStyle/>
          <a:p>
            <a:endParaRPr lang="en-IN"/>
          </a:p>
        </p:txBody>
      </p:sp>
      <p:sp>
        <p:nvSpPr>
          <p:cNvPr id="35" name="Text 33"/>
          <p:cNvSpPr/>
          <p:nvPr/>
        </p:nvSpPr>
        <p:spPr>
          <a:xfrm>
            <a:off x="6903720" y="2295144"/>
            <a:ext cx="20116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None</a:t>
            </a:r>
            <a:endParaRPr lang="en-US" sz="1050" dirty="0"/>
          </a:p>
        </p:txBody>
      </p:sp>
      <p:sp>
        <p:nvSpPr>
          <p:cNvPr id="36" name="Shape 34"/>
          <p:cNvSpPr/>
          <p:nvPr/>
        </p:nvSpPr>
        <p:spPr>
          <a:xfrm>
            <a:off x="182880" y="2734056"/>
            <a:ext cx="2103120" cy="438912"/>
          </a:xfrm>
          <a:prstGeom prst="rect">
            <a:avLst/>
          </a:prstGeom>
          <a:solidFill>
            <a:srgbClr val="FFFFFF"/>
          </a:solidFill>
          <a:ln w="12700">
            <a:solidFill>
              <a:srgbClr val="DDDDDD"/>
            </a:solidFill>
            <a:prstDash val="solid"/>
          </a:ln>
        </p:spPr>
        <p:txBody>
          <a:bodyPr/>
          <a:lstStyle/>
          <a:p>
            <a:endParaRPr lang="en-IN"/>
          </a:p>
        </p:txBody>
      </p:sp>
      <p:sp>
        <p:nvSpPr>
          <p:cNvPr id="37" name="Text 35"/>
          <p:cNvSpPr/>
          <p:nvPr/>
        </p:nvSpPr>
        <p:spPr>
          <a:xfrm>
            <a:off x="228600" y="2734056"/>
            <a:ext cx="2011680" cy="438912"/>
          </a:xfrm>
          <a:prstGeom prst="rect">
            <a:avLst/>
          </a:prstGeom>
          <a:noFill/>
          <a:ln/>
        </p:spPr>
        <p:txBody>
          <a:bodyPr wrap="square" rtlCol="0" anchor="ctr"/>
          <a:lstStyle/>
          <a:p>
            <a:pPr marL="0" indent="0" algn="l">
              <a:buNone/>
            </a:pPr>
            <a:r>
              <a:rPr lang="en-US" sz="1050" b="1" dirty="0">
                <a:solidFill>
                  <a:srgbClr val="1A2840"/>
                </a:solidFill>
                <a:latin typeface="Calibri" pitchFamily="34" charset="0"/>
                <a:ea typeface="Calibri" pitchFamily="34" charset="-122"/>
                <a:cs typeface="Calibri" pitchFamily="34" charset="-120"/>
              </a:rPr>
              <a:t>Transaction Speed</a:t>
            </a:r>
            <a:endParaRPr lang="en-US" sz="1050" dirty="0"/>
          </a:p>
        </p:txBody>
      </p:sp>
      <p:sp>
        <p:nvSpPr>
          <p:cNvPr id="38" name="Shape 36"/>
          <p:cNvSpPr/>
          <p:nvPr/>
        </p:nvSpPr>
        <p:spPr>
          <a:xfrm>
            <a:off x="2286000" y="2734056"/>
            <a:ext cx="2011680" cy="438912"/>
          </a:xfrm>
          <a:prstGeom prst="rect">
            <a:avLst/>
          </a:prstGeom>
          <a:solidFill>
            <a:srgbClr val="FFFFFF"/>
          </a:solidFill>
          <a:ln w="12700">
            <a:solidFill>
              <a:srgbClr val="DDDDDD"/>
            </a:solidFill>
            <a:prstDash val="solid"/>
          </a:ln>
        </p:spPr>
        <p:txBody>
          <a:bodyPr/>
          <a:lstStyle/>
          <a:p>
            <a:endParaRPr lang="en-IN"/>
          </a:p>
        </p:txBody>
      </p:sp>
      <p:sp>
        <p:nvSpPr>
          <p:cNvPr id="39" name="Text 37"/>
          <p:cNvSpPr/>
          <p:nvPr/>
        </p:nvSpPr>
        <p:spPr>
          <a:xfrm>
            <a:off x="2331720" y="2734056"/>
            <a:ext cx="192024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Instant</a:t>
            </a:r>
            <a:endParaRPr lang="en-US" sz="1050" dirty="0"/>
          </a:p>
        </p:txBody>
      </p:sp>
      <p:sp>
        <p:nvSpPr>
          <p:cNvPr id="40" name="Shape 38"/>
          <p:cNvSpPr/>
          <p:nvPr/>
        </p:nvSpPr>
        <p:spPr>
          <a:xfrm>
            <a:off x="4297680" y="2734056"/>
            <a:ext cx="2560320" cy="438912"/>
          </a:xfrm>
          <a:prstGeom prst="rect">
            <a:avLst/>
          </a:prstGeom>
          <a:solidFill>
            <a:srgbClr val="FFFFFF"/>
          </a:solidFill>
          <a:ln w="12700">
            <a:solidFill>
              <a:srgbClr val="DDDDDD"/>
            </a:solidFill>
            <a:prstDash val="solid"/>
          </a:ln>
        </p:spPr>
        <p:txBody>
          <a:bodyPr/>
          <a:lstStyle/>
          <a:p>
            <a:endParaRPr lang="en-IN"/>
          </a:p>
        </p:txBody>
      </p:sp>
      <p:sp>
        <p:nvSpPr>
          <p:cNvPr id="41" name="Text 39"/>
          <p:cNvSpPr/>
          <p:nvPr/>
        </p:nvSpPr>
        <p:spPr>
          <a:xfrm>
            <a:off x="4343400" y="2734056"/>
            <a:ext cx="24688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Auth: instant</a:t>
            </a:r>
            <a:endParaRPr lang="en-US" sz="1050" dirty="0"/>
          </a:p>
          <a:p>
            <a:pPr marL="0" indent="0" algn="ctr">
              <a:buNone/>
            </a:pPr>
            <a:r>
              <a:rPr lang="en-US" sz="1050" dirty="0">
                <a:solidFill>
                  <a:srgbClr val="2A3848"/>
                </a:solidFill>
                <a:latin typeface="Calibri" pitchFamily="34" charset="0"/>
                <a:ea typeface="Calibri" pitchFamily="34" charset="-122"/>
                <a:cs typeface="Calibri" pitchFamily="34" charset="-120"/>
              </a:rPr>
              <a:t>Settle: 1-2 days</a:t>
            </a:r>
            <a:endParaRPr lang="en-US" sz="1050" dirty="0"/>
          </a:p>
        </p:txBody>
      </p:sp>
      <p:sp>
        <p:nvSpPr>
          <p:cNvPr id="42" name="Shape 40"/>
          <p:cNvSpPr/>
          <p:nvPr/>
        </p:nvSpPr>
        <p:spPr>
          <a:xfrm>
            <a:off x="6858000" y="2734056"/>
            <a:ext cx="2103120" cy="438912"/>
          </a:xfrm>
          <a:prstGeom prst="rect">
            <a:avLst/>
          </a:prstGeom>
          <a:solidFill>
            <a:srgbClr val="FFFFFF"/>
          </a:solidFill>
          <a:ln w="12700">
            <a:solidFill>
              <a:srgbClr val="DDDDDD"/>
            </a:solidFill>
            <a:prstDash val="solid"/>
          </a:ln>
        </p:spPr>
        <p:txBody>
          <a:bodyPr/>
          <a:lstStyle/>
          <a:p>
            <a:endParaRPr lang="en-IN"/>
          </a:p>
        </p:txBody>
      </p:sp>
      <p:sp>
        <p:nvSpPr>
          <p:cNvPr id="43" name="Text 41"/>
          <p:cNvSpPr/>
          <p:nvPr/>
        </p:nvSpPr>
        <p:spPr>
          <a:xfrm>
            <a:off x="6903720" y="2734056"/>
            <a:ext cx="20116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1-3 business days</a:t>
            </a:r>
            <a:endParaRPr lang="en-US" sz="1050" dirty="0"/>
          </a:p>
        </p:txBody>
      </p:sp>
      <p:sp>
        <p:nvSpPr>
          <p:cNvPr id="44" name="Shape 42"/>
          <p:cNvSpPr/>
          <p:nvPr/>
        </p:nvSpPr>
        <p:spPr>
          <a:xfrm>
            <a:off x="182880" y="3172968"/>
            <a:ext cx="2103120" cy="438912"/>
          </a:xfrm>
          <a:prstGeom prst="rect">
            <a:avLst/>
          </a:prstGeom>
          <a:solidFill>
            <a:srgbClr val="F9FAFC"/>
          </a:solidFill>
          <a:ln w="12700">
            <a:solidFill>
              <a:srgbClr val="DDDDDD"/>
            </a:solidFill>
            <a:prstDash val="solid"/>
          </a:ln>
        </p:spPr>
        <p:txBody>
          <a:bodyPr/>
          <a:lstStyle/>
          <a:p>
            <a:endParaRPr lang="en-IN"/>
          </a:p>
        </p:txBody>
      </p:sp>
      <p:sp>
        <p:nvSpPr>
          <p:cNvPr id="45" name="Text 43"/>
          <p:cNvSpPr/>
          <p:nvPr/>
        </p:nvSpPr>
        <p:spPr>
          <a:xfrm>
            <a:off x="228600" y="3172968"/>
            <a:ext cx="2011680" cy="438912"/>
          </a:xfrm>
          <a:prstGeom prst="rect">
            <a:avLst/>
          </a:prstGeom>
          <a:noFill/>
          <a:ln/>
        </p:spPr>
        <p:txBody>
          <a:bodyPr wrap="square" rtlCol="0" anchor="ctr"/>
          <a:lstStyle/>
          <a:p>
            <a:pPr marL="0" indent="0" algn="l">
              <a:buNone/>
            </a:pPr>
            <a:r>
              <a:rPr lang="en-US" sz="1050" b="1" dirty="0">
                <a:solidFill>
                  <a:srgbClr val="1A2840"/>
                </a:solidFill>
                <a:latin typeface="Calibri" pitchFamily="34" charset="0"/>
                <a:ea typeface="Calibri" pitchFamily="34" charset="-122"/>
                <a:cs typeface="Calibri" pitchFamily="34" charset="-120"/>
              </a:rPr>
              <a:t>Merchant Cost</a:t>
            </a:r>
            <a:endParaRPr lang="en-US" sz="1050" dirty="0"/>
          </a:p>
        </p:txBody>
      </p:sp>
      <p:sp>
        <p:nvSpPr>
          <p:cNvPr id="46" name="Shape 44"/>
          <p:cNvSpPr/>
          <p:nvPr/>
        </p:nvSpPr>
        <p:spPr>
          <a:xfrm>
            <a:off x="2286000" y="3172968"/>
            <a:ext cx="2011680" cy="438912"/>
          </a:xfrm>
          <a:prstGeom prst="rect">
            <a:avLst/>
          </a:prstGeom>
          <a:solidFill>
            <a:srgbClr val="F9FAFC"/>
          </a:solidFill>
          <a:ln w="12700">
            <a:solidFill>
              <a:srgbClr val="DDDDDD"/>
            </a:solidFill>
            <a:prstDash val="solid"/>
          </a:ln>
        </p:spPr>
        <p:txBody>
          <a:bodyPr/>
          <a:lstStyle/>
          <a:p>
            <a:endParaRPr lang="en-IN"/>
          </a:p>
        </p:txBody>
      </p:sp>
      <p:sp>
        <p:nvSpPr>
          <p:cNvPr id="47" name="Text 45"/>
          <p:cNvSpPr/>
          <p:nvPr/>
        </p:nvSpPr>
        <p:spPr>
          <a:xfrm>
            <a:off x="2331720" y="3172968"/>
            <a:ext cx="192024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Fixed: handling</a:t>
            </a:r>
            <a:endParaRPr lang="en-US" sz="1050" dirty="0"/>
          </a:p>
          <a:p>
            <a:pPr marL="0" indent="0" algn="ctr">
              <a:buNone/>
            </a:pPr>
            <a:r>
              <a:rPr lang="en-US" sz="1050" dirty="0">
                <a:solidFill>
                  <a:srgbClr val="2A3848"/>
                </a:solidFill>
                <a:latin typeface="Calibri" pitchFamily="34" charset="0"/>
                <a:ea typeface="Calibri" pitchFamily="34" charset="-122"/>
                <a:cs typeface="Calibri" pitchFamily="34" charset="-120"/>
              </a:rPr>
              <a:t>&amp; security</a:t>
            </a:r>
            <a:endParaRPr lang="en-US" sz="1050" dirty="0"/>
          </a:p>
        </p:txBody>
      </p:sp>
      <p:sp>
        <p:nvSpPr>
          <p:cNvPr id="48" name="Shape 46"/>
          <p:cNvSpPr/>
          <p:nvPr/>
        </p:nvSpPr>
        <p:spPr>
          <a:xfrm>
            <a:off x="4297680" y="3172968"/>
            <a:ext cx="2560320" cy="438912"/>
          </a:xfrm>
          <a:prstGeom prst="rect">
            <a:avLst/>
          </a:prstGeom>
          <a:solidFill>
            <a:srgbClr val="F9FAFC"/>
          </a:solidFill>
          <a:ln w="12700">
            <a:solidFill>
              <a:srgbClr val="DDDDDD"/>
            </a:solidFill>
            <a:prstDash val="solid"/>
          </a:ln>
        </p:spPr>
        <p:txBody>
          <a:bodyPr/>
          <a:lstStyle/>
          <a:p>
            <a:endParaRPr lang="en-IN"/>
          </a:p>
        </p:txBody>
      </p:sp>
      <p:sp>
        <p:nvSpPr>
          <p:cNvPr id="49" name="Text 47"/>
          <p:cNvSpPr/>
          <p:nvPr/>
        </p:nvSpPr>
        <p:spPr>
          <a:xfrm>
            <a:off x="4343400" y="3172968"/>
            <a:ext cx="24688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Variable: interchange</a:t>
            </a:r>
            <a:endParaRPr lang="en-US" sz="1050" dirty="0"/>
          </a:p>
          <a:p>
            <a:pPr marL="0" indent="0" algn="ctr">
              <a:buNone/>
            </a:pPr>
            <a:r>
              <a:rPr lang="en-US" sz="1050" dirty="0">
                <a:solidFill>
                  <a:srgbClr val="2A3848"/>
                </a:solidFill>
                <a:latin typeface="Calibri" pitchFamily="34" charset="0"/>
                <a:ea typeface="Calibri" pitchFamily="34" charset="-122"/>
                <a:cs typeface="Calibri" pitchFamily="34" charset="-120"/>
              </a:rPr>
              <a:t>+ processing fees</a:t>
            </a:r>
            <a:endParaRPr lang="en-US" sz="1050" dirty="0"/>
          </a:p>
        </p:txBody>
      </p:sp>
      <p:sp>
        <p:nvSpPr>
          <p:cNvPr id="50" name="Shape 48"/>
          <p:cNvSpPr/>
          <p:nvPr/>
        </p:nvSpPr>
        <p:spPr>
          <a:xfrm>
            <a:off x="6858000" y="3172968"/>
            <a:ext cx="2103120" cy="438912"/>
          </a:xfrm>
          <a:prstGeom prst="rect">
            <a:avLst/>
          </a:prstGeom>
          <a:solidFill>
            <a:srgbClr val="F9FAFC"/>
          </a:solidFill>
          <a:ln w="12700">
            <a:solidFill>
              <a:srgbClr val="DDDDDD"/>
            </a:solidFill>
            <a:prstDash val="solid"/>
          </a:ln>
        </p:spPr>
        <p:txBody>
          <a:bodyPr/>
          <a:lstStyle/>
          <a:p>
            <a:endParaRPr lang="en-IN"/>
          </a:p>
        </p:txBody>
      </p:sp>
      <p:sp>
        <p:nvSpPr>
          <p:cNvPr id="51" name="Text 49"/>
          <p:cNvSpPr/>
          <p:nvPr/>
        </p:nvSpPr>
        <p:spPr>
          <a:xfrm>
            <a:off x="6903720" y="3172968"/>
            <a:ext cx="20116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Low fees</a:t>
            </a:r>
            <a:endParaRPr lang="en-US" sz="1050" dirty="0"/>
          </a:p>
          <a:p>
            <a:pPr marL="0" indent="0" algn="ctr">
              <a:buNone/>
            </a:pPr>
            <a:r>
              <a:rPr lang="en-US" sz="1050" dirty="0">
                <a:solidFill>
                  <a:srgbClr val="2A3848"/>
                </a:solidFill>
                <a:latin typeface="Calibri" pitchFamily="34" charset="0"/>
                <a:ea typeface="Calibri" pitchFamily="34" charset="-122"/>
                <a:cs typeface="Calibri" pitchFamily="34" charset="-120"/>
              </a:rPr>
              <a:t>(batch processing)</a:t>
            </a:r>
            <a:endParaRPr lang="en-US" sz="1050" dirty="0"/>
          </a:p>
        </p:txBody>
      </p:sp>
      <p:sp>
        <p:nvSpPr>
          <p:cNvPr id="52" name="Shape 50"/>
          <p:cNvSpPr/>
          <p:nvPr/>
        </p:nvSpPr>
        <p:spPr>
          <a:xfrm>
            <a:off x="182880" y="3611880"/>
            <a:ext cx="2103120" cy="438912"/>
          </a:xfrm>
          <a:prstGeom prst="rect">
            <a:avLst/>
          </a:prstGeom>
          <a:solidFill>
            <a:srgbClr val="FFFFFF"/>
          </a:solidFill>
          <a:ln w="12700">
            <a:solidFill>
              <a:srgbClr val="DDDDDD"/>
            </a:solidFill>
            <a:prstDash val="solid"/>
          </a:ln>
        </p:spPr>
        <p:txBody>
          <a:bodyPr/>
          <a:lstStyle/>
          <a:p>
            <a:endParaRPr lang="en-IN"/>
          </a:p>
        </p:txBody>
      </p:sp>
      <p:sp>
        <p:nvSpPr>
          <p:cNvPr id="53" name="Text 51"/>
          <p:cNvSpPr/>
          <p:nvPr/>
        </p:nvSpPr>
        <p:spPr>
          <a:xfrm>
            <a:off x="228600" y="3611880"/>
            <a:ext cx="2011680" cy="438912"/>
          </a:xfrm>
          <a:prstGeom prst="rect">
            <a:avLst/>
          </a:prstGeom>
          <a:noFill/>
          <a:ln/>
        </p:spPr>
        <p:txBody>
          <a:bodyPr wrap="square" rtlCol="0" anchor="ctr"/>
          <a:lstStyle/>
          <a:p>
            <a:pPr marL="0" indent="0" algn="l">
              <a:buNone/>
            </a:pPr>
            <a:r>
              <a:rPr lang="en-US" sz="1050" b="1" dirty="0">
                <a:solidFill>
                  <a:srgbClr val="1A2840"/>
                </a:solidFill>
                <a:latin typeface="Calibri" pitchFamily="34" charset="0"/>
                <a:ea typeface="Calibri" pitchFamily="34" charset="-122"/>
                <a:cs typeface="Calibri" pitchFamily="34" charset="-120"/>
              </a:rPr>
              <a:t>Fraud Risk</a:t>
            </a:r>
            <a:endParaRPr lang="en-US" sz="1050" dirty="0"/>
          </a:p>
        </p:txBody>
      </p:sp>
      <p:sp>
        <p:nvSpPr>
          <p:cNvPr id="54" name="Shape 52"/>
          <p:cNvSpPr/>
          <p:nvPr/>
        </p:nvSpPr>
        <p:spPr>
          <a:xfrm>
            <a:off x="2286000" y="3611880"/>
            <a:ext cx="2011680" cy="438912"/>
          </a:xfrm>
          <a:prstGeom prst="rect">
            <a:avLst/>
          </a:prstGeom>
          <a:solidFill>
            <a:srgbClr val="FFFFFF"/>
          </a:solidFill>
          <a:ln w="12700">
            <a:solidFill>
              <a:srgbClr val="DDDDDD"/>
            </a:solidFill>
            <a:prstDash val="solid"/>
          </a:ln>
        </p:spPr>
        <p:txBody>
          <a:bodyPr/>
          <a:lstStyle/>
          <a:p>
            <a:endParaRPr lang="en-IN"/>
          </a:p>
        </p:txBody>
      </p:sp>
      <p:sp>
        <p:nvSpPr>
          <p:cNvPr id="55" name="Text 53"/>
          <p:cNvSpPr/>
          <p:nvPr/>
        </p:nvSpPr>
        <p:spPr>
          <a:xfrm>
            <a:off x="2331720" y="3611880"/>
            <a:ext cx="192024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Theft / counterfeit</a:t>
            </a:r>
            <a:endParaRPr lang="en-US" sz="1050" dirty="0"/>
          </a:p>
        </p:txBody>
      </p:sp>
      <p:sp>
        <p:nvSpPr>
          <p:cNvPr id="56" name="Shape 54"/>
          <p:cNvSpPr/>
          <p:nvPr/>
        </p:nvSpPr>
        <p:spPr>
          <a:xfrm>
            <a:off x="4297680" y="3611880"/>
            <a:ext cx="2560320" cy="438912"/>
          </a:xfrm>
          <a:prstGeom prst="rect">
            <a:avLst/>
          </a:prstGeom>
          <a:solidFill>
            <a:srgbClr val="FFFFFF"/>
          </a:solidFill>
          <a:ln w="12700">
            <a:solidFill>
              <a:srgbClr val="DDDDDD"/>
            </a:solidFill>
            <a:prstDash val="solid"/>
          </a:ln>
        </p:spPr>
        <p:txBody>
          <a:bodyPr/>
          <a:lstStyle/>
          <a:p>
            <a:endParaRPr lang="en-IN"/>
          </a:p>
        </p:txBody>
      </p:sp>
      <p:sp>
        <p:nvSpPr>
          <p:cNvPr id="57" name="Text 55"/>
          <p:cNvSpPr/>
          <p:nvPr/>
        </p:nvSpPr>
        <p:spPr>
          <a:xfrm>
            <a:off x="4343400" y="3611880"/>
            <a:ext cx="24688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Chargebacks</a:t>
            </a:r>
            <a:endParaRPr lang="en-US" sz="1050" dirty="0"/>
          </a:p>
          <a:p>
            <a:pPr marL="0" indent="0" algn="ctr">
              <a:buNone/>
            </a:pPr>
            <a:r>
              <a:rPr lang="en-US" sz="1050" dirty="0">
                <a:solidFill>
                  <a:srgbClr val="2A3848"/>
                </a:solidFill>
                <a:latin typeface="Calibri" pitchFamily="34" charset="0"/>
                <a:ea typeface="Calibri" pitchFamily="34" charset="-122"/>
                <a:cs typeface="Calibri" pitchFamily="34" charset="-120"/>
              </a:rPr>
              <a:t>&amp; card fraud</a:t>
            </a:r>
            <a:endParaRPr lang="en-US" sz="1050" dirty="0"/>
          </a:p>
        </p:txBody>
      </p:sp>
      <p:sp>
        <p:nvSpPr>
          <p:cNvPr id="58" name="Shape 56"/>
          <p:cNvSpPr/>
          <p:nvPr/>
        </p:nvSpPr>
        <p:spPr>
          <a:xfrm>
            <a:off x="6858000" y="3611880"/>
            <a:ext cx="2103120" cy="438912"/>
          </a:xfrm>
          <a:prstGeom prst="rect">
            <a:avLst/>
          </a:prstGeom>
          <a:solidFill>
            <a:srgbClr val="FFFFFF"/>
          </a:solidFill>
          <a:ln w="12700">
            <a:solidFill>
              <a:srgbClr val="DDDDDD"/>
            </a:solidFill>
            <a:prstDash val="solid"/>
          </a:ln>
        </p:spPr>
        <p:txBody>
          <a:bodyPr/>
          <a:lstStyle/>
          <a:p>
            <a:endParaRPr lang="en-IN"/>
          </a:p>
        </p:txBody>
      </p:sp>
      <p:sp>
        <p:nvSpPr>
          <p:cNvPr id="59" name="Text 57"/>
          <p:cNvSpPr/>
          <p:nvPr/>
        </p:nvSpPr>
        <p:spPr>
          <a:xfrm>
            <a:off x="6903720" y="3611880"/>
            <a:ext cx="20116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ACH fraud</a:t>
            </a:r>
            <a:endParaRPr lang="en-US" sz="1050" dirty="0"/>
          </a:p>
          <a:p>
            <a:pPr marL="0" indent="0" algn="ctr">
              <a:buNone/>
            </a:pPr>
            <a:r>
              <a:rPr lang="en-US" sz="1050" dirty="0">
                <a:solidFill>
                  <a:srgbClr val="2A3848"/>
                </a:solidFill>
                <a:latin typeface="Calibri" pitchFamily="34" charset="0"/>
                <a:ea typeface="Calibri" pitchFamily="34" charset="-122"/>
                <a:cs typeface="Calibri" pitchFamily="34" charset="-120"/>
              </a:rPr>
              <a:t>&amp; returns</a:t>
            </a:r>
            <a:endParaRPr lang="en-US" sz="1050" dirty="0"/>
          </a:p>
        </p:txBody>
      </p:sp>
      <p:sp>
        <p:nvSpPr>
          <p:cNvPr id="60" name="Shape 58"/>
          <p:cNvSpPr/>
          <p:nvPr/>
        </p:nvSpPr>
        <p:spPr>
          <a:xfrm>
            <a:off x="182880" y="4050792"/>
            <a:ext cx="2103120" cy="438912"/>
          </a:xfrm>
          <a:prstGeom prst="rect">
            <a:avLst/>
          </a:prstGeom>
          <a:solidFill>
            <a:srgbClr val="F9FAFC"/>
          </a:solidFill>
          <a:ln w="12700">
            <a:solidFill>
              <a:srgbClr val="DDDDDD"/>
            </a:solidFill>
            <a:prstDash val="solid"/>
          </a:ln>
        </p:spPr>
        <p:txBody>
          <a:bodyPr/>
          <a:lstStyle/>
          <a:p>
            <a:endParaRPr lang="en-IN"/>
          </a:p>
        </p:txBody>
      </p:sp>
      <p:sp>
        <p:nvSpPr>
          <p:cNvPr id="61" name="Text 59"/>
          <p:cNvSpPr/>
          <p:nvPr/>
        </p:nvSpPr>
        <p:spPr>
          <a:xfrm>
            <a:off x="228600" y="4050792"/>
            <a:ext cx="2011680" cy="438912"/>
          </a:xfrm>
          <a:prstGeom prst="rect">
            <a:avLst/>
          </a:prstGeom>
          <a:noFill/>
          <a:ln/>
        </p:spPr>
        <p:txBody>
          <a:bodyPr wrap="square" rtlCol="0" anchor="ctr"/>
          <a:lstStyle/>
          <a:p>
            <a:pPr marL="0" indent="0" algn="l">
              <a:buNone/>
            </a:pPr>
            <a:r>
              <a:rPr lang="en-US" sz="1050" b="1" dirty="0">
                <a:solidFill>
                  <a:srgbClr val="1A2840"/>
                </a:solidFill>
                <a:latin typeface="Calibri" pitchFamily="34" charset="0"/>
                <a:ea typeface="Calibri" pitchFamily="34" charset="-122"/>
                <a:cs typeface="Calibri" pitchFamily="34" charset="-120"/>
              </a:rPr>
              <a:t>Regulation</a:t>
            </a:r>
            <a:endParaRPr lang="en-US" sz="1050" dirty="0"/>
          </a:p>
        </p:txBody>
      </p:sp>
      <p:sp>
        <p:nvSpPr>
          <p:cNvPr id="62" name="Shape 60"/>
          <p:cNvSpPr/>
          <p:nvPr/>
        </p:nvSpPr>
        <p:spPr>
          <a:xfrm>
            <a:off x="2286000" y="4050792"/>
            <a:ext cx="2011680" cy="438912"/>
          </a:xfrm>
          <a:prstGeom prst="rect">
            <a:avLst/>
          </a:prstGeom>
          <a:solidFill>
            <a:srgbClr val="F9FAFC"/>
          </a:solidFill>
          <a:ln w="12700">
            <a:solidFill>
              <a:srgbClr val="DDDDDD"/>
            </a:solidFill>
            <a:prstDash val="solid"/>
          </a:ln>
        </p:spPr>
        <p:txBody>
          <a:bodyPr/>
          <a:lstStyle/>
          <a:p>
            <a:endParaRPr lang="en-IN"/>
          </a:p>
        </p:txBody>
      </p:sp>
      <p:sp>
        <p:nvSpPr>
          <p:cNvPr id="63" name="Text 61"/>
          <p:cNvSpPr/>
          <p:nvPr/>
        </p:nvSpPr>
        <p:spPr>
          <a:xfrm>
            <a:off x="2331720" y="4050792"/>
            <a:ext cx="192024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U.S. Law + Fed</a:t>
            </a:r>
            <a:endParaRPr lang="en-US" sz="1050" dirty="0"/>
          </a:p>
        </p:txBody>
      </p:sp>
      <p:sp>
        <p:nvSpPr>
          <p:cNvPr id="64" name="Shape 62"/>
          <p:cNvSpPr/>
          <p:nvPr/>
        </p:nvSpPr>
        <p:spPr>
          <a:xfrm>
            <a:off x="4297680" y="4050792"/>
            <a:ext cx="2560320" cy="438912"/>
          </a:xfrm>
          <a:prstGeom prst="rect">
            <a:avLst/>
          </a:prstGeom>
          <a:solidFill>
            <a:srgbClr val="F9FAFC"/>
          </a:solidFill>
          <a:ln w="12700">
            <a:solidFill>
              <a:srgbClr val="DDDDDD"/>
            </a:solidFill>
            <a:prstDash val="solid"/>
          </a:ln>
        </p:spPr>
        <p:txBody>
          <a:bodyPr/>
          <a:lstStyle/>
          <a:p>
            <a:endParaRPr lang="en-IN"/>
          </a:p>
        </p:txBody>
      </p:sp>
      <p:sp>
        <p:nvSpPr>
          <p:cNvPr id="65" name="Text 63"/>
          <p:cNvSpPr/>
          <p:nvPr/>
        </p:nvSpPr>
        <p:spPr>
          <a:xfrm>
            <a:off x="4343400" y="4050792"/>
            <a:ext cx="24688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Card network rules</a:t>
            </a:r>
            <a:endParaRPr lang="en-US" sz="1050" dirty="0"/>
          </a:p>
        </p:txBody>
      </p:sp>
      <p:sp>
        <p:nvSpPr>
          <p:cNvPr id="66" name="Shape 64"/>
          <p:cNvSpPr/>
          <p:nvPr/>
        </p:nvSpPr>
        <p:spPr>
          <a:xfrm>
            <a:off x="6858000" y="4050792"/>
            <a:ext cx="2103120" cy="438912"/>
          </a:xfrm>
          <a:prstGeom prst="rect">
            <a:avLst/>
          </a:prstGeom>
          <a:solidFill>
            <a:srgbClr val="F9FAFC"/>
          </a:solidFill>
          <a:ln w="12700">
            <a:solidFill>
              <a:srgbClr val="DDDDDD"/>
            </a:solidFill>
            <a:prstDash val="solid"/>
          </a:ln>
        </p:spPr>
        <p:txBody>
          <a:bodyPr/>
          <a:lstStyle/>
          <a:p>
            <a:endParaRPr lang="en-IN"/>
          </a:p>
        </p:txBody>
      </p:sp>
      <p:sp>
        <p:nvSpPr>
          <p:cNvPr id="67" name="Text 65"/>
          <p:cNvSpPr/>
          <p:nvPr/>
        </p:nvSpPr>
        <p:spPr>
          <a:xfrm>
            <a:off x="6903720" y="4050792"/>
            <a:ext cx="20116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NACHA rules</a:t>
            </a:r>
            <a:endParaRPr lang="en-US" sz="1050" dirty="0"/>
          </a:p>
        </p:txBody>
      </p:sp>
      <p:sp>
        <p:nvSpPr>
          <p:cNvPr id="68" name="Shape 66"/>
          <p:cNvSpPr/>
          <p:nvPr/>
        </p:nvSpPr>
        <p:spPr>
          <a:xfrm>
            <a:off x="182880" y="4489704"/>
            <a:ext cx="2103120" cy="438912"/>
          </a:xfrm>
          <a:prstGeom prst="rect">
            <a:avLst/>
          </a:prstGeom>
          <a:solidFill>
            <a:srgbClr val="FFFFFF"/>
          </a:solidFill>
          <a:ln w="12700">
            <a:solidFill>
              <a:srgbClr val="DDDDDD"/>
            </a:solidFill>
            <a:prstDash val="solid"/>
          </a:ln>
        </p:spPr>
        <p:txBody>
          <a:bodyPr/>
          <a:lstStyle/>
          <a:p>
            <a:endParaRPr lang="en-IN"/>
          </a:p>
        </p:txBody>
      </p:sp>
      <p:sp>
        <p:nvSpPr>
          <p:cNvPr id="69" name="Text 67"/>
          <p:cNvSpPr/>
          <p:nvPr/>
        </p:nvSpPr>
        <p:spPr>
          <a:xfrm>
            <a:off x="228600" y="4489704"/>
            <a:ext cx="2011680" cy="438912"/>
          </a:xfrm>
          <a:prstGeom prst="rect">
            <a:avLst/>
          </a:prstGeom>
          <a:noFill/>
          <a:ln/>
        </p:spPr>
        <p:txBody>
          <a:bodyPr wrap="square" rtlCol="0" anchor="ctr"/>
          <a:lstStyle/>
          <a:p>
            <a:pPr marL="0" indent="0" algn="l">
              <a:buNone/>
            </a:pPr>
            <a:r>
              <a:rPr lang="en-US" sz="1050" b="1" dirty="0">
                <a:solidFill>
                  <a:srgbClr val="1A2840"/>
                </a:solidFill>
                <a:latin typeface="Calibri" pitchFamily="34" charset="0"/>
                <a:ea typeface="Calibri" pitchFamily="34" charset="-122"/>
                <a:cs typeface="Calibri" pitchFamily="34" charset="-120"/>
              </a:rPr>
              <a:t>Best For</a:t>
            </a:r>
            <a:endParaRPr lang="en-US" sz="1050" dirty="0"/>
          </a:p>
        </p:txBody>
      </p:sp>
      <p:sp>
        <p:nvSpPr>
          <p:cNvPr id="70" name="Shape 68"/>
          <p:cNvSpPr/>
          <p:nvPr/>
        </p:nvSpPr>
        <p:spPr>
          <a:xfrm>
            <a:off x="2286000" y="4489704"/>
            <a:ext cx="2011680" cy="438912"/>
          </a:xfrm>
          <a:prstGeom prst="rect">
            <a:avLst/>
          </a:prstGeom>
          <a:solidFill>
            <a:srgbClr val="FFFFFF"/>
          </a:solidFill>
          <a:ln w="12700">
            <a:solidFill>
              <a:srgbClr val="DDDDDD"/>
            </a:solidFill>
            <a:prstDash val="solid"/>
          </a:ln>
        </p:spPr>
        <p:txBody>
          <a:bodyPr/>
          <a:lstStyle/>
          <a:p>
            <a:endParaRPr lang="en-IN"/>
          </a:p>
        </p:txBody>
      </p:sp>
      <p:sp>
        <p:nvSpPr>
          <p:cNvPr id="71" name="Text 69"/>
          <p:cNvSpPr/>
          <p:nvPr/>
        </p:nvSpPr>
        <p:spPr>
          <a:xfrm>
            <a:off x="2331720" y="4489704"/>
            <a:ext cx="192024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Small, in-person,</a:t>
            </a:r>
            <a:endParaRPr lang="en-US" sz="1050" dirty="0"/>
          </a:p>
          <a:p>
            <a:pPr marL="0" indent="0" algn="ctr">
              <a:buNone/>
            </a:pPr>
            <a:r>
              <a:rPr lang="en-US" sz="1050" dirty="0">
                <a:solidFill>
                  <a:srgbClr val="2A3848"/>
                </a:solidFill>
                <a:latin typeface="Calibri" pitchFamily="34" charset="0"/>
                <a:ea typeface="Calibri" pitchFamily="34" charset="-122"/>
                <a:cs typeface="Calibri" pitchFamily="34" charset="-120"/>
              </a:rPr>
              <a:t>anonymous payments</a:t>
            </a:r>
            <a:endParaRPr lang="en-US" sz="1050" dirty="0"/>
          </a:p>
        </p:txBody>
      </p:sp>
      <p:sp>
        <p:nvSpPr>
          <p:cNvPr id="72" name="Shape 70"/>
          <p:cNvSpPr/>
          <p:nvPr/>
        </p:nvSpPr>
        <p:spPr>
          <a:xfrm>
            <a:off x="4297680" y="4489704"/>
            <a:ext cx="2560320" cy="438912"/>
          </a:xfrm>
          <a:prstGeom prst="rect">
            <a:avLst/>
          </a:prstGeom>
          <a:solidFill>
            <a:srgbClr val="FFFFFF"/>
          </a:solidFill>
          <a:ln w="12700">
            <a:solidFill>
              <a:srgbClr val="DDDDDD"/>
            </a:solidFill>
            <a:prstDash val="solid"/>
          </a:ln>
        </p:spPr>
        <p:txBody>
          <a:bodyPr/>
          <a:lstStyle/>
          <a:p>
            <a:endParaRPr lang="en-IN"/>
          </a:p>
        </p:txBody>
      </p:sp>
      <p:sp>
        <p:nvSpPr>
          <p:cNvPr id="73" name="Text 71"/>
          <p:cNvSpPr/>
          <p:nvPr/>
        </p:nvSpPr>
        <p:spPr>
          <a:xfrm>
            <a:off x="4343400" y="4489704"/>
            <a:ext cx="24688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Most retail &amp;</a:t>
            </a:r>
            <a:endParaRPr lang="en-US" sz="1050" dirty="0"/>
          </a:p>
          <a:p>
            <a:pPr marL="0" indent="0" algn="ctr">
              <a:buNone/>
            </a:pPr>
            <a:r>
              <a:rPr lang="en-US" sz="1050" dirty="0">
                <a:solidFill>
                  <a:srgbClr val="2A3848"/>
                </a:solidFill>
                <a:latin typeface="Calibri" pitchFamily="34" charset="0"/>
                <a:ea typeface="Calibri" pitchFamily="34" charset="-122"/>
                <a:cs typeface="Calibri" pitchFamily="34" charset="-120"/>
              </a:rPr>
              <a:t>online transactions</a:t>
            </a:r>
            <a:endParaRPr lang="en-US" sz="1050" dirty="0"/>
          </a:p>
        </p:txBody>
      </p:sp>
      <p:sp>
        <p:nvSpPr>
          <p:cNvPr id="74" name="Shape 72"/>
          <p:cNvSpPr/>
          <p:nvPr/>
        </p:nvSpPr>
        <p:spPr>
          <a:xfrm>
            <a:off x="6858000" y="4489704"/>
            <a:ext cx="2103120" cy="438912"/>
          </a:xfrm>
          <a:prstGeom prst="rect">
            <a:avLst/>
          </a:prstGeom>
          <a:solidFill>
            <a:srgbClr val="FFFFFF"/>
          </a:solidFill>
          <a:ln w="12700">
            <a:solidFill>
              <a:srgbClr val="DDDDDD"/>
            </a:solidFill>
            <a:prstDash val="solid"/>
          </a:ln>
        </p:spPr>
        <p:txBody>
          <a:bodyPr/>
          <a:lstStyle/>
          <a:p>
            <a:endParaRPr lang="en-IN"/>
          </a:p>
        </p:txBody>
      </p:sp>
      <p:sp>
        <p:nvSpPr>
          <p:cNvPr id="75" name="Text 73"/>
          <p:cNvSpPr/>
          <p:nvPr/>
        </p:nvSpPr>
        <p:spPr>
          <a:xfrm>
            <a:off x="6903720" y="4489704"/>
            <a:ext cx="2011680" cy="438912"/>
          </a:xfrm>
          <a:prstGeom prst="rect">
            <a:avLst/>
          </a:prstGeom>
          <a:noFill/>
          <a:ln/>
        </p:spPr>
        <p:txBody>
          <a:bodyPr wrap="square" rtlCol="0" anchor="ctr"/>
          <a:lstStyle/>
          <a:p>
            <a:pPr marL="0" indent="0" algn="ctr">
              <a:buNone/>
            </a:pPr>
            <a:r>
              <a:rPr lang="en-US" sz="1050" dirty="0">
                <a:solidFill>
                  <a:srgbClr val="2A3848"/>
                </a:solidFill>
                <a:latin typeface="Calibri" pitchFamily="34" charset="0"/>
                <a:ea typeface="Calibri" pitchFamily="34" charset="-122"/>
                <a:cs typeface="Calibri" pitchFamily="34" charset="-120"/>
              </a:rPr>
              <a:t>Payroll, B2B,</a:t>
            </a:r>
            <a:endParaRPr lang="en-US" sz="1050" dirty="0"/>
          </a:p>
          <a:p>
            <a:pPr marL="0" indent="0" algn="ctr">
              <a:buNone/>
            </a:pPr>
            <a:r>
              <a:rPr lang="en-US" sz="1050" dirty="0">
                <a:solidFill>
                  <a:srgbClr val="2A3848"/>
                </a:solidFill>
                <a:latin typeface="Calibri" pitchFamily="34" charset="0"/>
                <a:ea typeface="Calibri" pitchFamily="34" charset="-122"/>
                <a:cs typeface="Calibri" pitchFamily="34" charset="-120"/>
              </a:rPr>
              <a:t>bill payments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91120"/>
          </a:solidFill>
          <a:ln w="12700">
            <a:solidFill>
              <a:srgbClr val="091120"/>
            </a:solidFill>
            <a:prstDash val="solid"/>
          </a:ln>
        </p:spPr>
        <p:txBody>
          <a:bodyPr/>
          <a:lstStyle/>
          <a:p>
            <a:endParaRPr lang="en-IN"/>
          </a:p>
        </p:txBody>
      </p:sp>
      <p:sp>
        <p:nvSpPr>
          <p:cNvPr id="3" name="Text 1"/>
          <p:cNvSpPr/>
          <p:nvPr/>
        </p:nvSpPr>
        <p:spPr>
          <a:xfrm>
            <a:off x="274320" y="0"/>
            <a:ext cx="8229600" cy="9144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Cash Regulation &amp; Risk Management</a:t>
            </a:r>
            <a:endParaRPr lang="en-US" sz="2200" dirty="0"/>
          </a:p>
        </p:txBody>
      </p:sp>
      <p:sp>
        <p:nvSpPr>
          <p:cNvPr id="4" name="Shape 2"/>
          <p:cNvSpPr/>
          <p:nvPr/>
        </p:nvSpPr>
        <p:spPr>
          <a:xfrm>
            <a:off x="274320" y="1051560"/>
            <a:ext cx="4069080" cy="1645920"/>
          </a:xfrm>
          <a:prstGeom prst="rect">
            <a:avLst/>
          </a:prstGeom>
          <a:solidFill>
            <a:srgbClr val="1B3A6B"/>
          </a:solidFill>
          <a:ln w="12700">
            <a:solidFill>
              <a:srgbClr val="E8A020"/>
            </a:solidFill>
            <a:prstDash val="solid"/>
          </a:ln>
        </p:spPr>
        <p:txBody>
          <a:bodyPr/>
          <a:lstStyle/>
          <a:p>
            <a:endParaRPr lang="en-IN"/>
          </a:p>
        </p:txBody>
      </p:sp>
      <p:sp>
        <p:nvSpPr>
          <p:cNvPr id="5" name="Shape 3"/>
          <p:cNvSpPr/>
          <p:nvPr/>
        </p:nvSpPr>
        <p:spPr>
          <a:xfrm>
            <a:off x="274320" y="1051560"/>
            <a:ext cx="4069080" cy="457200"/>
          </a:xfrm>
          <a:prstGeom prst="rect">
            <a:avLst/>
          </a:prstGeom>
          <a:solidFill>
            <a:srgbClr val="E8A020"/>
          </a:solidFill>
          <a:ln w="12700">
            <a:solidFill>
              <a:srgbClr val="E8A020"/>
            </a:solidFill>
            <a:prstDash val="solid"/>
          </a:ln>
        </p:spPr>
        <p:txBody>
          <a:bodyPr/>
          <a:lstStyle/>
          <a:p>
            <a:endParaRPr lang="en-IN"/>
          </a:p>
        </p:txBody>
      </p:sp>
      <p:sp>
        <p:nvSpPr>
          <p:cNvPr id="6" name="Text 4"/>
          <p:cNvSpPr/>
          <p:nvPr/>
        </p:nvSpPr>
        <p:spPr>
          <a:xfrm>
            <a:off x="274320" y="1051560"/>
            <a:ext cx="4069080" cy="457200"/>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  Bank Secrecy Act (1970)</a:t>
            </a:r>
            <a:endParaRPr lang="en-US" sz="1300" dirty="0"/>
          </a:p>
        </p:txBody>
      </p:sp>
      <p:sp>
        <p:nvSpPr>
          <p:cNvPr id="7" name="Text 5"/>
          <p:cNvSpPr/>
          <p:nvPr/>
        </p:nvSpPr>
        <p:spPr>
          <a:xfrm>
            <a:off x="411480" y="1600200"/>
            <a:ext cx="3794760" cy="1005840"/>
          </a:xfrm>
          <a:prstGeom prst="rect">
            <a:avLst/>
          </a:prstGeom>
          <a:noFill/>
          <a:ln/>
        </p:spPr>
        <p:txBody>
          <a:bodyPr wrap="square" rtlCol="0" anchor="ctr"/>
          <a:lstStyle/>
          <a:p>
            <a:r>
              <a:rPr lang="en-US" sz="1200" dirty="0">
                <a:solidFill>
                  <a:srgbClr val="B8C8DC"/>
                </a:solidFill>
                <a:latin typeface="Calibri" pitchFamily="34" charset="0"/>
                <a:ea typeface="Calibri" pitchFamily="34" charset="-122"/>
                <a:cs typeface="Calibri" pitchFamily="34" charset="-120"/>
              </a:rPr>
              <a:t>Requires banks to report large cash deposits </a:t>
            </a:r>
            <a:r>
              <a:rPr lang="en-IN" sz="1200" dirty="0">
                <a:solidFill>
                  <a:srgbClr val="B8C8DC"/>
                </a:solidFill>
                <a:latin typeface="Calibri" pitchFamily="34" charset="0"/>
                <a:ea typeface="Calibri" pitchFamily="34" charset="-122"/>
                <a:cs typeface="Calibri" pitchFamily="34" charset="-120"/>
              </a:rPr>
              <a:t>&gt; $10,000</a:t>
            </a:r>
            <a:r>
              <a:rPr lang="en-US" sz="1200" dirty="0">
                <a:solidFill>
                  <a:srgbClr val="B8C8DC"/>
                </a:solidFill>
                <a:latin typeface="Calibri" pitchFamily="34" charset="0"/>
                <a:ea typeface="Calibri" pitchFamily="34" charset="-122"/>
                <a:cs typeface="Calibri" pitchFamily="34" charset="-120"/>
              </a:rPr>
              <a:t> to reduce money laundering. Banks that fail to comply face significant fines.</a:t>
            </a:r>
            <a:endParaRPr lang="en-US" sz="1200" dirty="0"/>
          </a:p>
        </p:txBody>
      </p:sp>
      <p:sp>
        <p:nvSpPr>
          <p:cNvPr id="8" name="Shape 6"/>
          <p:cNvSpPr/>
          <p:nvPr/>
        </p:nvSpPr>
        <p:spPr>
          <a:xfrm>
            <a:off x="4709160" y="1051560"/>
            <a:ext cx="4069080" cy="1645920"/>
          </a:xfrm>
          <a:prstGeom prst="rect">
            <a:avLst/>
          </a:prstGeom>
          <a:solidFill>
            <a:srgbClr val="1B3A6B"/>
          </a:solidFill>
          <a:ln w="12700">
            <a:solidFill>
              <a:srgbClr val="3A8FD6"/>
            </a:solidFill>
            <a:prstDash val="solid"/>
          </a:ln>
        </p:spPr>
        <p:txBody>
          <a:bodyPr/>
          <a:lstStyle/>
          <a:p>
            <a:endParaRPr lang="en-IN"/>
          </a:p>
        </p:txBody>
      </p:sp>
      <p:sp>
        <p:nvSpPr>
          <p:cNvPr id="9" name="Shape 7"/>
          <p:cNvSpPr/>
          <p:nvPr/>
        </p:nvSpPr>
        <p:spPr>
          <a:xfrm>
            <a:off x="4709160" y="1051560"/>
            <a:ext cx="4069080" cy="457200"/>
          </a:xfrm>
          <a:prstGeom prst="rect">
            <a:avLst/>
          </a:prstGeom>
          <a:solidFill>
            <a:srgbClr val="3A8FD6"/>
          </a:solidFill>
          <a:ln w="12700">
            <a:solidFill>
              <a:srgbClr val="3A8FD6"/>
            </a:solidFill>
            <a:prstDash val="solid"/>
          </a:ln>
        </p:spPr>
        <p:txBody>
          <a:bodyPr/>
          <a:lstStyle/>
          <a:p>
            <a:endParaRPr lang="en-IN"/>
          </a:p>
        </p:txBody>
      </p:sp>
      <p:sp>
        <p:nvSpPr>
          <p:cNvPr id="10" name="Text 8"/>
          <p:cNvSpPr/>
          <p:nvPr/>
        </p:nvSpPr>
        <p:spPr>
          <a:xfrm>
            <a:off x="4709160" y="1051560"/>
            <a:ext cx="4069080" cy="457200"/>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  USA PATRIOT Act (2001)</a:t>
            </a:r>
            <a:endParaRPr lang="en-US" sz="1300" dirty="0"/>
          </a:p>
        </p:txBody>
      </p:sp>
      <p:sp>
        <p:nvSpPr>
          <p:cNvPr id="11" name="Text 9"/>
          <p:cNvSpPr/>
          <p:nvPr/>
        </p:nvSpPr>
        <p:spPr>
          <a:xfrm>
            <a:off x="4846320" y="1600200"/>
            <a:ext cx="3794760" cy="1005840"/>
          </a:xfrm>
          <a:prstGeom prst="rect">
            <a:avLst/>
          </a:prstGeom>
          <a:noFill/>
          <a:ln/>
        </p:spPr>
        <p:txBody>
          <a:bodyPr wrap="square" rtlCol="0" anchor="ctr"/>
          <a:lstStyle/>
          <a:p>
            <a:r>
              <a:rPr lang="en-US" sz="1200" dirty="0">
                <a:solidFill>
                  <a:srgbClr val="B8C8DC"/>
                </a:solidFill>
                <a:latin typeface="Calibri" pitchFamily="34" charset="0"/>
                <a:ea typeface="Calibri" pitchFamily="34" charset="-122"/>
                <a:cs typeface="Calibri" pitchFamily="34" charset="-120"/>
              </a:rPr>
              <a:t>Extended BSA obligations post-9/11. Created additional reporting and identification requirements for cash transactions</a:t>
            </a:r>
          </a:p>
        </p:txBody>
      </p:sp>
      <p:sp>
        <p:nvSpPr>
          <p:cNvPr id="12" name="Shape 10"/>
          <p:cNvSpPr/>
          <p:nvPr/>
        </p:nvSpPr>
        <p:spPr>
          <a:xfrm>
            <a:off x="274320" y="2926080"/>
            <a:ext cx="4069080" cy="1645920"/>
          </a:xfrm>
          <a:prstGeom prst="rect">
            <a:avLst/>
          </a:prstGeom>
          <a:solidFill>
            <a:srgbClr val="1B3A6B"/>
          </a:solidFill>
          <a:ln w="12700">
            <a:solidFill>
              <a:srgbClr val="C0392B"/>
            </a:solidFill>
            <a:prstDash val="solid"/>
          </a:ln>
        </p:spPr>
        <p:txBody>
          <a:bodyPr/>
          <a:lstStyle/>
          <a:p>
            <a:endParaRPr lang="en-IN"/>
          </a:p>
        </p:txBody>
      </p:sp>
      <p:sp>
        <p:nvSpPr>
          <p:cNvPr id="13" name="Shape 11"/>
          <p:cNvSpPr/>
          <p:nvPr/>
        </p:nvSpPr>
        <p:spPr>
          <a:xfrm>
            <a:off x="274320" y="2926080"/>
            <a:ext cx="4069080" cy="457200"/>
          </a:xfrm>
          <a:prstGeom prst="rect">
            <a:avLst/>
          </a:prstGeom>
          <a:solidFill>
            <a:srgbClr val="C0392B"/>
          </a:solidFill>
          <a:ln w="12700">
            <a:solidFill>
              <a:srgbClr val="C0392B"/>
            </a:solidFill>
            <a:prstDash val="solid"/>
          </a:ln>
        </p:spPr>
        <p:txBody>
          <a:bodyPr/>
          <a:lstStyle/>
          <a:p>
            <a:endParaRPr lang="en-IN"/>
          </a:p>
        </p:txBody>
      </p:sp>
      <p:sp>
        <p:nvSpPr>
          <p:cNvPr id="14" name="Text 12"/>
          <p:cNvSpPr/>
          <p:nvPr/>
        </p:nvSpPr>
        <p:spPr>
          <a:xfrm>
            <a:off x="274320" y="2926080"/>
            <a:ext cx="4069080" cy="457200"/>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  Counterfeit Currency Risk</a:t>
            </a:r>
            <a:endParaRPr lang="en-US" sz="1300" dirty="0"/>
          </a:p>
        </p:txBody>
      </p:sp>
      <p:sp>
        <p:nvSpPr>
          <p:cNvPr id="15" name="Text 13"/>
          <p:cNvSpPr/>
          <p:nvPr/>
        </p:nvSpPr>
        <p:spPr>
          <a:xfrm>
            <a:off x="411480" y="3474720"/>
            <a:ext cx="3794760" cy="1005840"/>
          </a:xfrm>
          <a:prstGeom prst="rect">
            <a:avLst/>
          </a:prstGeom>
          <a:noFill/>
          <a:ln/>
        </p:spPr>
        <p:txBody>
          <a:bodyPr wrap="square" rtlCol="0" anchor="ctr"/>
          <a:lstStyle/>
          <a:p>
            <a:pPr marL="0" indent="0">
              <a:buNone/>
            </a:pPr>
            <a:r>
              <a:rPr lang="en-US" sz="1200" dirty="0">
                <a:solidFill>
                  <a:srgbClr val="B8C8DC"/>
                </a:solidFill>
                <a:latin typeface="Calibri" pitchFamily="34" charset="0"/>
                <a:ea typeface="Calibri" pitchFamily="34" charset="-122"/>
                <a:cs typeface="Calibri" pitchFamily="34" charset="-120"/>
              </a:rPr>
              <a:t>Tech advances in imaging/printing made counterfeiting easier. Banks and processors have installed sophisticated detection equipment.</a:t>
            </a:r>
            <a:endParaRPr lang="en-US" sz="1200" dirty="0"/>
          </a:p>
        </p:txBody>
      </p:sp>
      <p:sp>
        <p:nvSpPr>
          <p:cNvPr id="16" name="Shape 14"/>
          <p:cNvSpPr/>
          <p:nvPr/>
        </p:nvSpPr>
        <p:spPr>
          <a:xfrm>
            <a:off x="4709160" y="2926080"/>
            <a:ext cx="4069080" cy="1645920"/>
          </a:xfrm>
          <a:prstGeom prst="rect">
            <a:avLst/>
          </a:prstGeom>
          <a:solidFill>
            <a:srgbClr val="1B3A6B"/>
          </a:solidFill>
          <a:ln w="12700">
            <a:solidFill>
              <a:srgbClr val="0D8070"/>
            </a:solidFill>
            <a:prstDash val="solid"/>
          </a:ln>
        </p:spPr>
        <p:txBody>
          <a:bodyPr/>
          <a:lstStyle/>
          <a:p>
            <a:endParaRPr lang="en-IN"/>
          </a:p>
        </p:txBody>
      </p:sp>
      <p:sp>
        <p:nvSpPr>
          <p:cNvPr id="17" name="Shape 15"/>
          <p:cNvSpPr/>
          <p:nvPr/>
        </p:nvSpPr>
        <p:spPr>
          <a:xfrm>
            <a:off x="4709160" y="2926080"/>
            <a:ext cx="4069080" cy="457200"/>
          </a:xfrm>
          <a:prstGeom prst="rect">
            <a:avLst/>
          </a:prstGeom>
          <a:solidFill>
            <a:srgbClr val="0D8070"/>
          </a:solidFill>
          <a:ln w="12700">
            <a:solidFill>
              <a:srgbClr val="0D8070"/>
            </a:solidFill>
            <a:prstDash val="solid"/>
          </a:ln>
        </p:spPr>
        <p:txBody>
          <a:bodyPr/>
          <a:lstStyle/>
          <a:p>
            <a:endParaRPr lang="en-IN"/>
          </a:p>
        </p:txBody>
      </p:sp>
      <p:sp>
        <p:nvSpPr>
          <p:cNvPr id="18" name="Text 16"/>
          <p:cNvSpPr/>
          <p:nvPr/>
        </p:nvSpPr>
        <p:spPr>
          <a:xfrm>
            <a:off x="4709160" y="2926080"/>
            <a:ext cx="4069080" cy="457200"/>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  Secret Service Enforcement</a:t>
            </a:r>
            <a:endParaRPr lang="en-US" sz="1300" dirty="0"/>
          </a:p>
        </p:txBody>
      </p:sp>
      <p:sp>
        <p:nvSpPr>
          <p:cNvPr id="19" name="Text 17"/>
          <p:cNvSpPr/>
          <p:nvPr/>
        </p:nvSpPr>
        <p:spPr>
          <a:xfrm>
            <a:off x="4846320" y="3474720"/>
            <a:ext cx="3794760" cy="1005840"/>
          </a:xfrm>
          <a:prstGeom prst="rect">
            <a:avLst/>
          </a:prstGeom>
          <a:noFill/>
          <a:ln/>
        </p:spPr>
        <p:txBody>
          <a:bodyPr wrap="square" rtlCol="0" anchor="ctr"/>
          <a:lstStyle/>
          <a:p>
            <a:pPr marL="0" indent="0">
              <a:buNone/>
            </a:pPr>
            <a:r>
              <a:rPr lang="en-US" sz="1200" dirty="0">
                <a:solidFill>
                  <a:srgbClr val="B8C8DC"/>
                </a:solidFill>
                <a:latin typeface="Calibri" pitchFamily="34" charset="0"/>
                <a:ea typeface="Calibri" pitchFamily="34" charset="-122"/>
                <a:cs typeface="Calibri" pitchFamily="34" charset="-120"/>
              </a:rPr>
              <a:t>The U.S. Secret Service has law enforcement responsibility for prevention and investigation of U.S. currency counterfeiting.</a:t>
            </a:r>
            <a:endParaRPr lang="en-US" sz="1200" dirty="0"/>
          </a:p>
        </p:txBody>
      </p:sp>
      <p:sp>
        <p:nvSpPr>
          <p:cNvPr id="20" name="Text 18"/>
          <p:cNvSpPr/>
          <p:nvPr/>
        </p:nvSpPr>
        <p:spPr>
          <a:xfrm>
            <a:off x="274320" y="4754880"/>
            <a:ext cx="8595360" cy="320040"/>
          </a:xfrm>
          <a:prstGeom prst="rect">
            <a:avLst/>
          </a:prstGeom>
          <a:noFill/>
          <a:ln/>
        </p:spPr>
        <p:txBody>
          <a:bodyPr wrap="square" rtlCol="0" anchor="ctr"/>
          <a:lstStyle/>
          <a:p>
            <a:pPr marL="0" indent="0" algn="ctr">
              <a:buNone/>
            </a:pPr>
            <a:r>
              <a:rPr lang="en-US" sz="1100" i="1" dirty="0">
                <a:solidFill>
                  <a:srgbClr val="8899AA"/>
                </a:solidFill>
                <a:latin typeface="Calibri" pitchFamily="34" charset="0"/>
                <a:ea typeface="Calibri" pitchFamily="34" charset="-122"/>
                <a:cs typeface="Calibri" pitchFamily="34" charset="-120"/>
              </a:rPr>
              <a:t>Key Anti-Money Laundering (AML) Software Providers: Oracle/Mantis · Actimize/Fortent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txBody>
          <a:bodyPr/>
          <a:lstStyle/>
          <a:p>
            <a:endParaRPr lang="en-IN"/>
          </a:p>
        </p:txBody>
      </p:sp>
      <p:sp>
        <p:nvSpPr>
          <p:cNvPr id="3" name="Text 1"/>
          <p:cNvSpPr/>
          <p:nvPr/>
        </p:nvSpPr>
        <p:spPr>
          <a:xfrm>
            <a:off x="274320" y="0"/>
            <a:ext cx="8229600" cy="9144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Major Industry Providers</a:t>
            </a:r>
            <a:endParaRPr lang="en-US" sz="2200" dirty="0"/>
          </a:p>
        </p:txBody>
      </p:sp>
      <p:sp>
        <p:nvSpPr>
          <p:cNvPr id="4" name="Shape 2"/>
          <p:cNvSpPr/>
          <p:nvPr/>
        </p:nvSpPr>
        <p:spPr>
          <a:xfrm>
            <a:off x="201168" y="1005840"/>
            <a:ext cx="1161288" cy="731520"/>
          </a:xfrm>
          <a:prstGeom prst="rect">
            <a:avLst/>
          </a:prstGeom>
          <a:solidFill>
            <a:srgbClr val="1E5B9C"/>
          </a:solidFill>
          <a:ln w="12700">
            <a:solidFill>
              <a:srgbClr val="1E5B9C"/>
            </a:solidFill>
            <a:prstDash val="solid"/>
          </a:ln>
        </p:spPr>
        <p:txBody>
          <a:bodyPr/>
          <a:lstStyle/>
          <a:p>
            <a:endParaRPr lang="en-IN"/>
          </a:p>
        </p:txBody>
      </p:sp>
      <p:sp>
        <p:nvSpPr>
          <p:cNvPr id="5" name="Text 3"/>
          <p:cNvSpPr/>
          <p:nvPr/>
        </p:nvSpPr>
        <p:spPr>
          <a:xfrm>
            <a:off x="201168" y="1005840"/>
            <a:ext cx="1161288" cy="7315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Banks</a:t>
            </a:r>
            <a:endParaRPr lang="en-US" sz="1000" dirty="0"/>
          </a:p>
        </p:txBody>
      </p:sp>
      <p:sp>
        <p:nvSpPr>
          <p:cNvPr id="6" name="Shape 4"/>
          <p:cNvSpPr/>
          <p:nvPr/>
        </p:nvSpPr>
        <p:spPr>
          <a:xfrm>
            <a:off x="201168" y="1874520"/>
            <a:ext cx="1161288" cy="50292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7" name="Shape 5"/>
          <p:cNvSpPr/>
          <p:nvPr/>
        </p:nvSpPr>
        <p:spPr>
          <a:xfrm>
            <a:off x="201168" y="1874520"/>
            <a:ext cx="45720" cy="502920"/>
          </a:xfrm>
          <a:prstGeom prst="rect">
            <a:avLst/>
          </a:prstGeom>
          <a:solidFill>
            <a:srgbClr val="1E5B9C"/>
          </a:solidFill>
          <a:ln w="12700">
            <a:solidFill>
              <a:srgbClr val="1E5B9C"/>
            </a:solidFill>
            <a:prstDash val="solid"/>
          </a:ln>
        </p:spPr>
        <p:txBody>
          <a:bodyPr/>
          <a:lstStyle/>
          <a:p>
            <a:endParaRPr lang="en-IN"/>
          </a:p>
        </p:txBody>
      </p:sp>
      <p:sp>
        <p:nvSpPr>
          <p:cNvPr id="8" name="Text 6"/>
          <p:cNvSpPr/>
          <p:nvPr/>
        </p:nvSpPr>
        <p:spPr>
          <a:xfrm>
            <a:off x="292608" y="1874520"/>
            <a:ext cx="1069848" cy="502920"/>
          </a:xfrm>
          <a:prstGeom prst="rect">
            <a:avLst/>
          </a:prstGeom>
          <a:noFill/>
          <a:ln/>
        </p:spPr>
        <p:txBody>
          <a:bodyPr wrap="square" rtlCol="0" anchor="ctr"/>
          <a:lstStyle/>
          <a:p>
            <a:pPr marL="0" indent="0">
              <a:buNone/>
            </a:pPr>
            <a:r>
              <a:rPr lang="en-US" sz="1000" dirty="0">
                <a:solidFill>
                  <a:srgbClr val="1A2840"/>
                </a:solidFill>
                <a:latin typeface="Calibri" pitchFamily="34" charset="0"/>
                <a:ea typeface="Calibri" pitchFamily="34" charset="-122"/>
                <a:cs typeface="Calibri" pitchFamily="34" charset="-120"/>
              </a:rPr>
              <a:t>The Federal Reserve</a:t>
            </a:r>
            <a:endParaRPr lang="en-US" sz="1000" dirty="0"/>
          </a:p>
        </p:txBody>
      </p:sp>
      <p:sp>
        <p:nvSpPr>
          <p:cNvPr id="9" name="Shape 7"/>
          <p:cNvSpPr/>
          <p:nvPr/>
        </p:nvSpPr>
        <p:spPr>
          <a:xfrm>
            <a:off x="1453896" y="1005840"/>
            <a:ext cx="1161288" cy="731520"/>
          </a:xfrm>
          <a:prstGeom prst="rect">
            <a:avLst/>
          </a:prstGeom>
          <a:solidFill>
            <a:srgbClr val="0D8070"/>
          </a:solidFill>
          <a:ln w="12700">
            <a:solidFill>
              <a:srgbClr val="0D8070"/>
            </a:solidFill>
            <a:prstDash val="solid"/>
          </a:ln>
        </p:spPr>
        <p:txBody>
          <a:bodyPr/>
          <a:lstStyle/>
          <a:p>
            <a:endParaRPr lang="en-IN"/>
          </a:p>
        </p:txBody>
      </p:sp>
      <p:sp>
        <p:nvSpPr>
          <p:cNvPr id="10" name="Text 8"/>
          <p:cNvSpPr/>
          <p:nvPr/>
        </p:nvSpPr>
        <p:spPr>
          <a:xfrm>
            <a:off x="1453896" y="1005840"/>
            <a:ext cx="1161288" cy="7315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Cash Delivery</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Services</a:t>
            </a:r>
            <a:endParaRPr lang="en-US" sz="1000" dirty="0"/>
          </a:p>
        </p:txBody>
      </p:sp>
      <p:sp>
        <p:nvSpPr>
          <p:cNvPr id="11" name="Shape 9"/>
          <p:cNvSpPr/>
          <p:nvPr/>
        </p:nvSpPr>
        <p:spPr>
          <a:xfrm>
            <a:off x="1453896" y="1874520"/>
            <a:ext cx="1161288" cy="50292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12" name="Shape 10"/>
          <p:cNvSpPr/>
          <p:nvPr/>
        </p:nvSpPr>
        <p:spPr>
          <a:xfrm>
            <a:off x="1453896" y="1874520"/>
            <a:ext cx="45720" cy="502920"/>
          </a:xfrm>
          <a:prstGeom prst="rect">
            <a:avLst/>
          </a:prstGeom>
          <a:solidFill>
            <a:srgbClr val="0D8070"/>
          </a:solidFill>
          <a:ln w="12700">
            <a:solidFill>
              <a:srgbClr val="0D8070"/>
            </a:solidFill>
            <a:prstDash val="solid"/>
          </a:ln>
        </p:spPr>
        <p:txBody>
          <a:bodyPr/>
          <a:lstStyle/>
          <a:p>
            <a:endParaRPr lang="en-IN"/>
          </a:p>
        </p:txBody>
      </p:sp>
      <p:sp>
        <p:nvSpPr>
          <p:cNvPr id="13" name="Text 11"/>
          <p:cNvSpPr/>
          <p:nvPr/>
        </p:nvSpPr>
        <p:spPr>
          <a:xfrm>
            <a:off x="1545336" y="1874520"/>
            <a:ext cx="1069848" cy="502920"/>
          </a:xfrm>
          <a:prstGeom prst="rect">
            <a:avLst/>
          </a:prstGeom>
          <a:noFill/>
          <a:ln/>
        </p:spPr>
        <p:txBody>
          <a:bodyPr wrap="square" rtlCol="0" anchor="ctr"/>
          <a:lstStyle/>
          <a:p>
            <a:pPr marL="0" indent="0">
              <a:buNone/>
            </a:pPr>
            <a:r>
              <a:rPr lang="en-US" sz="1000" dirty="0">
                <a:solidFill>
                  <a:srgbClr val="1A2840"/>
                </a:solidFill>
                <a:latin typeface="Calibri" pitchFamily="34" charset="0"/>
                <a:ea typeface="Calibri" pitchFamily="34" charset="-122"/>
                <a:cs typeface="Calibri" pitchFamily="34" charset="-120"/>
              </a:rPr>
              <a:t>Loomis</a:t>
            </a:r>
            <a:endParaRPr lang="en-US" sz="1000" dirty="0"/>
          </a:p>
        </p:txBody>
      </p:sp>
      <p:sp>
        <p:nvSpPr>
          <p:cNvPr id="14" name="Shape 12"/>
          <p:cNvSpPr/>
          <p:nvPr/>
        </p:nvSpPr>
        <p:spPr>
          <a:xfrm>
            <a:off x="1453896" y="2468880"/>
            <a:ext cx="1161288" cy="50292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15" name="Shape 13"/>
          <p:cNvSpPr/>
          <p:nvPr/>
        </p:nvSpPr>
        <p:spPr>
          <a:xfrm>
            <a:off x="1453896" y="2468880"/>
            <a:ext cx="45720" cy="502920"/>
          </a:xfrm>
          <a:prstGeom prst="rect">
            <a:avLst/>
          </a:prstGeom>
          <a:solidFill>
            <a:srgbClr val="0D8070"/>
          </a:solidFill>
          <a:ln w="12700">
            <a:solidFill>
              <a:srgbClr val="0D8070"/>
            </a:solidFill>
            <a:prstDash val="solid"/>
          </a:ln>
        </p:spPr>
        <p:txBody>
          <a:bodyPr/>
          <a:lstStyle/>
          <a:p>
            <a:endParaRPr lang="en-IN"/>
          </a:p>
        </p:txBody>
      </p:sp>
      <p:sp>
        <p:nvSpPr>
          <p:cNvPr id="16" name="Text 14"/>
          <p:cNvSpPr/>
          <p:nvPr/>
        </p:nvSpPr>
        <p:spPr>
          <a:xfrm>
            <a:off x="1545336" y="2468880"/>
            <a:ext cx="1069848" cy="502920"/>
          </a:xfrm>
          <a:prstGeom prst="rect">
            <a:avLst/>
          </a:prstGeom>
          <a:noFill/>
          <a:ln/>
        </p:spPr>
        <p:txBody>
          <a:bodyPr wrap="square" rtlCol="0" anchor="ctr"/>
          <a:lstStyle/>
          <a:p>
            <a:pPr marL="0" indent="0">
              <a:buNone/>
            </a:pPr>
            <a:r>
              <a:rPr lang="en-US" sz="1000" dirty="0">
                <a:solidFill>
                  <a:srgbClr val="1A2840"/>
                </a:solidFill>
                <a:latin typeface="Calibri" pitchFamily="34" charset="0"/>
                <a:ea typeface="Calibri" pitchFamily="34" charset="-122"/>
                <a:cs typeface="Calibri" pitchFamily="34" charset="-120"/>
              </a:rPr>
              <a:t>Garda</a:t>
            </a:r>
            <a:endParaRPr lang="en-US" sz="1000" dirty="0"/>
          </a:p>
        </p:txBody>
      </p:sp>
      <p:sp>
        <p:nvSpPr>
          <p:cNvPr id="17" name="Shape 15"/>
          <p:cNvSpPr/>
          <p:nvPr/>
        </p:nvSpPr>
        <p:spPr>
          <a:xfrm>
            <a:off x="1453896" y="3063240"/>
            <a:ext cx="1161288" cy="50292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18" name="Shape 16"/>
          <p:cNvSpPr/>
          <p:nvPr/>
        </p:nvSpPr>
        <p:spPr>
          <a:xfrm>
            <a:off x="1453896" y="3063240"/>
            <a:ext cx="45720" cy="502920"/>
          </a:xfrm>
          <a:prstGeom prst="rect">
            <a:avLst/>
          </a:prstGeom>
          <a:solidFill>
            <a:srgbClr val="0D8070"/>
          </a:solidFill>
          <a:ln w="12700">
            <a:solidFill>
              <a:srgbClr val="0D8070"/>
            </a:solidFill>
            <a:prstDash val="solid"/>
          </a:ln>
        </p:spPr>
        <p:txBody>
          <a:bodyPr/>
          <a:lstStyle/>
          <a:p>
            <a:endParaRPr lang="en-IN"/>
          </a:p>
        </p:txBody>
      </p:sp>
      <p:sp>
        <p:nvSpPr>
          <p:cNvPr id="19" name="Text 17"/>
          <p:cNvSpPr/>
          <p:nvPr/>
        </p:nvSpPr>
        <p:spPr>
          <a:xfrm>
            <a:off x="1545336" y="3063240"/>
            <a:ext cx="1069848" cy="502920"/>
          </a:xfrm>
          <a:prstGeom prst="rect">
            <a:avLst/>
          </a:prstGeom>
          <a:noFill/>
          <a:ln/>
        </p:spPr>
        <p:txBody>
          <a:bodyPr wrap="square" rtlCol="0" anchor="ctr"/>
          <a:lstStyle/>
          <a:p>
            <a:pPr marL="0" indent="0">
              <a:buNone/>
            </a:pPr>
            <a:r>
              <a:rPr lang="en-US" sz="1000" dirty="0">
                <a:solidFill>
                  <a:srgbClr val="1A2840"/>
                </a:solidFill>
                <a:latin typeface="Calibri" pitchFamily="34" charset="0"/>
                <a:ea typeface="Calibri" pitchFamily="34" charset="-122"/>
                <a:cs typeface="Calibri" pitchFamily="34" charset="-120"/>
              </a:rPr>
              <a:t>Brinks</a:t>
            </a:r>
            <a:endParaRPr lang="en-US" sz="1000" dirty="0"/>
          </a:p>
        </p:txBody>
      </p:sp>
      <p:sp>
        <p:nvSpPr>
          <p:cNvPr id="20" name="Shape 18"/>
          <p:cNvSpPr/>
          <p:nvPr/>
        </p:nvSpPr>
        <p:spPr>
          <a:xfrm>
            <a:off x="2706624" y="1005840"/>
            <a:ext cx="1161288" cy="731520"/>
          </a:xfrm>
          <a:prstGeom prst="rect">
            <a:avLst/>
          </a:prstGeom>
          <a:solidFill>
            <a:srgbClr val="7B3FA0"/>
          </a:solidFill>
          <a:ln w="12700">
            <a:solidFill>
              <a:srgbClr val="7B3FA0"/>
            </a:solidFill>
            <a:prstDash val="solid"/>
          </a:ln>
        </p:spPr>
        <p:txBody>
          <a:bodyPr/>
          <a:lstStyle/>
          <a:p>
            <a:endParaRPr lang="en-IN"/>
          </a:p>
        </p:txBody>
      </p:sp>
      <p:sp>
        <p:nvSpPr>
          <p:cNvPr id="21" name="Text 19"/>
          <p:cNvSpPr/>
          <p:nvPr/>
        </p:nvSpPr>
        <p:spPr>
          <a:xfrm>
            <a:off x="2706624" y="1005840"/>
            <a:ext cx="1161288" cy="7315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ATM</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Manufacturers</a:t>
            </a:r>
            <a:endParaRPr lang="en-US" sz="1000" dirty="0"/>
          </a:p>
        </p:txBody>
      </p:sp>
      <p:sp>
        <p:nvSpPr>
          <p:cNvPr id="22" name="Shape 20"/>
          <p:cNvSpPr/>
          <p:nvPr/>
        </p:nvSpPr>
        <p:spPr>
          <a:xfrm>
            <a:off x="2706624" y="1874520"/>
            <a:ext cx="1161288" cy="50292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23" name="Shape 21"/>
          <p:cNvSpPr/>
          <p:nvPr/>
        </p:nvSpPr>
        <p:spPr>
          <a:xfrm>
            <a:off x="2706624" y="1874520"/>
            <a:ext cx="45720" cy="502920"/>
          </a:xfrm>
          <a:prstGeom prst="rect">
            <a:avLst/>
          </a:prstGeom>
          <a:solidFill>
            <a:srgbClr val="7B3FA0"/>
          </a:solidFill>
          <a:ln w="12700">
            <a:solidFill>
              <a:srgbClr val="7B3FA0"/>
            </a:solidFill>
            <a:prstDash val="solid"/>
          </a:ln>
        </p:spPr>
        <p:txBody>
          <a:bodyPr/>
          <a:lstStyle/>
          <a:p>
            <a:endParaRPr lang="en-IN"/>
          </a:p>
        </p:txBody>
      </p:sp>
      <p:sp>
        <p:nvSpPr>
          <p:cNvPr id="24" name="Text 22"/>
          <p:cNvSpPr/>
          <p:nvPr/>
        </p:nvSpPr>
        <p:spPr>
          <a:xfrm>
            <a:off x="2798064" y="1874520"/>
            <a:ext cx="1069848" cy="502920"/>
          </a:xfrm>
          <a:prstGeom prst="rect">
            <a:avLst/>
          </a:prstGeom>
          <a:noFill/>
          <a:ln/>
        </p:spPr>
        <p:txBody>
          <a:bodyPr wrap="square" rtlCol="0" anchor="ctr"/>
          <a:lstStyle/>
          <a:p>
            <a:pPr marL="0" indent="0">
              <a:buNone/>
            </a:pPr>
            <a:r>
              <a:rPr lang="en-US" sz="1000" dirty="0">
                <a:solidFill>
                  <a:srgbClr val="1A2840"/>
                </a:solidFill>
                <a:latin typeface="Calibri" pitchFamily="34" charset="0"/>
                <a:ea typeface="Calibri" pitchFamily="34" charset="-122"/>
                <a:cs typeface="Calibri" pitchFamily="34" charset="-120"/>
              </a:rPr>
              <a:t>Diebold</a:t>
            </a:r>
            <a:endParaRPr lang="en-US" sz="1000" dirty="0"/>
          </a:p>
        </p:txBody>
      </p:sp>
      <p:sp>
        <p:nvSpPr>
          <p:cNvPr id="25" name="Shape 23"/>
          <p:cNvSpPr/>
          <p:nvPr/>
        </p:nvSpPr>
        <p:spPr>
          <a:xfrm>
            <a:off x="2706624" y="2468880"/>
            <a:ext cx="1161288" cy="50292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26" name="Shape 24"/>
          <p:cNvSpPr/>
          <p:nvPr/>
        </p:nvSpPr>
        <p:spPr>
          <a:xfrm>
            <a:off x="2706624" y="2468880"/>
            <a:ext cx="45720" cy="502920"/>
          </a:xfrm>
          <a:prstGeom prst="rect">
            <a:avLst/>
          </a:prstGeom>
          <a:solidFill>
            <a:srgbClr val="7B3FA0"/>
          </a:solidFill>
          <a:ln w="12700">
            <a:solidFill>
              <a:srgbClr val="7B3FA0"/>
            </a:solidFill>
            <a:prstDash val="solid"/>
          </a:ln>
        </p:spPr>
        <p:txBody>
          <a:bodyPr/>
          <a:lstStyle/>
          <a:p>
            <a:endParaRPr lang="en-IN"/>
          </a:p>
        </p:txBody>
      </p:sp>
      <p:sp>
        <p:nvSpPr>
          <p:cNvPr id="27" name="Text 25"/>
          <p:cNvSpPr/>
          <p:nvPr/>
        </p:nvSpPr>
        <p:spPr>
          <a:xfrm>
            <a:off x="2798064" y="2468880"/>
            <a:ext cx="1069848" cy="502920"/>
          </a:xfrm>
          <a:prstGeom prst="rect">
            <a:avLst/>
          </a:prstGeom>
          <a:noFill/>
          <a:ln/>
        </p:spPr>
        <p:txBody>
          <a:bodyPr wrap="square" rtlCol="0" anchor="ctr"/>
          <a:lstStyle/>
          <a:p>
            <a:pPr marL="0" indent="0">
              <a:buNone/>
            </a:pPr>
            <a:r>
              <a:rPr lang="en-US" sz="1000" dirty="0">
                <a:solidFill>
                  <a:srgbClr val="1A2840"/>
                </a:solidFill>
                <a:latin typeface="Calibri" pitchFamily="34" charset="0"/>
                <a:ea typeface="Calibri" pitchFamily="34" charset="-122"/>
                <a:cs typeface="Calibri" pitchFamily="34" charset="-120"/>
              </a:rPr>
              <a:t>NCR</a:t>
            </a:r>
            <a:endParaRPr lang="en-US" sz="1000" dirty="0"/>
          </a:p>
        </p:txBody>
      </p:sp>
      <p:sp>
        <p:nvSpPr>
          <p:cNvPr id="28" name="Shape 26"/>
          <p:cNvSpPr/>
          <p:nvPr/>
        </p:nvSpPr>
        <p:spPr>
          <a:xfrm>
            <a:off x="3959352" y="1005840"/>
            <a:ext cx="1161288" cy="731520"/>
          </a:xfrm>
          <a:prstGeom prst="rect">
            <a:avLst/>
          </a:prstGeom>
          <a:solidFill>
            <a:srgbClr val="C0392B"/>
          </a:solidFill>
          <a:ln w="12700">
            <a:solidFill>
              <a:srgbClr val="C0392B"/>
            </a:solidFill>
            <a:prstDash val="solid"/>
          </a:ln>
        </p:spPr>
        <p:txBody>
          <a:bodyPr/>
          <a:lstStyle/>
          <a:p>
            <a:endParaRPr lang="en-IN"/>
          </a:p>
        </p:txBody>
      </p:sp>
      <p:sp>
        <p:nvSpPr>
          <p:cNvPr id="29" name="Text 27"/>
          <p:cNvSpPr/>
          <p:nvPr/>
        </p:nvSpPr>
        <p:spPr>
          <a:xfrm>
            <a:off x="3959352" y="1005840"/>
            <a:ext cx="1161288" cy="7315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Non-Bank</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ATMs</a:t>
            </a:r>
            <a:endParaRPr lang="en-US" sz="1000" dirty="0"/>
          </a:p>
        </p:txBody>
      </p:sp>
      <p:sp>
        <p:nvSpPr>
          <p:cNvPr id="30" name="Shape 28"/>
          <p:cNvSpPr/>
          <p:nvPr/>
        </p:nvSpPr>
        <p:spPr>
          <a:xfrm>
            <a:off x="3959352" y="1874520"/>
            <a:ext cx="1161288" cy="50292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31" name="Shape 29"/>
          <p:cNvSpPr/>
          <p:nvPr/>
        </p:nvSpPr>
        <p:spPr>
          <a:xfrm>
            <a:off x="3959352" y="1874520"/>
            <a:ext cx="45720" cy="502920"/>
          </a:xfrm>
          <a:prstGeom prst="rect">
            <a:avLst/>
          </a:prstGeom>
          <a:solidFill>
            <a:srgbClr val="C0392B"/>
          </a:solidFill>
          <a:ln w="12700">
            <a:solidFill>
              <a:srgbClr val="C0392B"/>
            </a:solidFill>
            <a:prstDash val="solid"/>
          </a:ln>
        </p:spPr>
        <p:txBody>
          <a:bodyPr/>
          <a:lstStyle/>
          <a:p>
            <a:endParaRPr lang="en-IN"/>
          </a:p>
        </p:txBody>
      </p:sp>
      <p:sp>
        <p:nvSpPr>
          <p:cNvPr id="32" name="Text 30"/>
          <p:cNvSpPr/>
          <p:nvPr/>
        </p:nvSpPr>
        <p:spPr>
          <a:xfrm>
            <a:off x="4050792" y="1874520"/>
            <a:ext cx="1069848" cy="502920"/>
          </a:xfrm>
          <a:prstGeom prst="rect">
            <a:avLst/>
          </a:prstGeom>
          <a:noFill/>
          <a:ln/>
        </p:spPr>
        <p:txBody>
          <a:bodyPr wrap="square" rtlCol="0" anchor="ctr"/>
          <a:lstStyle/>
          <a:p>
            <a:pPr marL="0" indent="0">
              <a:buNone/>
            </a:pPr>
            <a:r>
              <a:rPr lang="en-US" sz="1000" dirty="0">
                <a:solidFill>
                  <a:srgbClr val="1A2840"/>
                </a:solidFill>
                <a:latin typeface="Calibri" pitchFamily="34" charset="0"/>
                <a:ea typeface="Calibri" pitchFamily="34" charset="-122"/>
                <a:cs typeface="Calibri" pitchFamily="34" charset="-120"/>
              </a:rPr>
              <a:t>Cardtronics</a:t>
            </a:r>
            <a:endParaRPr lang="en-US" sz="1000" dirty="0"/>
          </a:p>
        </p:txBody>
      </p:sp>
      <p:sp>
        <p:nvSpPr>
          <p:cNvPr id="33" name="Shape 31"/>
          <p:cNvSpPr/>
          <p:nvPr/>
        </p:nvSpPr>
        <p:spPr>
          <a:xfrm>
            <a:off x="3959352" y="2468880"/>
            <a:ext cx="1161288" cy="50292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34" name="Shape 32"/>
          <p:cNvSpPr/>
          <p:nvPr/>
        </p:nvSpPr>
        <p:spPr>
          <a:xfrm>
            <a:off x="3959352" y="2468880"/>
            <a:ext cx="45720" cy="502920"/>
          </a:xfrm>
          <a:prstGeom prst="rect">
            <a:avLst/>
          </a:prstGeom>
          <a:solidFill>
            <a:srgbClr val="C0392B"/>
          </a:solidFill>
          <a:ln w="12700">
            <a:solidFill>
              <a:srgbClr val="C0392B"/>
            </a:solidFill>
            <a:prstDash val="solid"/>
          </a:ln>
        </p:spPr>
        <p:txBody>
          <a:bodyPr/>
          <a:lstStyle/>
          <a:p>
            <a:endParaRPr lang="en-IN"/>
          </a:p>
        </p:txBody>
      </p:sp>
      <p:sp>
        <p:nvSpPr>
          <p:cNvPr id="35" name="Text 33"/>
          <p:cNvSpPr/>
          <p:nvPr/>
        </p:nvSpPr>
        <p:spPr>
          <a:xfrm>
            <a:off x="4050792" y="2468880"/>
            <a:ext cx="1069848" cy="502920"/>
          </a:xfrm>
          <a:prstGeom prst="rect">
            <a:avLst/>
          </a:prstGeom>
          <a:noFill/>
          <a:ln/>
        </p:spPr>
        <p:txBody>
          <a:bodyPr wrap="square" rtlCol="0" anchor="ctr"/>
          <a:lstStyle/>
          <a:p>
            <a:pPr marL="0" indent="0">
              <a:buNone/>
            </a:pPr>
            <a:r>
              <a:rPr lang="en-US" sz="1000" dirty="0">
                <a:solidFill>
                  <a:srgbClr val="1A2840"/>
                </a:solidFill>
                <a:latin typeface="Calibri" pitchFamily="34" charset="0"/>
                <a:ea typeface="Calibri" pitchFamily="34" charset="-122"/>
                <a:cs typeface="Calibri" pitchFamily="34" charset="-120"/>
              </a:rPr>
              <a:t>Payment Alliance</a:t>
            </a:r>
            <a:endParaRPr lang="en-US" sz="1000" dirty="0"/>
          </a:p>
        </p:txBody>
      </p:sp>
      <p:sp>
        <p:nvSpPr>
          <p:cNvPr id="36" name="Shape 34"/>
          <p:cNvSpPr/>
          <p:nvPr/>
        </p:nvSpPr>
        <p:spPr>
          <a:xfrm>
            <a:off x="5212080" y="1005840"/>
            <a:ext cx="1161288" cy="731520"/>
          </a:xfrm>
          <a:prstGeom prst="rect">
            <a:avLst/>
          </a:prstGeom>
          <a:solidFill>
            <a:srgbClr val="1A8754"/>
          </a:solidFill>
          <a:ln w="12700">
            <a:solidFill>
              <a:srgbClr val="1A8754"/>
            </a:solidFill>
            <a:prstDash val="solid"/>
          </a:ln>
        </p:spPr>
        <p:txBody>
          <a:bodyPr/>
          <a:lstStyle/>
          <a:p>
            <a:endParaRPr lang="en-IN"/>
          </a:p>
        </p:txBody>
      </p:sp>
      <p:sp>
        <p:nvSpPr>
          <p:cNvPr id="37" name="Text 35"/>
          <p:cNvSpPr/>
          <p:nvPr/>
        </p:nvSpPr>
        <p:spPr>
          <a:xfrm>
            <a:off x="5212080" y="1005840"/>
            <a:ext cx="1161288" cy="7315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Surcharge-Free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Networks</a:t>
            </a:r>
            <a:endParaRPr lang="en-US" sz="1000" dirty="0"/>
          </a:p>
        </p:txBody>
      </p:sp>
      <p:sp>
        <p:nvSpPr>
          <p:cNvPr id="38" name="Shape 36"/>
          <p:cNvSpPr/>
          <p:nvPr/>
        </p:nvSpPr>
        <p:spPr>
          <a:xfrm>
            <a:off x="5212080" y="1874520"/>
            <a:ext cx="1161288" cy="50292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39" name="Shape 37"/>
          <p:cNvSpPr/>
          <p:nvPr/>
        </p:nvSpPr>
        <p:spPr>
          <a:xfrm>
            <a:off x="5212080" y="1874520"/>
            <a:ext cx="45720" cy="502920"/>
          </a:xfrm>
          <a:prstGeom prst="rect">
            <a:avLst/>
          </a:prstGeom>
          <a:solidFill>
            <a:srgbClr val="1A8754"/>
          </a:solidFill>
          <a:ln w="12700">
            <a:solidFill>
              <a:srgbClr val="1A8754"/>
            </a:solidFill>
            <a:prstDash val="solid"/>
          </a:ln>
        </p:spPr>
        <p:txBody>
          <a:bodyPr/>
          <a:lstStyle/>
          <a:p>
            <a:endParaRPr lang="en-IN"/>
          </a:p>
        </p:txBody>
      </p:sp>
      <p:sp>
        <p:nvSpPr>
          <p:cNvPr id="40" name="Text 38"/>
          <p:cNvSpPr/>
          <p:nvPr/>
        </p:nvSpPr>
        <p:spPr>
          <a:xfrm>
            <a:off x="5303520" y="1874520"/>
            <a:ext cx="1069848" cy="502920"/>
          </a:xfrm>
          <a:prstGeom prst="rect">
            <a:avLst/>
          </a:prstGeom>
          <a:noFill/>
          <a:ln/>
        </p:spPr>
        <p:txBody>
          <a:bodyPr wrap="square" rtlCol="0" anchor="ctr"/>
          <a:lstStyle/>
          <a:p>
            <a:pPr marL="0" indent="0">
              <a:buNone/>
            </a:pPr>
            <a:r>
              <a:rPr lang="en-US" sz="1000" dirty="0">
                <a:solidFill>
                  <a:srgbClr val="1A2840"/>
                </a:solidFill>
                <a:latin typeface="Calibri" pitchFamily="34" charset="0"/>
                <a:ea typeface="Calibri" pitchFamily="34" charset="-122"/>
                <a:cs typeface="Calibri" pitchFamily="34" charset="-120"/>
              </a:rPr>
              <a:t>Allpoint (Cardtronics)</a:t>
            </a:r>
            <a:endParaRPr lang="en-US" sz="1000" dirty="0"/>
          </a:p>
        </p:txBody>
      </p:sp>
      <p:sp>
        <p:nvSpPr>
          <p:cNvPr id="41" name="Shape 39"/>
          <p:cNvSpPr/>
          <p:nvPr/>
        </p:nvSpPr>
        <p:spPr>
          <a:xfrm>
            <a:off x="5212080" y="2468880"/>
            <a:ext cx="1161288" cy="50292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42" name="Shape 40"/>
          <p:cNvSpPr/>
          <p:nvPr/>
        </p:nvSpPr>
        <p:spPr>
          <a:xfrm>
            <a:off x="5212080" y="2468880"/>
            <a:ext cx="45720" cy="502920"/>
          </a:xfrm>
          <a:prstGeom prst="rect">
            <a:avLst/>
          </a:prstGeom>
          <a:solidFill>
            <a:srgbClr val="1A8754"/>
          </a:solidFill>
          <a:ln w="12700">
            <a:solidFill>
              <a:srgbClr val="1A8754"/>
            </a:solidFill>
            <a:prstDash val="solid"/>
          </a:ln>
        </p:spPr>
        <p:txBody>
          <a:bodyPr/>
          <a:lstStyle/>
          <a:p>
            <a:endParaRPr lang="en-IN"/>
          </a:p>
        </p:txBody>
      </p:sp>
      <p:sp>
        <p:nvSpPr>
          <p:cNvPr id="43" name="Text 41"/>
          <p:cNvSpPr/>
          <p:nvPr/>
        </p:nvSpPr>
        <p:spPr>
          <a:xfrm>
            <a:off x="5303520" y="2468880"/>
            <a:ext cx="1069848" cy="502920"/>
          </a:xfrm>
          <a:prstGeom prst="rect">
            <a:avLst/>
          </a:prstGeom>
          <a:noFill/>
          <a:ln/>
        </p:spPr>
        <p:txBody>
          <a:bodyPr wrap="square" rtlCol="0" anchor="ctr"/>
          <a:lstStyle/>
          <a:p>
            <a:pPr marL="0" indent="0">
              <a:buNone/>
            </a:pPr>
            <a:r>
              <a:rPr lang="en-US" sz="1000" dirty="0">
                <a:solidFill>
                  <a:srgbClr val="1A2840"/>
                </a:solidFill>
                <a:latin typeface="Calibri" pitchFamily="34" charset="0"/>
                <a:ea typeface="Calibri" pitchFamily="34" charset="-122"/>
                <a:cs typeface="Calibri" pitchFamily="34" charset="-120"/>
              </a:rPr>
              <a:t>MoneyPass</a:t>
            </a:r>
            <a:endParaRPr lang="en-US" sz="1000" dirty="0"/>
          </a:p>
        </p:txBody>
      </p:sp>
      <p:sp>
        <p:nvSpPr>
          <p:cNvPr id="44" name="Shape 42"/>
          <p:cNvSpPr/>
          <p:nvPr/>
        </p:nvSpPr>
        <p:spPr>
          <a:xfrm>
            <a:off x="6464808" y="1005840"/>
            <a:ext cx="1161288" cy="731520"/>
          </a:xfrm>
          <a:prstGeom prst="rect">
            <a:avLst/>
          </a:prstGeom>
          <a:solidFill>
            <a:srgbClr val="C56A00"/>
          </a:solidFill>
          <a:ln w="12700">
            <a:solidFill>
              <a:srgbClr val="C56A00"/>
            </a:solidFill>
            <a:prstDash val="solid"/>
          </a:ln>
        </p:spPr>
        <p:txBody>
          <a:bodyPr/>
          <a:lstStyle/>
          <a:p>
            <a:endParaRPr lang="en-IN"/>
          </a:p>
        </p:txBody>
      </p:sp>
      <p:sp>
        <p:nvSpPr>
          <p:cNvPr id="45" name="Text 43"/>
          <p:cNvSpPr/>
          <p:nvPr/>
        </p:nvSpPr>
        <p:spPr>
          <a:xfrm>
            <a:off x="6464808" y="1005840"/>
            <a:ext cx="1161288" cy="7315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Anti-Money</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Laundering</a:t>
            </a:r>
            <a:endParaRPr lang="en-US" sz="1000" dirty="0"/>
          </a:p>
        </p:txBody>
      </p:sp>
      <p:sp>
        <p:nvSpPr>
          <p:cNvPr id="46" name="Shape 44"/>
          <p:cNvSpPr/>
          <p:nvPr/>
        </p:nvSpPr>
        <p:spPr>
          <a:xfrm>
            <a:off x="6464808" y="1874520"/>
            <a:ext cx="1161288" cy="50292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47" name="Shape 45"/>
          <p:cNvSpPr/>
          <p:nvPr/>
        </p:nvSpPr>
        <p:spPr>
          <a:xfrm>
            <a:off x="6464808" y="1874520"/>
            <a:ext cx="45720" cy="502920"/>
          </a:xfrm>
          <a:prstGeom prst="rect">
            <a:avLst/>
          </a:prstGeom>
          <a:solidFill>
            <a:srgbClr val="C56A00"/>
          </a:solidFill>
          <a:ln w="12700">
            <a:solidFill>
              <a:srgbClr val="C56A00"/>
            </a:solidFill>
            <a:prstDash val="solid"/>
          </a:ln>
        </p:spPr>
        <p:txBody>
          <a:bodyPr/>
          <a:lstStyle/>
          <a:p>
            <a:endParaRPr lang="en-IN"/>
          </a:p>
        </p:txBody>
      </p:sp>
      <p:sp>
        <p:nvSpPr>
          <p:cNvPr id="48" name="Text 46"/>
          <p:cNvSpPr/>
          <p:nvPr/>
        </p:nvSpPr>
        <p:spPr>
          <a:xfrm>
            <a:off x="6556248" y="1874520"/>
            <a:ext cx="1069848" cy="502920"/>
          </a:xfrm>
          <a:prstGeom prst="rect">
            <a:avLst/>
          </a:prstGeom>
          <a:noFill/>
          <a:ln/>
        </p:spPr>
        <p:txBody>
          <a:bodyPr wrap="square" rtlCol="0" anchor="ctr"/>
          <a:lstStyle/>
          <a:p>
            <a:pPr marL="0" indent="0">
              <a:buNone/>
            </a:pPr>
            <a:r>
              <a:rPr lang="en-US" sz="1000" dirty="0">
                <a:solidFill>
                  <a:srgbClr val="1A2840"/>
                </a:solidFill>
                <a:latin typeface="Calibri" pitchFamily="34" charset="0"/>
                <a:ea typeface="Calibri" pitchFamily="34" charset="-122"/>
                <a:cs typeface="Calibri" pitchFamily="34" charset="-120"/>
              </a:rPr>
              <a:t>Oracle/Mantis</a:t>
            </a:r>
            <a:endParaRPr lang="en-US" sz="1000" dirty="0"/>
          </a:p>
        </p:txBody>
      </p:sp>
      <p:sp>
        <p:nvSpPr>
          <p:cNvPr id="49" name="Shape 47"/>
          <p:cNvSpPr/>
          <p:nvPr/>
        </p:nvSpPr>
        <p:spPr>
          <a:xfrm>
            <a:off x="6464808" y="2468880"/>
            <a:ext cx="1161288" cy="50292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50" name="Shape 48"/>
          <p:cNvSpPr/>
          <p:nvPr/>
        </p:nvSpPr>
        <p:spPr>
          <a:xfrm>
            <a:off x="6464808" y="2468880"/>
            <a:ext cx="45720" cy="502920"/>
          </a:xfrm>
          <a:prstGeom prst="rect">
            <a:avLst/>
          </a:prstGeom>
          <a:solidFill>
            <a:srgbClr val="C56A00"/>
          </a:solidFill>
          <a:ln w="12700">
            <a:solidFill>
              <a:srgbClr val="C56A00"/>
            </a:solidFill>
            <a:prstDash val="solid"/>
          </a:ln>
        </p:spPr>
        <p:txBody>
          <a:bodyPr/>
          <a:lstStyle/>
          <a:p>
            <a:endParaRPr lang="en-IN"/>
          </a:p>
        </p:txBody>
      </p:sp>
      <p:sp>
        <p:nvSpPr>
          <p:cNvPr id="51" name="Text 49"/>
          <p:cNvSpPr/>
          <p:nvPr/>
        </p:nvSpPr>
        <p:spPr>
          <a:xfrm>
            <a:off x="6556248" y="2468880"/>
            <a:ext cx="1069848" cy="502920"/>
          </a:xfrm>
          <a:prstGeom prst="rect">
            <a:avLst/>
          </a:prstGeom>
          <a:noFill/>
          <a:ln/>
        </p:spPr>
        <p:txBody>
          <a:bodyPr wrap="square" rtlCol="0" anchor="ctr"/>
          <a:lstStyle/>
          <a:p>
            <a:pPr marL="0" indent="0">
              <a:buNone/>
            </a:pPr>
            <a:r>
              <a:rPr lang="en-US" sz="1000" dirty="0">
                <a:solidFill>
                  <a:srgbClr val="1A2840"/>
                </a:solidFill>
                <a:latin typeface="Calibri" pitchFamily="34" charset="0"/>
                <a:ea typeface="Calibri" pitchFamily="34" charset="-122"/>
                <a:cs typeface="Calibri" pitchFamily="34" charset="-120"/>
              </a:rPr>
              <a:t>Actimize/Fortent</a:t>
            </a:r>
            <a:endParaRPr lang="en-US" sz="1000" dirty="0"/>
          </a:p>
        </p:txBody>
      </p:sp>
      <p:sp>
        <p:nvSpPr>
          <p:cNvPr id="52" name="Shape 50"/>
          <p:cNvSpPr/>
          <p:nvPr/>
        </p:nvSpPr>
        <p:spPr>
          <a:xfrm>
            <a:off x="7717536" y="1005840"/>
            <a:ext cx="1161288" cy="731520"/>
          </a:xfrm>
          <a:prstGeom prst="rect">
            <a:avLst/>
          </a:prstGeom>
          <a:solidFill>
            <a:srgbClr val="555555"/>
          </a:solidFill>
          <a:ln w="12700">
            <a:solidFill>
              <a:srgbClr val="555555"/>
            </a:solidFill>
            <a:prstDash val="solid"/>
          </a:ln>
        </p:spPr>
        <p:txBody>
          <a:bodyPr/>
          <a:lstStyle/>
          <a:p>
            <a:endParaRPr lang="en-IN"/>
          </a:p>
        </p:txBody>
      </p:sp>
      <p:sp>
        <p:nvSpPr>
          <p:cNvPr id="53" name="Text 51"/>
          <p:cNvSpPr/>
          <p:nvPr/>
        </p:nvSpPr>
        <p:spPr>
          <a:xfrm>
            <a:off x="7717536" y="1005840"/>
            <a:ext cx="1161288" cy="7315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Counterfeit</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Detection</a:t>
            </a:r>
            <a:endParaRPr lang="en-US" sz="1000" dirty="0"/>
          </a:p>
        </p:txBody>
      </p:sp>
      <p:sp>
        <p:nvSpPr>
          <p:cNvPr id="54" name="Shape 52"/>
          <p:cNvSpPr/>
          <p:nvPr/>
        </p:nvSpPr>
        <p:spPr>
          <a:xfrm>
            <a:off x="7717536" y="1874520"/>
            <a:ext cx="1161288" cy="502920"/>
          </a:xfrm>
          <a:prstGeom prst="rect">
            <a:avLst/>
          </a:prstGeom>
          <a:solidFill>
            <a:srgbClr val="FFFFFF"/>
          </a:solidFill>
          <a:ln w="12700">
            <a:solidFill>
              <a:srgbClr val="E8ECF2"/>
            </a:solidFill>
            <a:prstDash val="solid"/>
          </a:ln>
          <a:effectLst>
            <a:outerShdw blurRad="38100" dist="12700" dir="8100000" algn="bl" rotWithShape="0">
              <a:srgbClr val="000000">
                <a:alpha val="7000"/>
              </a:srgbClr>
            </a:outerShdw>
          </a:effectLst>
        </p:spPr>
        <p:txBody>
          <a:bodyPr/>
          <a:lstStyle/>
          <a:p>
            <a:endParaRPr lang="en-IN"/>
          </a:p>
        </p:txBody>
      </p:sp>
      <p:sp>
        <p:nvSpPr>
          <p:cNvPr id="55" name="Shape 53"/>
          <p:cNvSpPr/>
          <p:nvPr/>
        </p:nvSpPr>
        <p:spPr>
          <a:xfrm>
            <a:off x="7717536" y="1874520"/>
            <a:ext cx="45720" cy="502920"/>
          </a:xfrm>
          <a:prstGeom prst="rect">
            <a:avLst/>
          </a:prstGeom>
          <a:solidFill>
            <a:srgbClr val="555555"/>
          </a:solidFill>
          <a:ln w="12700">
            <a:solidFill>
              <a:srgbClr val="555555"/>
            </a:solidFill>
            <a:prstDash val="solid"/>
          </a:ln>
        </p:spPr>
        <p:txBody>
          <a:bodyPr/>
          <a:lstStyle/>
          <a:p>
            <a:endParaRPr lang="en-IN"/>
          </a:p>
        </p:txBody>
      </p:sp>
      <p:sp>
        <p:nvSpPr>
          <p:cNvPr id="56" name="Text 54"/>
          <p:cNvSpPr/>
          <p:nvPr/>
        </p:nvSpPr>
        <p:spPr>
          <a:xfrm>
            <a:off x="7808976" y="1874520"/>
            <a:ext cx="1069848" cy="502920"/>
          </a:xfrm>
          <a:prstGeom prst="rect">
            <a:avLst/>
          </a:prstGeom>
          <a:noFill/>
          <a:ln/>
        </p:spPr>
        <p:txBody>
          <a:bodyPr wrap="square" rtlCol="0" anchor="ctr"/>
          <a:lstStyle/>
          <a:p>
            <a:pPr marL="0" indent="0">
              <a:buNone/>
            </a:pPr>
            <a:r>
              <a:rPr lang="en-US" sz="1000" dirty="0">
                <a:solidFill>
                  <a:srgbClr val="1A2840"/>
                </a:solidFill>
                <a:latin typeface="Calibri" pitchFamily="34" charset="0"/>
                <a:ea typeface="Calibri" pitchFamily="34" charset="-122"/>
                <a:cs typeface="Calibri" pitchFamily="34" charset="-120"/>
              </a:rPr>
              <a:t>AceDepot</a:t>
            </a:r>
            <a:endParaRPr lang="en-US" sz="1000" dirty="0"/>
          </a:p>
        </p:txBody>
      </p:sp>
      <p:sp>
        <p:nvSpPr>
          <p:cNvPr id="57" name="Text 55"/>
          <p:cNvSpPr/>
          <p:nvPr/>
        </p:nvSpPr>
        <p:spPr>
          <a:xfrm>
            <a:off x="274320" y="4846320"/>
            <a:ext cx="8595360" cy="274320"/>
          </a:xfrm>
          <a:prstGeom prst="rect">
            <a:avLst/>
          </a:prstGeom>
          <a:noFill/>
          <a:ln/>
        </p:spPr>
        <p:txBody>
          <a:bodyPr wrap="square" rtlCol="0" anchor="ctr"/>
          <a:lstStyle/>
          <a:p>
            <a:pPr marL="0" indent="0">
              <a:buNone/>
            </a:pPr>
            <a:r>
              <a:rPr lang="en-US" sz="1000" i="1" dirty="0">
                <a:solidFill>
                  <a:srgbClr val="8899AA"/>
                </a:solidFill>
                <a:latin typeface="Calibri" pitchFamily="34" charset="0"/>
                <a:ea typeface="Calibri" pitchFamily="34" charset="-122"/>
                <a:cs typeface="Calibri" pitchFamily="34" charset="-120"/>
              </a:rPr>
              <a:t>* Not all providers or categories are listed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txBody>
          <a:bodyPr/>
          <a:lstStyle/>
          <a:p>
            <a:endParaRPr lang="en-IN"/>
          </a:p>
        </p:txBody>
      </p:sp>
      <p:sp>
        <p:nvSpPr>
          <p:cNvPr id="3" name="Text 1"/>
          <p:cNvSpPr/>
          <p:nvPr/>
        </p:nvSpPr>
        <p:spPr>
          <a:xfrm>
            <a:off x="274320" y="0"/>
            <a:ext cx="8229600" cy="91440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Trends in Cash</a:t>
            </a:r>
            <a:endParaRPr lang="en-US" sz="2200" dirty="0"/>
          </a:p>
        </p:txBody>
      </p:sp>
      <p:sp>
        <p:nvSpPr>
          <p:cNvPr id="4" name="Shape 2"/>
          <p:cNvSpPr/>
          <p:nvPr/>
        </p:nvSpPr>
        <p:spPr>
          <a:xfrm>
            <a:off x="1302232" y="1115568"/>
            <a:ext cx="2743200" cy="1691640"/>
          </a:xfrm>
          <a:prstGeom prst="rect">
            <a:avLst/>
          </a:prstGeom>
          <a:solidFill>
            <a:srgbClr val="FFFFFF"/>
          </a:solidFill>
          <a:ln w="12700">
            <a:solidFill>
              <a:srgbClr val="E8ECF2"/>
            </a:solidFill>
            <a:prstDash val="solid"/>
          </a:ln>
          <a:effectLst>
            <a:outerShdw blurRad="50800" dist="25400" dir="8100000" algn="bl" rotWithShape="0">
              <a:srgbClr val="000000">
                <a:alpha val="8000"/>
              </a:srgbClr>
            </a:outerShdw>
          </a:effectLst>
        </p:spPr>
        <p:txBody>
          <a:bodyPr/>
          <a:lstStyle/>
          <a:p>
            <a:endParaRPr lang="en-IN"/>
          </a:p>
        </p:txBody>
      </p:sp>
      <p:sp>
        <p:nvSpPr>
          <p:cNvPr id="5" name="Shape 3"/>
          <p:cNvSpPr/>
          <p:nvPr/>
        </p:nvSpPr>
        <p:spPr>
          <a:xfrm>
            <a:off x="1302232" y="1115568"/>
            <a:ext cx="2743200" cy="438912"/>
          </a:xfrm>
          <a:prstGeom prst="rect">
            <a:avLst/>
          </a:prstGeom>
          <a:solidFill>
            <a:srgbClr val="C0392B"/>
          </a:solidFill>
          <a:ln w="12700">
            <a:solidFill>
              <a:srgbClr val="C0392B"/>
            </a:solidFill>
            <a:prstDash val="solid"/>
          </a:ln>
        </p:spPr>
        <p:txBody>
          <a:bodyPr/>
          <a:lstStyle/>
          <a:p>
            <a:endParaRPr lang="en-IN"/>
          </a:p>
        </p:txBody>
      </p:sp>
      <p:sp>
        <p:nvSpPr>
          <p:cNvPr id="6" name="Text 4"/>
          <p:cNvSpPr/>
          <p:nvPr/>
        </p:nvSpPr>
        <p:spPr>
          <a:xfrm>
            <a:off x="1302232" y="1115568"/>
            <a:ext cx="2743200"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Declining POS Usage</a:t>
            </a:r>
            <a:endParaRPr lang="en-US" sz="1200" dirty="0"/>
          </a:p>
        </p:txBody>
      </p:sp>
      <p:sp>
        <p:nvSpPr>
          <p:cNvPr id="7" name="Text 5"/>
          <p:cNvSpPr/>
          <p:nvPr/>
        </p:nvSpPr>
        <p:spPr>
          <a:xfrm>
            <a:off x="1411960" y="1618488"/>
            <a:ext cx="2523744" cy="1097280"/>
          </a:xfrm>
          <a:prstGeom prst="rect">
            <a:avLst/>
          </a:prstGeom>
          <a:noFill/>
          <a:ln/>
        </p:spPr>
        <p:txBody>
          <a:bodyPr wrap="square" rtlCol="0" anchor="ctr"/>
          <a:lstStyle/>
          <a:p>
            <a:pPr marL="0" indent="0">
              <a:buNone/>
            </a:pPr>
            <a:r>
              <a:rPr lang="en-US" sz="1100" dirty="0">
                <a:solidFill>
                  <a:srgbClr val="2A3848"/>
                </a:solidFill>
                <a:latin typeface="Calibri" pitchFamily="34" charset="0"/>
                <a:ea typeface="Calibri" pitchFamily="34" charset="-122"/>
                <a:cs typeface="Calibri" pitchFamily="34" charset="-120"/>
              </a:rPr>
              <a:t>Use of cash at point of sale is falling as card and contactless payments become preferred for in-store purchases.</a:t>
            </a:r>
            <a:endParaRPr lang="en-US" sz="1100" dirty="0"/>
          </a:p>
        </p:txBody>
      </p:sp>
      <p:sp>
        <p:nvSpPr>
          <p:cNvPr id="8" name="Shape 6"/>
          <p:cNvSpPr/>
          <p:nvPr/>
        </p:nvSpPr>
        <p:spPr>
          <a:xfrm>
            <a:off x="4903076" y="1115568"/>
            <a:ext cx="2743200" cy="1691640"/>
          </a:xfrm>
          <a:prstGeom prst="rect">
            <a:avLst/>
          </a:prstGeom>
          <a:solidFill>
            <a:srgbClr val="FFFFFF"/>
          </a:solidFill>
          <a:ln w="12700">
            <a:solidFill>
              <a:srgbClr val="E8ECF2"/>
            </a:solidFill>
            <a:prstDash val="solid"/>
          </a:ln>
          <a:effectLst>
            <a:outerShdw blurRad="50800" dist="25400" dir="8100000" algn="bl" rotWithShape="0">
              <a:srgbClr val="000000">
                <a:alpha val="8000"/>
              </a:srgbClr>
            </a:outerShdw>
          </a:effectLst>
        </p:spPr>
        <p:txBody>
          <a:bodyPr/>
          <a:lstStyle/>
          <a:p>
            <a:endParaRPr lang="en-IN"/>
          </a:p>
        </p:txBody>
      </p:sp>
      <p:sp>
        <p:nvSpPr>
          <p:cNvPr id="9" name="Shape 7"/>
          <p:cNvSpPr/>
          <p:nvPr/>
        </p:nvSpPr>
        <p:spPr>
          <a:xfrm>
            <a:off x="4903076" y="1115568"/>
            <a:ext cx="2743200" cy="438912"/>
          </a:xfrm>
          <a:prstGeom prst="rect">
            <a:avLst/>
          </a:prstGeom>
          <a:solidFill>
            <a:srgbClr val="1A8754"/>
          </a:solidFill>
          <a:ln w="12700">
            <a:solidFill>
              <a:srgbClr val="1A8754"/>
            </a:solidFill>
            <a:prstDash val="solid"/>
          </a:ln>
        </p:spPr>
        <p:txBody>
          <a:bodyPr/>
          <a:lstStyle/>
          <a:p>
            <a:endParaRPr lang="en-IN"/>
          </a:p>
        </p:txBody>
      </p:sp>
      <p:sp>
        <p:nvSpPr>
          <p:cNvPr id="10" name="Text 8"/>
          <p:cNvSpPr/>
          <p:nvPr/>
        </p:nvSpPr>
        <p:spPr>
          <a:xfrm>
            <a:off x="4903076" y="1115568"/>
            <a:ext cx="2743200"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On-Premise Merchant Vaults</a:t>
            </a:r>
            <a:endParaRPr lang="en-US" sz="1200" dirty="0"/>
          </a:p>
        </p:txBody>
      </p:sp>
      <p:sp>
        <p:nvSpPr>
          <p:cNvPr id="11" name="Text 9"/>
          <p:cNvSpPr/>
          <p:nvPr/>
        </p:nvSpPr>
        <p:spPr>
          <a:xfrm>
            <a:off x="5012804" y="1618488"/>
            <a:ext cx="2523744" cy="1097280"/>
          </a:xfrm>
          <a:prstGeom prst="rect">
            <a:avLst/>
          </a:prstGeom>
          <a:noFill/>
          <a:ln/>
        </p:spPr>
        <p:txBody>
          <a:bodyPr wrap="square" rtlCol="0" anchor="ctr"/>
          <a:lstStyle/>
          <a:p>
            <a:pPr marL="0" indent="0">
              <a:buNone/>
            </a:pPr>
            <a:r>
              <a:rPr lang="en-US" sz="1100" dirty="0">
                <a:solidFill>
                  <a:srgbClr val="2A3848"/>
                </a:solidFill>
                <a:latin typeface="Calibri" pitchFamily="34" charset="0"/>
                <a:ea typeface="Calibri" pitchFamily="34" charset="-122"/>
                <a:cs typeface="Calibri" pitchFamily="34" charset="-120"/>
              </a:rPr>
              <a:t>Retailers depositing cash into smart safes on-site that count, verify, and grant immediate bank credit — reducing armored car trips.</a:t>
            </a:r>
            <a:endParaRPr lang="en-US" sz="1100" dirty="0"/>
          </a:p>
        </p:txBody>
      </p:sp>
      <p:sp>
        <p:nvSpPr>
          <p:cNvPr id="12" name="Shape 10"/>
          <p:cNvSpPr/>
          <p:nvPr/>
        </p:nvSpPr>
        <p:spPr>
          <a:xfrm>
            <a:off x="4903076" y="2971800"/>
            <a:ext cx="2743200" cy="1691640"/>
          </a:xfrm>
          <a:prstGeom prst="rect">
            <a:avLst/>
          </a:prstGeom>
          <a:solidFill>
            <a:srgbClr val="FFFFFF"/>
          </a:solidFill>
          <a:ln w="12700">
            <a:solidFill>
              <a:srgbClr val="E8ECF2"/>
            </a:solidFill>
            <a:prstDash val="solid"/>
          </a:ln>
          <a:effectLst>
            <a:outerShdw blurRad="50800" dist="25400" dir="8100000" algn="bl" rotWithShape="0">
              <a:srgbClr val="000000">
                <a:alpha val="8000"/>
              </a:srgbClr>
            </a:outerShdw>
          </a:effectLst>
        </p:spPr>
        <p:txBody>
          <a:bodyPr/>
          <a:lstStyle/>
          <a:p>
            <a:endParaRPr lang="en-IN"/>
          </a:p>
        </p:txBody>
      </p:sp>
      <p:sp>
        <p:nvSpPr>
          <p:cNvPr id="13" name="Shape 11"/>
          <p:cNvSpPr/>
          <p:nvPr/>
        </p:nvSpPr>
        <p:spPr>
          <a:xfrm>
            <a:off x="4903076" y="2971800"/>
            <a:ext cx="2743200" cy="438912"/>
          </a:xfrm>
          <a:prstGeom prst="rect">
            <a:avLst/>
          </a:prstGeom>
          <a:solidFill>
            <a:srgbClr val="1E5B9C"/>
          </a:solidFill>
          <a:ln w="12700">
            <a:solidFill>
              <a:srgbClr val="1E5B9C"/>
            </a:solidFill>
            <a:prstDash val="solid"/>
          </a:ln>
        </p:spPr>
        <p:txBody>
          <a:bodyPr/>
          <a:lstStyle/>
          <a:p>
            <a:endParaRPr lang="en-IN"/>
          </a:p>
        </p:txBody>
      </p:sp>
      <p:sp>
        <p:nvSpPr>
          <p:cNvPr id="14" name="Text 12"/>
          <p:cNvSpPr/>
          <p:nvPr/>
        </p:nvSpPr>
        <p:spPr>
          <a:xfrm>
            <a:off x="4903076" y="2971800"/>
            <a:ext cx="2743200"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Envelope-Free ATMs</a:t>
            </a:r>
            <a:endParaRPr lang="en-US" sz="1200" dirty="0"/>
          </a:p>
        </p:txBody>
      </p:sp>
      <p:sp>
        <p:nvSpPr>
          <p:cNvPr id="15" name="Text 13"/>
          <p:cNvSpPr/>
          <p:nvPr/>
        </p:nvSpPr>
        <p:spPr>
          <a:xfrm>
            <a:off x="5012804" y="3474720"/>
            <a:ext cx="2523744" cy="1097280"/>
          </a:xfrm>
          <a:prstGeom prst="rect">
            <a:avLst/>
          </a:prstGeom>
          <a:noFill/>
          <a:ln/>
        </p:spPr>
        <p:txBody>
          <a:bodyPr wrap="square" rtlCol="0" anchor="ctr"/>
          <a:lstStyle/>
          <a:p>
            <a:pPr marL="0" indent="0">
              <a:buNone/>
            </a:pPr>
            <a:r>
              <a:rPr lang="en-US" sz="1100" dirty="0">
                <a:solidFill>
                  <a:srgbClr val="2A3848"/>
                </a:solidFill>
                <a:latin typeface="Calibri" pitchFamily="34" charset="0"/>
                <a:ea typeface="Calibri" pitchFamily="34" charset="-122"/>
                <a:cs typeface="Calibri" pitchFamily="34" charset="-120"/>
              </a:rPr>
              <a:t>Modern deposit ATMs eliminate envelopes, reducing processing time and error rates, which has led to increased ATM deposit activity.</a:t>
            </a:r>
            <a:endParaRPr lang="en-US" sz="1100" dirty="0"/>
          </a:p>
        </p:txBody>
      </p:sp>
      <p:sp>
        <p:nvSpPr>
          <p:cNvPr id="16" name="Shape 14"/>
          <p:cNvSpPr/>
          <p:nvPr/>
        </p:nvSpPr>
        <p:spPr>
          <a:xfrm>
            <a:off x="1302232" y="3069546"/>
            <a:ext cx="2743200" cy="1691640"/>
          </a:xfrm>
          <a:prstGeom prst="rect">
            <a:avLst/>
          </a:prstGeom>
          <a:solidFill>
            <a:srgbClr val="FFFFFF"/>
          </a:solidFill>
          <a:ln w="12700">
            <a:solidFill>
              <a:srgbClr val="E8ECF2"/>
            </a:solidFill>
            <a:prstDash val="solid"/>
          </a:ln>
          <a:effectLst>
            <a:outerShdw blurRad="50800" dist="25400" dir="8100000" algn="bl" rotWithShape="0">
              <a:srgbClr val="000000">
                <a:alpha val="8000"/>
              </a:srgbClr>
            </a:outerShdw>
          </a:effectLst>
        </p:spPr>
        <p:txBody>
          <a:bodyPr/>
          <a:lstStyle/>
          <a:p>
            <a:endParaRPr lang="en-IN"/>
          </a:p>
        </p:txBody>
      </p:sp>
      <p:sp>
        <p:nvSpPr>
          <p:cNvPr id="17" name="Shape 15"/>
          <p:cNvSpPr/>
          <p:nvPr/>
        </p:nvSpPr>
        <p:spPr>
          <a:xfrm>
            <a:off x="1302232" y="3069546"/>
            <a:ext cx="2743200" cy="438912"/>
          </a:xfrm>
          <a:prstGeom prst="rect">
            <a:avLst/>
          </a:prstGeom>
          <a:solidFill>
            <a:srgbClr val="0D8070"/>
          </a:solidFill>
          <a:ln w="12700">
            <a:solidFill>
              <a:srgbClr val="0D8070"/>
            </a:solidFill>
            <a:prstDash val="solid"/>
          </a:ln>
        </p:spPr>
        <p:txBody>
          <a:bodyPr/>
          <a:lstStyle/>
          <a:p>
            <a:endParaRPr lang="en-IN"/>
          </a:p>
        </p:txBody>
      </p:sp>
      <p:sp>
        <p:nvSpPr>
          <p:cNvPr id="18" name="Text 16"/>
          <p:cNvSpPr/>
          <p:nvPr/>
        </p:nvSpPr>
        <p:spPr>
          <a:xfrm>
            <a:off x="1302232" y="3069546"/>
            <a:ext cx="2743200" cy="43891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Prepaid Cards &amp; Unbanked</a:t>
            </a:r>
            <a:endParaRPr lang="en-US" sz="1200" dirty="0"/>
          </a:p>
        </p:txBody>
      </p:sp>
      <p:sp>
        <p:nvSpPr>
          <p:cNvPr id="19" name="Text 17"/>
          <p:cNvSpPr/>
          <p:nvPr/>
        </p:nvSpPr>
        <p:spPr>
          <a:xfrm>
            <a:off x="1411960" y="3572466"/>
            <a:ext cx="2523744" cy="1097280"/>
          </a:xfrm>
          <a:prstGeom prst="rect">
            <a:avLst/>
          </a:prstGeom>
          <a:noFill/>
          <a:ln/>
        </p:spPr>
        <p:txBody>
          <a:bodyPr wrap="square" rtlCol="0" anchor="ctr"/>
          <a:lstStyle/>
          <a:p>
            <a:pPr marL="0" indent="0">
              <a:buNone/>
            </a:pPr>
            <a:r>
              <a:rPr lang="en-US" sz="1100" dirty="0">
                <a:solidFill>
                  <a:srgbClr val="2A3848"/>
                </a:solidFill>
                <a:latin typeface="Calibri" pitchFamily="34" charset="0"/>
                <a:ea typeface="Calibri" pitchFamily="34" charset="-122"/>
                <a:cs typeface="Calibri" pitchFamily="34" charset="-120"/>
              </a:rPr>
              <a:t>Unbanked consumers using open-loop prepaid cards are driving ATM volumes UP — converting prepaid balances to cash.</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943600" y="-457200"/>
            <a:ext cx="3657600" cy="3657600"/>
          </a:xfrm>
          <a:prstGeom prst="ellipse">
            <a:avLst/>
          </a:prstGeom>
          <a:solidFill>
            <a:srgbClr val="1B3A6B">
              <a:alpha val="30000"/>
            </a:srgbClr>
          </a:solidFill>
          <a:ln w="12700">
            <a:solidFill>
              <a:srgbClr val="1B3A6B">
                <a:alpha val="30000"/>
              </a:srgbClr>
            </a:solidFill>
            <a:prstDash val="solid"/>
          </a:ln>
        </p:spPr>
        <p:txBody>
          <a:bodyPr/>
          <a:lstStyle/>
          <a:p>
            <a:endParaRPr lang="en-IN"/>
          </a:p>
        </p:txBody>
      </p:sp>
      <p:sp>
        <p:nvSpPr>
          <p:cNvPr id="3" name="Shape 1"/>
          <p:cNvSpPr/>
          <p:nvPr/>
        </p:nvSpPr>
        <p:spPr>
          <a:xfrm>
            <a:off x="-914400" y="2743200"/>
            <a:ext cx="3200400" cy="3200400"/>
          </a:xfrm>
          <a:prstGeom prst="ellipse">
            <a:avLst/>
          </a:prstGeom>
          <a:solidFill>
            <a:srgbClr val="1E5B9C">
              <a:alpha val="25000"/>
            </a:srgbClr>
          </a:solidFill>
          <a:ln w="12700">
            <a:solidFill>
              <a:srgbClr val="1E5B9C">
                <a:alpha val="25000"/>
              </a:srgbClr>
            </a:solidFill>
            <a:prstDash val="solid"/>
          </a:ln>
        </p:spPr>
        <p:txBody>
          <a:bodyPr/>
          <a:lstStyle/>
          <a:p>
            <a:endParaRPr lang="en-IN"/>
          </a:p>
        </p:txBody>
      </p:sp>
      <p:sp>
        <p:nvSpPr>
          <p:cNvPr id="4" name="Text 2"/>
          <p:cNvSpPr/>
          <p:nvPr/>
        </p:nvSpPr>
        <p:spPr>
          <a:xfrm>
            <a:off x="548640" y="320040"/>
            <a:ext cx="7315200" cy="640080"/>
          </a:xfrm>
          <a:prstGeom prst="rect">
            <a:avLst/>
          </a:prstGeom>
          <a:noFill/>
          <a:ln/>
        </p:spPr>
        <p:txBody>
          <a:bodyPr wrap="square"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Key Takeaways</a:t>
            </a:r>
            <a:endParaRPr lang="en-US" sz="3200" dirty="0"/>
          </a:p>
        </p:txBody>
      </p:sp>
      <p:sp>
        <p:nvSpPr>
          <p:cNvPr id="5" name="Shape 3"/>
          <p:cNvSpPr/>
          <p:nvPr/>
        </p:nvSpPr>
        <p:spPr>
          <a:xfrm>
            <a:off x="548640" y="914400"/>
            <a:ext cx="54864" cy="3474720"/>
          </a:xfrm>
          <a:prstGeom prst="rect">
            <a:avLst/>
          </a:prstGeom>
          <a:solidFill>
            <a:srgbClr val="E8A020"/>
          </a:solidFill>
          <a:ln w="12700">
            <a:solidFill>
              <a:srgbClr val="E8A020"/>
            </a:solidFill>
            <a:prstDash val="solid"/>
          </a:ln>
        </p:spPr>
        <p:txBody>
          <a:bodyPr/>
          <a:lstStyle/>
          <a:p>
            <a:endParaRPr lang="en-IN"/>
          </a:p>
        </p:txBody>
      </p:sp>
      <p:sp>
        <p:nvSpPr>
          <p:cNvPr id="6" name="Shape 4"/>
          <p:cNvSpPr/>
          <p:nvPr/>
        </p:nvSpPr>
        <p:spPr>
          <a:xfrm>
            <a:off x="777240" y="987552"/>
            <a:ext cx="256032" cy="256032"/>
          </a:xfrm>
          <a:prstGeom prst="ellipse">
            <a:avLst/>
          </a:prstGeom>
          <a:solidFill>
            <a:srgbClr val="E8A020"/>
          </a:solidFill>
          <a:ln w="12700">
            <a:solidFill>
              <a:srgbClr val="E8A020"/>
            </a:solidFill>
            <a:prstDash val="solid"/>
          </a:ln>
        </p:spPr>
        <p:txBody>
          <a:bodyPr/>
          <a:lstStyle/>
          <a:p>
            <a:endParaRPr lang="en-IN"/>
          </a:p>
        </p:txBody>
      </p:sp>
      <p:sp>
        <p:nvSpPr>
          <p:cNvPr id="7" name="Text 5"/>
          <p:cNvSpPr/>
          <p:nvPr/>
        </p:nvSpPr>
        <p:spPr>
          <a:xfrm>
            <a:off x="777240" y="987552"/>
            <a:ext cx="256032" cy="256032"/>
          </a:xfrm>
          <a:prstGeom prst="rect">
            <a:avLst/>
          </a:prstGeom>
          <a:noFill/>
          <a:ln/>
        </p:spPr>
        <p:txBody>
          <a:bodyPr wrap="square"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1143000" y="987552"/>
            <a:ext cx="7680960" cy="603504"/>
          </a:xfrm>
          <a:prstGeom prst="rect">
            <a:avLst/>
          </a:prstGeom>
          <a:noFill/>
          <a:ln/>
        </p:spPr>
        <p:txBody>
          <a:bodyPr wrap="square" rtlCol="0" anchor="ctr"/>
          <a:lstStyle/>
          <a:p>
            <a:pPr marL="0" indent="0">
              <a:buNone/>
            </a:pPr>
            <a:r>
              <a:rPr lang="en-US" sz="1250" dirty="0">
                <a:solidFill>
                  <a:srgbClr val="D0DCF0"/>
                </a:solidFill>
                <a:latin typeface="Calibri" pitchFamily="34" charset="0"/>
                <a:ea typeface="Calibri" pitchFamily="34" charset="-122"/>
                <a:cs typeface="Calibri" pitchFamily="34" charset="-120"/>
              </a:rPr>
              <a:t>Cash is the simplest, most widely-used U.S. payment method — a non-account-based, anonymous, self-clearing push system</a:t>
            </a:r>
            <a:endParaRPr lang="en-US" sz="1250" dirty="0"/>
          </a:p>
        </p:txBody>
      </p:sp>
      <p:sp>
        <p:nvSpPr>
          <p:cNvPr id="9" name="Shape 7"/>
          <p:cNvSpPr/>
          <p:nvPr/>
        </p:nvSpPr>
        <p:spPr>
          <a:xfrm>
            <a:off x="777240" y="1682496"/>
            <a:ext cx="256032" cy="256032"/>
          </a:xfrm>
          <a:prstGeom prst="ellipse">
            <a:avLst/>
          </a:prstGeom>
          <a:solidFill>
            <a:srgbClr val="E8A020"/>
          </a:solidFill>
          <a:ln w="12700">
            <a:solidFill>
              <a:srgbClr val="E8A020"/>
            </a:solidFill>
            <a:prstDash val="solid"/>
          </a:ln>
        </p:spPr>
        <p:txBody>
          <a:bodyPr/>
          <a:lstStyle/>
          <a:p>
            <a:endParaRPr lang="en-IN"/>
          </a:p>
        </p:txBody>
      </p:sp>
      <p:sp>
        <p:nvSpPr>
          <p:cNvPr id="10" name="Text 8"/>
          <p:cNvSpPr/>
          <p:nvPr/>
        </p:nvSpPr>
        <p:spPr>
          <a:xfrm>
            <a:off x="777240" y="1682496"/>
            <a:ext cx="256032" cy="256032"/>
          </a:xfrm>
          <a:prstGeom prst="rect">
            <a:avLst/>
          </a:prstGeom>
          <a:noFill/>
          <a:ln/>
        </p:spPr>
        <p:txBody>
          <a:bodyPr wrap="square"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1143000" y="1682496"/>
            <a:ext cx="7680960" cy="603504"/>
          </a:xfrm>
          <a:prstGeom prst="rect">
            <a:avLst/>
          </a:prstGeom>
          <a:noFill/>
          <a:ln/>
        </p:spPr>
        <p:txBody>
          <a:bodyPr wrap="square" rtlCol="0" anchor="ctr"/>
          <a:lstStyle/>
          <a:p>
            <a:pPr marL="0" indent="0">
              <a:buNone/>
            </a:pPr>
            <a:r>
              <a:rPr lang="en-US" sz="1250" dirty="0">
                <a:solidFill>
                  <a:srgbClr val="D0DCF0"/>
                </a:solidFill>
                <a:latin typeface="Calibri" pitchFamily="34" charset="0"/>
                <a:ea typeface="Calibri" pitchFamily="34" charset="-122"/>
                <a:cs typeface="Calibri" pitchFamily="34" charset="-120"/>
              </a:rPr>
              <a:t>Cash supply is controlled via Fed member banks; the Treasury produces notes &amp; coins, armored carriers distribute</a:t>
            </a:r>
            <a:endParaRPr lang="en-US" sz="1250" dirty="0"/>
          </a:p>
        </p:txBody>
      </p:sp>
      <p:sp>
        <p:nvSpPr>
          <p:cNvPr id="12" name="Shape 10"/>
          <p:cNvSpPr/>
          <p:nvPr/>
        </p:nvSpPr>
        <p:spPr>
          <a:xfrm>
            <a:off x="777240" y="2377440"/>
            <a:ext cx="256032" cy="256032"/>
          </a:xfrm>
          <a:prstGeom prst="ellipse">
            <a:avLst/>
          </a:prstGeom>
          <a:solidFill>
            <a:srgbClr val="E8A020"/>
          </a:solidFill>
          <a:ln w="12700">
            <a:solidFill>
              <a:srgbClr val="E8A020"/>
            </a:solidFill>
            <a:prstDash val="solid"/>
          </a:ln>
        </p:spPr>
        <p:txBody>
          <a:bodyPr/>
          <a:lstStyle/>
          <a:p>
            <a:endParaRPr lang="en-IN"/>
          </a:p>
        </p:txBody>
      </p:sp>
      <p:sp>
        <p:nvSpPr>
          <p:cNvPr id="13" name="Text 11"/>
          <p:cNvSpPr/>
          <p:nvPr/>
        </p:nvSpPr>
        <p:spPr>
          <a:xfrm>
            <a:off x="777240" y="2377440"/>
            <a:ext cx="256032" cy="256032"/>
          </a:xfrm>
          <a:prstGeom prst="rect">
            <a:avLst/>
          </a:prstGeom>
          <a:noFill/>
          <a:ln/>
        </p:spPr>
        <p:txBody>
          <a:bodyPr wrap="square"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1143000" y="2377440"/>
            <a:ext cx="7680960" cy="603504"/>
          </a:xfrm>
          <a:prstGeom prst="rect">
            <a:avLst/>
          </a:prstGeom>
          <a:noFill/>
          <a:ln/>
        </p:spPr>
        <p:txBody>
          <a:bodyPr wrap="square" rtlCol="0" anchor="ctr"/>
          <a:lstStyle/>
          <a:p>
            <a:pPr marL="0" indent="0">
              <a:buNone/>
            </a:pPr>
            <a:r>
              <a:rPr lang="en-US" sz="1250" dirty="0">
                <a:solidFill>
                  <a:srgbClr val="D0DCF0"/>
                </a:solidFill>
                <a:latin typeface="Calibri" pitchFamily="34" charset="0"/>
                <a:ea typeface="Calibri" pitchFamily="34" charset="-122"/>
                <a:cs typeface="Calibri" pitchFamily="34" charset="-120"/>
              </a:rPr>
              <a:t>ATM fee structures are complex: interchange, surcharges, and foreign fees can stack — surcharge-free networks solve this</a:t>
            </a:r>
            <a:endParaRPr lang="en-US" sz="1250" dirty="0"/>
          </a:p>
        </p:txBody>
      </p:sp>
      <p:sp>
        <p:nvSpPr>
          <p:cNvPr id="15" name="Shape 13"/>
          <p:cNvSpPr/>
          <p:nvPr/>
        </p:nvSpPr>
        <p:spPr>
          <a:xfrm>
            <a:off x="777240" y="3072384"/>
            <a:ext cx="256032" cy="256032"/>
          </a:xfrm>
          <a:prstGeom prst="ellipse">
            <a:avLst/>
          </a:prstGeom>
          <a:solidFill>
            <a:srgbClr val="E8A020"/>
          </a:solidFill>
          <a:ln w="12700">
            <a:solidFill>
              <a:srgbClr val="E8A020"/>
            </a:solidFill>
            <a:prstDash val="solid"/>
          </a:ln>
        </p:spPr>
        <p:txBody>
          <a:bodyPr/>
          <a:lstStyle/>
          <a:p>
            <a:endParaRPr lang="en-IN"/>
          </a:p>
        </p:txBody>
      </p:sp>
      <p:sp>
        <p:nvSpPr>
          <p:cNvPr id="16" name="Text 14"/>
          <p:cNvSpPr/>
          <p:nvPr/>
        </p:nvSpPr>
        <p:spPr>
          <a:xfrm>
            <a:off x="777240" y="3072384"/>
            <a:ext cx="256032" cy="256032"/>
          </a:xfrm>
          <a:prstGeom prst="rect">
            <a:avLst/>
          </a:prstGeom>
          <a:noFill/>
          <a:ln/>
        </p:spPr>
        <p:txBody>
          <a:bodyPr wrap="square"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4</a:t>
            </a:r>
            <a:endParaRPr lang="en-US" sz="1100" dirty="0"/>
          </a:p>
        </p:txBody>
      </p:sp>
      <p:sp>
        <p:nvSpPr>
          <p:cNvPr id="17" name="Text 15"/>
          <p:cNvSpPr/>
          <p:nvPr/>
        </p:nvSpPr>
        <p:spPr>
          <a:xfrm>
            <a:off x="1143000" y="3072384"/>
            <a:ext cx="7680960" cy="603504"/>
          </a:xfrm>
          <a:prstGeom prst="rect">
            <a:avLst/>
          </a:prstGeom>
          <a:noFill/>
          <a:ln/>
        </p:spPr>
        <p:txBody>
          <a:bodyPr wrap="square" rtlCol="0" anchor="ctr"/>
          <a:lstStyle/>
          <a:p>
            <a:pPr marL="0" indent="0">
              <a:buNone/>
            </a:pPr>
            <a:r>
              <a:rPr lang="en-US" sz="1250" dirty="0">
                <a:solidFill>
                  <a:srgbClr val="D0DCF0"/>
                </a:solidFill>
                <a:latin typeface="Calibri" pitchFamily="34" charset="0"/>
                <a:ea typeface="Calibri" pitchFamily="34" charset="-122"/>
                <a:cs typeface="Calibri" pitchFamily="34" charset="-120"/>
              </a:rPr>
              <a:t>Cash regulation centers on AML (BSA/PATRIOT Act) and counterfeit prevention (Secret Service, detection hardware)</a:t>
            </a:r>
            <a:endParaRPr lang="en-US" sz="1250" dirty="0"/>
          </a:p>
        </p:txBody>
      </p:sp>
      <p:sp>
        <p:nvSpPr>
          <p:cNvPr id="18" name="Shape 16"/>
          <p:cNvSpPr/>
          <p:nvPr/>
        </p:nvSpPr>
        <p:spPr>
          <a:xfrm>
            <a:off x="777240" y="3767328"/>
            <a:ext cx="256032" cy="256032"/>
          </a:xfrm>
          <a:prstGeom prst="ellipse">
            <a:avLst/>
          </a:prstGeom>
          <a:solidFill>
            <a:srgbClr val="E8A020"/>
          </a:solidFill>
          <a:ln w="12700">
            <a:solidFill>
              <a:srgbClr val="E8A020"/>
            </a:solidFill>
            <a:prstDash val="solid"/>
          </a:ln>
        </p:spPr>
        <p:txBody>
          <a:bodyPr/>
          <a:lstStyle/>
          <a:p>
            <a:endParaRPr lang="en-IN"/>
          </a:p>
        </p:txBody>
      </p:sp>
      <p:sp>
        <p:nvSpPr>
          <p:cNvPr id="19" name="Text 17"/>
          <p:cNvSpPr/>
          <p:nvPr/>
        </p:nvSpPr>
        <p:spPr>
          <a:xfrm>
            <a:off x="777240" y="3767328"/>
            <a:ext cx="256032" cy="256032"/>
          </a:xfrm>
          <a:prstGeom prst="rect">
            <a:avLst/>
          </a:prstGeom>
          <a:noFill/>
          <a:ln/>
        </p:spPr>
        <p:txBody>
          <a:bodyPr wrap="square" rtlCol="0" anchor="ctr"/>
          <a:lstStyle/>
          <a:p>
            <a:pPr marL="0" indent="0" algn="ctr">
              <a:buNone/>
            </a:pPr>
            <a:r>
              <a:rPr lang="en-US" sz="1100" b="1" dirty="0">
                <a:solidFill>
                  <a:srgbClr val="0A1628"/>
                </a:solidFill>
                <a:latin typeface="Calibri" pitchFamily="34" charset="0"/>
                <a:ea typeface="Calibri" pitchFamily="34" charset="-122"/>
                <a:cs typeface="Calibri" pitchFamily="34" charset="-120"/>
              </a:rPr>
              <a:t>5</a:t>
            </a:r>
            <a:endParaRPr lang="en-US" sz="1100" dirty="0"/>
          </a:p>
        </p:txBody>
      </p:sp>
      <p:sp>
        <p:nvSpPr>
          <p:cNvPr id="20" name="Text 18"/>
          <p:cNvSpPr/>
          <p:nvPr/>
        </p:nvSpPr>
        <p:spPr>
          <a:xfrm>
            <a:off x="1143000" y="3767328"/>
            <a:ext cx="7680960" cy="603504"/>
          </a:xfrm>
          <a:prstGeom prst="rect">
            <a:avLst/>
          </a:prstGeom>
          <a:noFill/>
          <a:ln/>
        </p:spPr>
        <p:txBody>
          <a:bodyPr wrap="square" rtlCol="0" anchor="ctr"/>
          <a:lstStyle/>
          <a:p>
            <a:pPr marL="0" indent="0">
              <a:buNone/>
            </a:pPr>
            <a:r>
              <a:rPr lang="en-US" sz="1250" dirty="0">
                <a:solidFill>
                  <a:srgbClr val="D0DCF0"/>
                </a:solidFill>
                <a:latin typeface="Calibri" pitchFamily="34" charset="0"/>
                <a:ea typeface="Calibri" pitchFamily="34" charset="-122"/>
                <a:cs typeface="Calibri" pitchFamily="34" charset="-120"/>
              </a:rPr>
              <a:t>Key trends: declining POS use, smart-safe deposits, prepaid card ATM volumes in emerging markets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9B8EE6072CCC949AE3B9F71595720CD" ma:contentTypeVersion="14" ma:contentTypeDescription="Create a new document." ma:contentTypeScope="" ma:versionID="d8cb1f135a5912bb290856803fdafd5b">
  <xsd:schema xmlns:xsd="http://www.w3.org/2001/XMLSchema" xmlns:xs="http://www.w3.org/2001/XMLSchema" xmlns:p="http://schemas.microsoft.com/office/2006/metadata/properties" xmlns:ns2="c9f1faa8-5418-4c35-877d-853ce2afda31" xmlns:ns3="61ea73c3-10a7-4d5d-9c58-c1e5c30e30dc" targetNamespace="http://schemas.microsoft.com/office/2006/metadata/properties" ma:root="true" ma:fieldsID="529b99e15a6c481cc6b667f0a6f1b08f" ns2:_="" ns3:_="">
    <xsd:import namespace="c9f1faa8-5418-4c35-877d-853ce2afda31"/>
    <xsd:import namespace="61ea73c3-10a7-4d5d-9c58-c1e5c30e30dc"/>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f1faa8-5418-4c35-877d-853ce2afda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ca363587-87ea-41e2-9a9e-8270a2079e61"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1ea73c3-10a7-4d5d-9c58-c1e5c30e30dc"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25c207fb-9e6e-4c5b-9eb2-d05082e3e9b3}" ma:internalName="TaxCatchAll" ma:showField="CatchAllData" ma:web="61ea73c3-10a7-4d5d-9c58-c1e5c30e30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1ea73c3-10a7-4d5d-9c58-c1e5c30e30dc" xsi:nil="true"/>
    <lcf76f155ced4ddcb4097134ff3c332f xmlns="c9f1faa8-5418-4c35-877d-853ce2afda3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FD3161E-BEE4-4A3A-8CEA-ABF81996135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f1faa8-5418-4c35-877d-853ce2afda31"/>
    <ds:schemaRef ds:uri="61ea73c3-10a7-4d5d-9c58-c1e5c30e30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9D3F2D7-80A2-422E-A0E1-92A6A2CB9196}">
  <ds:schemaRefs>
    <ds:schemaRef ds:uri="http://schemas.microsoft.com/sharepoint/v3/contenttype/forms"/>
  </ds:schemaRefs>
</ds:datastoreItem>
</file>

<file path=customXml/itemProps3.xml><?xml version="1.0" encoding="utf-8"?>
<ds:datastoreItem xmlns:ds="http://schemas.openxmlformats.org/officeDocument/2006/customXml" ds:itemID="{A767336F-D689-4619-B0FF-90C5560BF155}">
  <ds:schemaRefs>
    <ds:schemaRef ds:uri="http://purl.org/dc/elements/1.1/"/>
    <ds:schemaRef ds:uri="c9f1faa8-5418-4c35-877d-853ce2afda31"/>
    <ds:schemaRef ds:uri="http://www.w3.org/XML/1998/namespace"/>
    <ds:schemaRef ds:uri="http://schemas.microsoft.com/office/2006/documentManagement/types"/>
    <ds:schemaRef ds:uri="http://purl.org/dc/dcmitype/"/>
    <ds:schemaRef ds:uri="http://schemas.microsoft.com/office/2006/metadata/properties"/>
    <ds:schemaRef ds:uri="http://purl.org/dc/terms/"/>
    <ds:schemaRef ds:uri="http://schemas.microsoft.com/office/infopath/2007/PartnerControls"/>
    <ds:schemaRef ds:uri="http://schemas.openxmlformats.org/package/2006/metadata/core-properties"/>
    <ds:schemaRef ds:uri="61ea73c3-10a7-4d5d-9c58-c1e5c30e30dc"/>
  </ds:schemaRefs>
</ds:datastoreItem>
</file>

<file path=docProps/app.xml><?xml version="1.0" encoding="utf-8"?>
<Properties xmlns="http://schemas.openxmlformats.org/officeDocument/2006/extended-properties" xmlns:vt="http://schemas.openxmlformats.org/officeDocument/2006/docPropsVTypes">
  <TotalTime>323</TotalTime>
  <Words>3591</Words>
  <Application>Microsoft Office PowerPoint</Application>
  <PresentationFormat>On-screen Show (16:9)</PresentationFormat>
  <Paragraphs>242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Cash Payments System</dc:title>
  <dc:subject>PptxGenJS Presentation</dc:subject>
  <dc:creator>PptxGenJS</dc:creator>
  <cp:lastModifiedBy>Bhavika Sharma(UST,IN)</cp:lastModifiedBy>
  <cp:revision>4</cp:revision>
  <dcterms:created xsi:type="dcterms:W3CDTF">2026-03-17T06:52:31Z</dcterms:created>
  <dcterms:modified xsi:type="dcterms:W3CDTF">2026-03-18T09:34:27Z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2026-03-17T07:25:04Z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1b860707-704a-4c91-be3a-7c143592dbb3</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y fmtid="{D5CDD505-2E9C-101B-9397-08002B2CF9AE}" pid="10" name="ContentTypeId">
    <vt:lpwstr>0x010100E9B8EE6072CCC949AE3B9F71595720CD</vt:lpwstr>
  </property>
  <property fmtid="{D5CDD505-2E9C-101B-9397-08002B2CF9AE}" pid="11" name="MediaServiceImageTags">
    <vt:lpwstr/>
  </property>
</Properties>
</file>