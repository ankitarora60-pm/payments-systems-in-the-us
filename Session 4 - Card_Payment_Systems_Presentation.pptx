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entation.xml" ContentType="application/vnd.openxmlformats-officedocument.presentationml.presentation.main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Slides/notesSlide14.xml" ContentType="application/vnd.openxmlformats-officedocument.presentationml.notesSlide+xml"/>
  <Override PartName="/ppt/notesSlides/notesSlide13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3" r:id="rId17"/>
    <p:sldId id="275" r:id="rId18"/>
    <p:sldId id="276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310"/>
    <p:restoredTop sz="94610"/>
  </p:normalViewPr>
  <p:slideViewPr>
    <p:cSldViewPr snapToGrid="0" snapToObjects="1">
      <p:cViewPr varScale="1">
        <p:scale>
          <a:sx n="155" d="100"/>
          <a:sy n="155" d="100"/>
        </p:scale>
        <p:origin x="18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2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Relationship Id="rId27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65860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583680" y="-731520"/>
            <a:ext cx="4114800" cy="4114800"/>
          </a:xfrm>
          <a:prstGeom prst="ellipse">
            <a:avLst/>
          </a:prstGeom>
          <a:solidFill>
            <a:srgbClr val="1A56A0">
              <a:alpha val="20000"/>
            </a:srgbClr>
          </a:solidFill>
          <a:ln w="12700">
            <a:solidFill>
              <a:srgbClr val="1A56A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0" y="2286000"/>
            <a:ext cx="2743200" cy="2743200"/>
          </a:xfrm>
          <a:prstGeom prst="ellipse">
            <a:avLst/>
          </a:prstGeom>
          <a:solidFill>
            <a:srgbClr val="3B82C4">
              <a:alpha val="15000"/>
            </a:srgbClr>
          </a:solidFill>
          <a:ln w="12700">
            <a:solidFill>
              <a:srgbClr val="3B82C4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66420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kern="0" spc="500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CARD PAYMENT </a:t>
            </a:r>
            <a:r>
              <a:rPr lang="en-US" sz="3200" b="1" kern="0" spc="500" dirty="0">
                <a:solidFill>
                  <a:srgbClr val="F5A623"/>
                </a:solidFill>
                <a:latin typeface="Trebuchet MS" pitchFamily="34" charset="0"/>
              </a:rPr>
              <a:t>SYSTEMS </a:t>
            </a:r>
          </a:p>
          <a:p>
            <a:r>
              <a:rPr lang="en-US" sz="3200" b="1" kern="0" spc="500" dirty="0">
                <a:solidFill>
                  <a:srgbClr val="F5A623"/>
                </a:solidFill>
                <a:latin typeface="Trebuchet MS" pitchFamily="34" charset="0"/>
              </a:rPr>
              <a:t>in the US</a:t>
            </a:r>
          </a:p>
          <a:p>
            <a:pPr marL="0" indent="0">
              <a:buNone/>
            </a:pP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· Fraud · Security · Data Protection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880360"/>
            <a:ext cx="411480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306324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card payments work,</a:t>
            </a:r>
            <a:r>
              <a:rPr lang="en-US" sz="1300" dirty="0"/>
              <a:t> </a:t>
            </a:r>
            <a:r>
              <a:rPr lang="en-US" sz="13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takes risk, how fraud happens, and how the industry protects everyone.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71029"/>
          </a:solidFill>
          <a:ln w="12700">
            <a:solidFill>
              <a:srgbClr val="0710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" y="4892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Internal Use Only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1234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09728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We'll Cover Today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658368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walkthrough — no finance background needed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28600" y="48920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Payment Systems in the US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8920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1417320"/>
            <a:ext cx="4114800" cy="685800"/>
          </a:xfrm>
          <a:prstGeom prst="rect">
            <a:avLst/>
          </a:prstGeom>
          <a:solidFill>
            <a:srgbClr val="FFFFFF"/>
          </a:solidFill>
          <a:ln w="15240">
            <a:solidFill>
              <a:srgbClr val="D1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28600" y="1417320"/>
            <a:ext cx="50292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28600" y="141732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1453896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41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the Card Ecosystem Works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176479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 key players in every transaction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0" y="1417320"/>
            <a:ext cx="4114800" cy="685800"/>
          </a:xfrm>
          <a:prstGeom prst="rect">
            <a:avLst/>
          </a:prstGeom>
          <a:solidFill>
            <a:srgbClr val="FFFFFF"/>
          </a:solidFill>
          <a:ln w="15240">
            <a:solidFill>
              <a:srgbClr val="D1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0" y="1417320"/>
            <a:ext cx="50292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0" y="141732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166360" y="1453896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41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Credit, Debit &amp; Prepaid Risk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66360" y="176479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lends money, and who doesn't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28600" y="2221992"/>
            <a:ext cx="4114800" cy="685800"/>
          </a:xfrm>
          <a:prstGeom prst="rect">
            <a:avLst/>
          </a:prstGeom>
          <a:solidFill>
            <a:srgbClr val="FFFFFF"/>
          </a:solidFill>
          <a:ln w="15240">
            <a:solidFill>
              <a:srgbClr val="D1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28600" y="2221992"/>
            <a:ext cx="50292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28600" y="2221992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2960" y="225856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41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Card-Present vs Card-Not-Present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2960" y="256946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where you pay changes who is responsible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2221992"/>
            <a:ext cx="4114800" cy="685800"/>
          </a:xfrm>
          <a:prstGeom prst="rect">
            <a:avLst/>
          </a:prstGeom>
          <a:solidFill>
            <a:srgbClr val="FFFFFF"/>
          </a:solidFill>
          <a:ln w="15240">
            <a:solidFill>
              <a:srgbClr val="D1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572000" y="2221992"/>
            <a:ext cx="50292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0" y="2221992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166360" y="225856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41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Types of Fraud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166360" y="256946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cards, counterfeit, identity theft, and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8600" y="3026664"/>
            <a:ext cx="4114800" cy="685800"/>
          </a:xfrm>
          <a:prstGeom prst="rect">
            <a:avLst/>
          </a:prstGeom>
          <a:solidFill>
            <a:srgbClr val="FFFFFF"/>
          </a:solidFill>
          <a:ln w="15240">
            <a:solidFill>
              <a:srgbClr val="D1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28600" y="3026664"/>
            <a:ext cx="50292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28600" y="3026664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22960" y="306324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41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Security &amp; PCI-DSS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22960" y="337413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industry's mandatory security standard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0" y="3026664"/>
            <a:ext cx="4114800" cy="685800"/>
          </a:xfrm>
          <a:prstGeom prst="rect">
            <a:avLst/>
          </a:prstGeom>
          <a:solidFill>
            <a:srgbClr val="FFFFFF"/>
          </a:solidFill>
          <a:ln w="15240">
            <a:solidFill>
              <a:srgbClr val="D1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572000" y="3026664"/>
            <a:ext cx="50292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572000" y="3026664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166360" y="306324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41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Tokenization &amp; Encryption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166360" y="337413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stolen data is becoming worthless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28600" y="3831336"/>
            <a:ext cx="4114800" cy="685800"/>
          </a:xfrm>
          <a:prstGeom prst="rect">
            <a:avLst/>
          </a:prstGeom>
          <a:solidFill>
            <a:srgbClr val="FFFFFF"/>
          </a:solidFill>
          <a:ln w="15240">
            <a:solidFill>
              <a:srgbClr val="D1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228600" y="3831336"/>
            <a:ext cx="50292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228600" y="3831336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822960" y="386791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41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Economics of Security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22960" y="417880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perfect security is neither possible nor rational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572000" y="3831336"/>
            <a:ext cx="4114800" cy="685800"/>
          </a:xfrm>
          <a:prstGeom prst="rect">
            <a:avLst/>
          </a:prstGeom>
          <a:solidFill>
            <a:srgbClr val="FFFFFF"/>
          </a:solidFill>
          <a:ln w="15240">
            <a:solidFill>
              <a:srgbClr val="D1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4572000" y="3831336"/>
            <a:ext cx="50292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572000" y="3831336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5166360" y="386791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41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Future of Payment Fraud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166360" y="417880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AI, account takeover, and real-time payments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1234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09728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a Card Payment Actually Works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658368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parties are involved in every single transaction you make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28600" y="48920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Payment Systems in the US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8920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1554480"/>
            <a:ext cx="1463040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28600" y="1627632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(Cardholder)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8600" y="221284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the purchase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728216" y="2057400"/>
            <a:ext cx="246888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847088" y="1945712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A623"/>
                </a:solidFill>
              </a:rPr>
              <a:t>▶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011680" y="1554480"/>
            <a:ext cx="1463040" cy="100584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011680" y="1627632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Bank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(Issuer)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11680" y="221284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Lends or releases funds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511296" y="2057400"/>
            <a:ext cx="246888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630168" y="1945712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A623"/>
                </a:solidFill>
              </a:rPr>
              <a:t>▶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794760" y="1554480"/>
            <a:ext cx="1463040" cy="1005840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794760" y="1627632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Card Network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(Visa / MC)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794760" y="221284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&amp; sets the rules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294376" y="2057400"/>
            <a:ext cx="246888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13248" y="1945712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A623"/>
                </a:solidFill>
              </a:rPr>
              <a:t>▶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577840" y="1554480"/>
            <a:ext cx="1463040" cy="10058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577840" y="1627632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Merchant's Bank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(Acquirer)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577840" y="221284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funds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077456" y="2057400"/>
            <a:ext cx="246888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196328" y="1945712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A623"/>
                </a:solidFill>
              </a:rPr>
              <a:t>▶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360920" y="1554480"/>
            <a:ext cx="1463040" cy="10058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360920" y="1627632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Store / Website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(Merchant)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360920" y="221284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Sells goods &amp; services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28600" y="2834640"/>
            <a:ext cx="8686800" cy="1783080"/>
          </a:xfrm>
          <a:prstGeom prst="rect">
            <a:avLst/>
          </a:prstGeom>
          <a:solidFill>
            <a:srgbClr val="EBF2FA"/>
          </a:solidFill>
          <a:ln w="15240">
            <a:solidFill>
              <a:srgbClr val="D1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228600" y="2834640"/>
            <a:ext cx="128016" cy="17830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57200" y="29077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3218688"/>
            <a:ext cx="8321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card network (Visa, Mastercard) does NOT move money — it moves information. </a:t>
            </a: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like a postal service for payment data. The actual money moves through banking networks, usually 1–3 business days after the transaction. Each party earns a small fee for their role, which is why accepting cards costs merchants around 1.5–3.5% per transaction.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1234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09728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Types of Risk: Credit vs. Fraud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658368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difference is the foundation of everything else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28600" y="48920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Payment Systems in the US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8920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1417320"/>
            <a:ext cx="40690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28600" y="1417320"/>
            <a:ext cx="109728" cy="324612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15087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A5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CREDIT RISK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18745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risk that borrowed money will not be repaid.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267712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Exists only when money is lent
• Credit cards: issuer lends money every time you swipe
• Debit cards: no lending, no credit risk (unless overdraft allowed)
• Prepaid cards: zero credit risk — you spend what you loaded
• Managing this well is a major competitive advantage for banks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800600" y="1417320"/>
            <a:ext cx="40690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800600" y="1417320"/>
            <a:ext cx="109728" cy="32461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0" y="15087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FRAUD RISK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0" y="18745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risk that a transaction is unauthorized or deceptive.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0" y="2267712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Exists in ALL card types — credit, debit, and prepaid
• Not about repayment — about whether the transaction is legitimate
• Criminals constantly evolve their methods as defences improve
• Shared by issuers, merchants, processors, and networks
• Requires permanent, ongoing management — never fully solved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28600" y="4754880"/>
            <a:ext cx="8686800" cy="54864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28600" y="464515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rule: Credit risk = lending risk. Fraud risk = legitimacy risk. Credit cards carry both. Debit &amp; prepaid carry only fraud risk.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1234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09728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Credit, Debit &amp; Prepaid — How They Compare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658368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card type has a different risk profile for the issuing bank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28600" y="48920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Payment Systems in the US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8920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1371600"/>
            <a:ext cx="2560320" cy="475488"/>
          </a:xfrm>
          <a:prstGeom prst="rect">
            <a:avLst/>
          </a:prstGeom>
          <a:solidFill>
            <a:srgbClr val="0D1B3E"/>
          </a:solidFill>
          <a:ln w="10160">
            <a:solidFill>
              <a:srgbClr val="D1D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" y="137160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88920" y="1371600"/>
            <a:ext cx="2011680" cy="475488"/>
          </a:xfrm>
          <a:prstGeom prst="rect">
            <a:avLst/>
          </a:prstGeom>
          <a:solidFill>
            <a:srgbClr val="0D1B3E"/>
          </a:solidFill>
          <a:ln w="10160">
            <a:solidFill>
              <a:srgbClr val="D1D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880360" y="1371600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Credit Card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00600" y="1371600"/>
            <a:ext cx="2011680" cy="475488"/>
          </a:xfrm>
          <a:prstGeom prst="rect">
            <a:avLst/>
          </a:prstGeom>
          <a:solidFill>
            <a:srgbClr val="0D1B3E"/>
          </a:solidFill>
          <a:ln w="10160">
            <a:solidFill>
              <a:srgbClr val="D1D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92040" y="1371600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Debit Card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12280" y="1371600"/>
            <a:ext cx="2011680" cy="475488"/>
          </a:xfrm>
          <a:prstGeom prst="rect">
            <a:avLst/>
          </a:prstGeom>
          <a:solidFill>
            <a:srgbClr val="0D1B3E"/>
          </a:solidFill>
          <a:ln w="10160">
            <a:solidFill>
              <a:srgbClr val="D1D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903720" y="1371600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Prepaid Card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8600" y="1847088"/>
            <a:ext cx="2560320" cy="475488"/>
          </a:xfrm>
          <a:prstGeom prst="rect">
            <a:avLst/>
          </a:prstGeom>
          <a:solidFill>
            <a:srgbClr val="EBF2FA"/>
          </a:solidFill>
          <a:ln w="10160">
            <a:solidFill>
              <a:srgbClr val="D1D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0040" y="1847088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owns the money?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88920" y="1847088"/>
            <a:ext cx="2011680" cy="475488"/>
          </a:xfrm>
          <a:prstGeom prst="rect">
            <a:avLst/>
          </a:prstGeom>
          <a:solidFill>
            <a:srgbClr val="F8FAFD"/>
          </a:solidFill>
          <a:ln w="10160">
            <a:solidFill>
              <a:srgbClr val="D1D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880360" y="1847088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bank (until you pay)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00600" y="1847088"/>
            <a:ext cx="2011680" cy="475488"/>
          </a:xfrm>
          <a:prstGeom prst="rect">
            <a:avLst/>
          </a:prstGeom>
          <a:solidFill>
            <a:srgbClr val="F8FAFD"/>
          </a:solidFill>
          <a:ln w="10160">
            <a:solidFill>
              <a:srgbClr val="D1D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92040" y="1847088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— it's your account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812280" y="1847088"/>
            <a:ext cx="2011680" cy="475488"/>
          </a:xfrm>
          <a:prstGeom prst="rect">
            <a:avLst/>
          </a:prstGeom>
          <a:solidFill>
            <a:srgbClr val="F8FAFD"/>
          </a:solidFill>
          <a:ln w="10160">
            <a:solidFill>
              <a:srgbClr val="D1D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903720" y="1847088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— preloaded funds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28600" y="2322576"/>
            <a:ext cx="2560320" cy="475488"/>
          </a:xfrm>
          <a:prstGeom prst="rect">
            <a:avLst/>
          </a:prstGeom>
          <a:solidFill>
            <a:srgbClr val="EBF2FA"/>
          </a:solidFill>
          <a:ln w="10160">
            <a:solidFill>
              <a:srgbClr val="D1D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20040" y="2322576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risk for issuer?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788920" y="2322576"/>
            <a:ext cx="2011680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D1D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880360" y="2322576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YES — always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00600" y="2322576"/>
            <a:ext cx="2011680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D1D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92040" y="2322576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if overdraft allowed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812280" y="2322576"/>
            <a:ext cx="2011680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D1D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903720" y="2322576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Never — network prohibits it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28600" y="2798064"/>
            <a:ext cx="2560320" cy="475488"/>
          </a:xfrm>
          <a:prstGeom prst="rect">
            <a:avLst/>
          </a:prstGeom>
          <a:solidFill>
            <a:srgbClr val="EBF2FA"/>
          </a:solidFill>
          <a:ln w="10160">
            <a:solidFill>
              <a:srgbClr val="D1D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20040" y="2798064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risk?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788920" y="2798064"/>
            <a:ext cx="2011680" cy="475488"/>
          </a:xfrm>
          <a:prstGeom prst="rect">
            <a:avLst/>
          </a:prstGeom>
          <a:solidFill>
            <a:srgbClr val="F8FAFD"/>
          </a:solidFill>
          <a:ln w="10160">
            <a:solidFill>
              <a:srgbClr val="D1D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880360" y="2798064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YES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800600" y="2798064"/>
            <a:ext cx="2011680" cy="475488"/>
          </a:xfrm>
          <a:prstGeom prst="rect">
            <a:avLst/>
          </a:prstGeom>
          <a:solidFill>
            <a:srgbClr val="F8FAFD"/>
          </a:solidFill>
          <a:ln w="10160">
            <a:solidFill>
              <a:srgbClr val="D1D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892040" y="2798064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YES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812280" y="2798064"/>
            <a:ext cx="2011680" cy="475488"/>
          </a:xfrm>
          <a:prstGeom prst="rect">
            <a:avLst/>
          </a:prstGeom>
          <a:solidFill>
            <a:srgbClr val="F8FAFD"/>
          </a:solidFill>
          <a:ln w="10160">
            <a:solidFill>
              <a:srgbClr val="D1D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903720" y="2798064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YES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228600" y="3273552"/>
            <a:ext cx="2560320" cy="475488"/>
          </a:xfrm>
          <a:prstGeom prst="rect">
            <a:avLst/>
          </a:prstGeom>
          <a:solidFill>
            <a:srgbClr val="EBF2FA"/>
          </a:solidFill>
          <a:ln w="10160">
            <a:solidFill>
              <a:srgbClr val="D1D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20040" y="3273552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fraud occurs, who loses?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2788920" y="3273552"/>
            <a:ext cx="2011680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D1D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2880360" y="3273552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the issuer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800600" y="3273552"/>
            <a:ext cx="2011680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D1D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892040" y="3273552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the issuer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812280" y="3273552"/>
            <a:ext cx="2011680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D1D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903720" y="3273552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the issuer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228600" y="3749040"/>
            <a:ext cx="2560320" cy="475488"/>
          </a:xfrm>
          <a:prstGeom prst="rect">
            <a:avLst/>
          </a:prstGeom>
          <a:solidFill>
            <a:srgbClr val="EBF2FA"/>
          </a:solidFill>
          <a:ln w="10160">
            <a:solidFill>
              <a:srgbClr val="D1D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320040" y="374904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legal protection?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2788920" y="3749040"/>
            <a:ext cx="2011680" cy="475488"/>
          </a:xfrm>
          <a:prstGeom prst="rect">
            <a:avLst/>
          </a:prstGeom>
          <a:solidFill>
            <a:srgbClr val="F8FAFD"/>
          </a:solidFill>
          <a:ln w="10160">
            <a:solidFill>
              <a:srgbClr val="D1D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2880360" y="3749040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(Reg Z, zero liability)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4800600" y="3749040"/>
            <a:ext cx="2011680" cy="475488"/>
          </a:xfrm>
          <a:prstGeom prst="rect">
            <a:avLst/>
          </a:prstGeom>
          <a:solidFill>
            <a:srgbClr val="F8FAFD"/>
          </a:solidFill>
          <a:ln w="10160">
            <a:solidFill>
              <a:srgbClr val="D1D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4892040" y="3749040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(Reg E — time-sensitive)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6812280" y="3749040"/>
            <a:ext cx="2011680" cy="475488"/>
          </a:xfrm>
          <a:prstGeom prst="rect">
            <a:avLst/>
          </a:prstGeom>
          <a:solidFill>
            <a:srgbClr val="F8FAFD"/>
          </a:solidFill>
          <a:ln w="10160">
            <a:solidFill>
              <a:srgbClr val="D1D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6903720" y="3749040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Weaker (varies by card)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228600" y="4224528"/>
            <a:ext cx="2560320" cy="475488"/>
          </a:xfrm>
          <a:prstGeom prst="rect">
            <a:avLst/>
          </a:prstGeom>
          <a:solidFill>
            <a:srgbClr val="EBF2FA"/>
          </a:solidFill>
          <a:ln w="10160">
            <a:solidFill>
              <a:srgbClr val="D1D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320040" y="4224528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consumer security?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2788920" y="4224528"/>
            <a:ext cx="2011680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D1D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2880360" y="4224528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Highest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4800600" y="4224528"/>
            <a:ext cx="2011680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D1D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4892040" y="4224528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6812280" y="4224528"/>
            <a:ext cx="2011680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D1D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6903720" y="4224528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1234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09728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Card-Present vs. Card-Not-Present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658368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single distinction determines who pays when fraud happens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28600" y="48920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Payment Systems in the US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8920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1371600"/>
            <a:ext cx="4069080" cy="33832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" y="146304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🏪  CARD-PRESENT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0040" y="187452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store, restaurant, ATM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2212848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Card is physically present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2542032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Chip or contactless used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2871216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Issuer bears fraud liability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3200400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If fraud occurs → issuer refunds customer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3529584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Merchant keeps the money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3858768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Lower fraud rates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00600" y="1371600"/>
            <a:ext cx="4069080" cy="3383280"/>
          </a:xfrm>
          <a:prstGeom prst="rect">
            <a:avLst/>
          </a:prstGeom>
          <a:solidFill>
            <a:srgbClr val="2C1A1A"/>
          </a:solidFill>
          <a:ln w="12700">
            <a:solidFill>
              <a:srgbClr val="2C1A1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92040" y="146304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🌐  CARD-NOT-PRESENT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92040" y="187452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4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Online, phone, mail order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92040" y="2212848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C5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Card number typed, not physical card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92040" y="2542032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C5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Merchant cannot verify the buyer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92040" y="2871216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Merchant bears fraud liability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92040" y="3200400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If fraud → issuer charges back to merchant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92040" y="3529584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C5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Merchant loses the sale AND the goods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92040" y="3858768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C5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Much higher fraud rates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1234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09728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Liability Shifts — When the Rules Change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658368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Merchants who take security shortcuts end up bearing more risk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28600" y="48920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Payment Systems in the US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8920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1417320"/>
            <a:ext cx="86868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28600" y="1417320"/>
            <a:ext cx="109728" cy="9875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147218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741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3D Secure Authentication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1801368"/>
            <a:ext cx="2377440" cy="23774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180136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Liability shifts: Merchant → Issuer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017520" y="1490472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 online merchant uses 3D Secure (e.g. Verified by Visa), the customer must complete an extra identity check — like a one-time password. If fraud happens after a successful 3DS check, the issuer absorbs the loss instead of the merchant. This gives merchants a powerful financial incentive to adopt 3D Secure.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28600" y="2514600"/>
            <a:ext cx="86868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28600" y="2514600"/>
            <a:ext cx="109728" cy="9875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256946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741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EMV Chip Liability Shift (2015)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2898648"/>
            <a:ext cx="2377440" cy="23774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289864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Liability shifts: Issuer → Merchant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017520" y="2587752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2015, if a customer presents a chip card but the merchant's terminal only accepts magnetic stripe, and fraud occurs, the liability shifts from the issuer to the merchant. This single rule drove rapid adoption of chip-enabled terminals across the US.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28600" y="3611880"/>
            <a:ext cx="86868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28600" y="3611880"/>
            <a:ext cx="109728" cy="9875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366674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741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Missing Signature (where required)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3995928"/>
            <a:ext cx="2377440" cy="23774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7200" y="399592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Liability shifts: Issuer → Merchant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017520" y="3685032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cases where a signature is still required and the merchant skips it, fraud liability can shift to the merchant. This principle is broader: any required security step that a merchant skips can transfer responsibility for resulting fraud losses to that merchant.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1234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09728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Signatures Were Eliminated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658368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lesson in balancing security with convenience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28600" y="48920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Payment Systems in the US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8920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1371600"/>
            <a:ext cx="8686800" cy="1463040"/>
          </a:xfrm>
          <a:prstGeom prst="rect">
            <a:avLst/>
          </a:prstGeom>
          <a:solidFill>
            <a:srgbClr val="EBF2FA"/>
          </a:solidFill>
          <a:ln w="15240">
            <a:solidFill>
              <a:srgbClr val="D1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14447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Old Approach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1783080"/>
            <a:ext cx="8321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decades, cardholders signed a receipt at checkout. The idea was that a matching signature proved the person was the legitimate cardholder. It felt secure — but it almost never worked in practice.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28600" y="2944368"/>
            <a:ext cx="4160520" cy="1691640"/>
          </a:xfrm>
          <a:prstGeom prst="rect">
            <a:avLst/>
          </a:prstGeom>
          <a:solidFill>
            <a:srgbClr val="FFF0F0"/>
          </a:solidFill>
          <a:ln w="12700">
            <a:solidFill>
              <a:srgbClr val="FF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" y="30175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it failed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" y="3337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Cashiers rarely checked signatures carefully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364845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Signatures are easy to forge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39593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No training standard across merchants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42702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Slowed down checkout lines significantly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2944368"/>
            <a:ext cx="4160520" cy="1691640"/>
          </a:xfrm>
          <a:prstGeom prst="rect">
            <a:avLst/>
          </a:prstGeom>
          <a:solidFill>
            <a:srgbClr val="F0FFF4"/>
          </a:solidFill>
          <a:ln w="12700">
            <a:solidFill>
              <a:srgbClr val="AADD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46320" y="30175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After removal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3337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Faster checkout experience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364845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No friction for the customer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39593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No meaningful increase in fraud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0" y="42702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Networks: Visa, MC, Amex all removed requirement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28600" y="4663440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Broader lesson: Every security measure must be worth its cost. If a control is expensive, slow, or annoying — but doesn't actually reduce fraud — it should be removed.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1234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09728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Fraud Landscape — 7 Types You Need to Know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658368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type has different mechanics, vulnerabilities, and defences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28600" y="48920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Payment Systems in the US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8920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1389888"/>
            <a:ext cx="4160520" cy="594360"/>
          </a:xfrm>
          <a:prstGeom prst="rect">
            <a:avLst/>
          </a:prstGeom>
          <a:solidFill>
            <a:srgbClr val="FFFFFF"/>
          </a:solidFill>
          <a:ln w="15240">
            <a:solidFill>
              <a:srgbClr val="D1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28600" y="1389888"/>
            <a:ext cx="475488" cy="59436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28600" y="1389888"/>
            <a:ext cx="4754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95528" y="1435608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41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Lost &amp; Stolen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95528" y="1709928"/>
            <a:ext cx="3502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Thief uses your physical card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1389888"/>
            <a:ext cx="4160520" cy="594360"/>
          </a:xfrm>
          <a:prstGeom prst="rect">
            <a:avLst/>
          </a:prstGeom>
          <a:solidFill>
            <a:srgbClr val="FFFFFF"/>
          </a:solidFill>
          <a:ln w="15240">
            <a:solidFill>
              <a:srgbClr val="D1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663440" y="1389888"/>
            <a:ext cx="475488" cy="594360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663440" y="1389888"/>
            <a:ext cx="4754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30368" y="1435608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41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Counterfeit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230368" y="1709928"/>
            <a:ext cx="3502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data copied onto a fake card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28600" y="2103120"/>
            <a:ext cx="4160520" cy="594360"/>
          </a:xfrm>
          <a:prstGeom prst="rect">
            <a:avLst/>
          </a:prstGeom>
          <a:solidFill>
            <a:srgbClr val="FFFFFF"/>
          </a:solidFill>
          <a:ln w="15240">
            <a:solidFill>
              <a:srgbClr val="D1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28600" y="2103120"/>
            <a:ext cx="475488" cy="594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28600" y="2103120"/>
            <a:ext cx="4754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95528" y="2148840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41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Card Not Received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95528" y="2423160"/>
            <a:ext cx="3502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card stolen in the mail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2103120"/>
            <a:ext cx="4160520" cy="594360"/>
          </a:xfrm>
          <a:prstGeom prst="rect">
            <a:avLst/>
          </a:prstGeom>
          <a:solidFill>
            <a:srgbClr val="FFFFFF"/>
          </a:solidFill>
          <a:ln w="15240">
            <a:solidFill>
              <a:srgbClr val="D1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663440" y="2103120"/>
            <a:ext cx="475488" cy="5943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663440" y="2103120"/>
            <a:ext cx="4754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30368" y="2148840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41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Identity Theft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230368" y="2423160"/>
            <a:ext cx="3502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identity used to open accounts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8600" y="2816352"/>
            <a:ext cx="4160520" cy="594360"/>
          </a:xfrm>
          <a:prstGeom prst="rect">
            <a:avLst/>
          </a:prstGeom>
          <a:solidFill>
            <a:srgbClr val="FFFFFF"/>
          </a:solidFill>
          <a:ln w="15240">
            <a:solidFill>
              <a:srgbClr val="D1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28600" y="2816352"/>
            <a:ext cx="475488" cy="5943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28600" y="2816352"/>
            <a:ext cx="4754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95528" y="2862072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41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Synthetic Identity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95528" y="3136392"/>
            <a:ext cx="3502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identity built from real data fragments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63440" y="2816352"/>
            <a:ext cx="4160520" cy="594360"/>
          </a:xfrm>
          <a:prstGeom prst="rect">
            <a:avLst/>
          </a:prstGeom>
          <a:solidFill>
            <a:srgbClr val="FFFFFF"/>
          </a:solidFill>
          <a:ln w="15240">
            <a:solidFill>
              <a:srgbClr val="D1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663440" y="2816352"/>
            <a:ext cx="475488" cy="5943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663440" y="2816352"/>
            <a:ext cx="4754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230368" y="2862072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41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Unauthorized CNP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230368" y="3136392"/>
            <a:ext cx="3502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Stolen card number used online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487168" y="3529584"/>
            <a:ext cx="4160520" cy="594360"/>
          </a:xfrm>
          <a:prstGeom prst="rect">
            <a:avLst/>
          </a:prstGeom>
          <a:solidFill>
            <a:srgbClr val="FFFFFF"/>
          </a:solidFill>
          <a:ln w="15240">
            <a:solidFill>
              <a:srgbClr val="D1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2487168" y="3529584"/>
            <a:ext cx="475488" cy="5943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2487168" y="3529584"/>
            <a:ext cx="4754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3054096" y="35753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41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Bust-Out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3054096" y="384962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Cardholder intentionally defaults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1234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09728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Fraud Deep Dive: Lost &amp; Stolen + Counterfeit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658368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oldest fraud types — and how EMV chips changed everything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28600" y="48920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Payment Systems in the US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8920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1371600"/>
            <a:ext cx="41605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28600" y="1371600"/>
            <a:ext cx="109728" cy="338328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146304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Lost &amp; Stolen Card Fraud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1810512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is: Thief finds or steals your physical card and uses it.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217627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Old defence: signature matching — almost always unreliable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25786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Modern defence: real-time AI analysis of 100+ signals per transaction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298094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Best defence: PIN authentication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3383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Problem: US still does NOT widely require PIN on credit cards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378561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Cardholder who reports promptly has zero liability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09160" y="1371600"/>
            <a:ext cx="41605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709160" y="1371600"/>
            <a:ext cx="109728" cy="3383280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37760" y="146304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Counterfeit Card Fraud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37760" y="1810512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is: Card data is copied and written onto a fake card.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937760" y="217627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Old vulnerability: magnetic stripes are trivially easy to copy with a skimmer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937760" y="25786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Defence 1: CVN/CVV values embedded in stripe data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937760" y="298094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Defence 2: PCI-DSS bans storing magnetic stripe data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937760" y="3383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Defence 3: EMV chips generate unique codes per transaction — cannot be replayed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937760" y="378561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Gap: Magnetic stripes still on cards for backward compatibility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1234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09728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Fraud Deep Dive: Identity Fraud &amp; Online (CNP) Fraud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658368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of the fastest-growing and most costly fraud types today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28600" y="48920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Payment Systems in the US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8920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1371600"/>
            <a:ext cx="41605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28600" y="1371600"/>
            <a:ext cx="109728" cy="33832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146304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86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Identity Theft &amp; Synthetic Identity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1810512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is: Opening accounts using a real stolen or entirely fake identity.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17627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Identity theft: uses a real person's SSN, name, and address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25786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Synthetic identity: combines real SSN (often a child's) with invented info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298094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Built up slowly over months — very hard to detect early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3383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Defences: shared fraud databases, reused phone/address flags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378561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Industry-wide data sharing is critical here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09160" y="1371600"/>
            <a:ext cx="41605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709160" y="1371600"/>
            <a:ext cx="109728" cy="33832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37760" y="146304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Unauthorized CNP (Online) Fraud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37760" y="1810512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is: Stolen card number used for online purchases without authorization.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37760" y="217627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Merchant bears the financial loss — not the issuer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937760" y="251460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Tools merchants use: AVS (address match), CVV check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937760" y="285292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Velocity checks: flag rapid repeated use of one card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937760" y="319125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Device fingerprinting: detect suspicious devices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937760" y="352958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fraud scoring: analyse 100+ signals in milliseconds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937760" y="386791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3D Secure: shifts liability back to issuer if used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1234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09728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Fraud Deep Dive: Bust-Out &amp; PIN Debit Fraud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658368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is a credit risk problem; the other requires both card and PIN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28600" y="48920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Payment Systems in the US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8920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1371600"/>
            <a:ext cx="41605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28600" y="1371600"/>
            <a:ext cx="109728" cy="338328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146304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Bust-Out Fraud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1810512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is: Legitimate cardholder intentionally defaults — spends everything, then vanishes.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24942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Unusual because it's a real cardholder — not a thief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26517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Account looks legitimate until the moment of bust-out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305409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Often maxes multiple credit lines at multiple banks simultaneously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345643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Managed by credit risk tools, not traditional fraud tools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385876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Warning signs: sudden spending surge, maxed limits across institutions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09160" y="1371600"/>
            <a:ext cx="41605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709160" y="1371600"/>
            <a:ext cx="109728" cy="33832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37760" y="146304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PIN Debit Fraud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37760" y="1810512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is: ATM skimming captures card data; hidden camera captures PIN.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37760" y="224942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Requires both physical card data AND the PIN — harder to pull off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937760" y="26517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Most common method: skimmer on ATM + tiny hidden camera above keypad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937760" y="305409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Criminals need both pieces; having one without the other is useless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937760" y="345643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Defence: encrypted PIN entry hardware (PIN never transmitted in plain text)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937760" y="385876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Hardware encryption requirement significantly limits fraud pathways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1234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09728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PCI-DSS: The Industry's Mandatory Security Standard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658368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is, what it requires, and why it's not enough on its own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28600" y="48920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Payment Systems in the US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8920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1371600"/>
            <a:ext cx="8686800" cy="685800"/>
          </a:xfrm>
          <a:prstGeom prst="rect">
            <a:avLst/>
          </a:prstGeom>
          <a:solidFill>
            <a:srgbClr val="EBF2FA"/>
          </a:solidFill>
          <a:ln w="15240">
            <a:solidFill>
              <a:srgbClr val="D1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14173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PCI-DSS was created: Large-scale data breaches in the early 2000s allowed criminals to steal millions of card numbers at once. Individual companies weren't investing enough in security. The industry created a mandatory baseline standard to force everyone to meet minimum security requirements.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176272"/>
            <a:ext cx="2743200" cy="1024128"/>
          </a:xfrm>
          <a:prstGeom prst="rect">
            <a:avLst/>
          </a:prstGeom>
          <a:solidFill>
            <a:srgbClr val="FFFFFF"/>
          </a:solidFill>
          <a:ln w="15240">
            <a:solidFill>
              <a:srgbClr val="D1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28600" y="2176272"/>
            <a:ext cx="2743200" cy="29260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" y="217627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 1–2 — Secure Network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0040" y="2505456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Firewalls, no vendor default passwords, secure configurations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0" y="2176272"/>
            <a:ext cx="2743200" cy="1024128"/>
          </a:xfrm>
          <a:prstGeom prst="rect">
            <a:avLst/>
          </a:prstGeom>
          <a:solidFill>
            <a:srgbClr val="FFFFFF"/>
          </a:solidFill>
          <a:ln w="15240">
            <a:solidFill>
              <a:srgbClr val="D1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00400" y="2176272"/>
            <a:ext cx="2743200" cy="29260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91840" y="217627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 3–4 — Protect Card Data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91840" y="2505456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 stored data; protect data during transmission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72200" y="2176272"/>
            <a:ext cx="2743200" cy="1024128"/>
          </a:xfrm>
          <a:prstGeom prst="rect">
            <a:avLst/>
          </a:prstGeom>
          <a:solidFill>
            <a:srgbClr val="FFFFFF"/>
          </a:solidFill>
          <a:ln w="15240">
            <a:solidFill>
              <a:srgbClr val="D1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172200" y="2176272"/>
            <a:ext cx="2743200" cy="29260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263640" y="217627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 5–6 — Vulnerability Mgmt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63640" y="2505456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Antivirus software, secure systems and applications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28600" y="3383280"/>
            <a:ext cx="2743200" cy="1024128"/>
          </a:xfrm>
          <a:prstGeom prst="rect">
            <a:avLst/>
          </a:prstGeom>
          <a:solidFill>
            <a:srgbClr val="FFFFFF"/>
          </a:solidFill>
          <a:ln w="15240">
            <a:solidFill>
              <a:srgbClr val="D1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28600" y="3383280"/>
            <a:ext cx="2743200" cy="29260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20040" y="338328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 7–9 — Access Control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0040" y="3712464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data access; unique IDs for everyone; physical security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00400" y="3383280"/>
            <a:ext cx="2743200" cy="1024128"/>
          </a:xfrm>
          <a:prstGeom prst="rect">
            <a:avLst/>
          </a:prstGeom>
          <a:solidFill>
            <a:srgbClr val="FFFFFF"/>
          </a:solidFill>
          <a:ln w="15240">
            <a:solidFill>
              <a:srgbClr val="D1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200400" y="3383280"/>
            <a:ext cx="2743200" cy="29260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291840" y="338328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 10–11 — Monitor &amp; Test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291840" y="3712464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all access; test security systems regularly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172200" y="3383280"/>
            <a:ext cx="2743200" cy="1024128"/>
          </a:xfrm>
          <a:prstGeom prst="rect">
            <a:avLst/>
          </a:prstGeom>
          <a:solidFill>
            <a:srgbClr val="FFFFFF"/>
          </a:solidFill>
          <a:ln w="15240">
            <a:solidFill>
              <a:srgbClr val="D1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172200" y="3383280"/>
            <a:ext cx="2743200" cy="29260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263640" y="338328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 12 — Security Policy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63640" y="3712464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a policy that all staff understand and follow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228600" y="4663440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PCI-DSS reduces breach risk significantly — but does NOT guarantee perfect security. Compliance is a point-in-time snapshot, not a continuous guarantee.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1234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09728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Tokenization — Making Stolen Data Worthless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658368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if criminals steal the data, they get nothing useful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28600" y="48920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Payment Systems in the US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8920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1371600"/>
            <a:ext cx="8686800" cy="1508760"/>
          </a:xfrm>
          <a:prstGeom prst="rect">
            <a:avLst/>
          </a:prstGeom>
          <a:solidFill>
            <a:srgbClr val="EBF2FA"/>
          </a:solidFill>
          <a:ln w="15240">
            <a:solidFill>
              <a:srgbClr val="D1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14356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Tokenization Works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" y="1783080"/>
            <a:ext cx="1920240" cy="822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1480" y="17830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Card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350008" y="1920240"/>
            <a:ext cx="201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560320" y="1783080"/>
            <a:ext cx="1920240" cy="822960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560320" y="17830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Token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498848" y="1920240"/>
            <a:ext cx="201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709160" y="1783080"/>
            <a:ext cx="1920240" cy="8229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09160" y="17830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Stored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Vault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647688" y="1920240"/>
            <a:ext cx="201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858000" y="1783080"/>
            <a:ext cx="1920240" cy="8229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858000" y="17830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Sees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Token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28600" y="3017520"/>
            <a:ext cx="8686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28600" y="3017520"/>
            <a:ext cx="109728" cy="1600200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3108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Real-World Example: Apple Pay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3474720"/>
            <a:ext cx="8321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When you add a card to Apple Pay, the card network generates a Device Account Number (DAN) — a token unique to your device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3749040"/>
            <a:ext cx="8321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Your real card number is NEVER stored on your iPhone, NEVER transmitted to the merchant, and NEVER seen by Apple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7200" y="4023360"/>
            <a:ext cx="8321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Each transaction also uses a one-time cryptographic code generated by the secure chip on your device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4297680"/>
            <a:ext cx="8321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If a criminal intercepts the token, it is completely useless without your device's private cryptographic keys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980"/>
            <a:ext cx="9144000" cy="12344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1234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09728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End-to-End Encryption (E2EE / P2PE)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658368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data is encrypted from the moment you swipe — it never travels in readable form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28600" y="48920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Payment Systems in the US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8920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417320"/>
            <a:ext cx="1920240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" y="14630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Card Tap /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Swipe / Dip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" y="193852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encrypted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immediately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194560" y="1783080"/>
            <a:ext cx="292608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255628" y="1572768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🔒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487168" y="1417320"/>
            <a:ext cx="1920240" cy="100584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487168" y="14630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Terminal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487168" y="193852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data</a:t>
            </a:r>
            <a:endParaRPr lang="en-US" sz="9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 through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407408" y="1783080"/>
            <a:ext cx="292608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468476" y="1572768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🔒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00016" y="1417320"/>
            <a:ext cx="1920240" cy="1005840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00016" y="14630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Merchant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00016" y="193852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encrypted —</a:t>
            </a:r>
            <a:endParaRPr lang="en-US" sz="9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sees nothing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620256" y="1783080"/>
            <a:ext cx="292608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681324" y="1572768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🔒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912864" y="1417320"/>
            <a:ext cx="1920240" cy="10058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912864" y="14630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Processor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912864" y="193852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here is data</a:t>
            </a:r>
            <a:endParaRPr lang="en-US" sz="9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decrypted safely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7" name="Shape 25"/>
          <p:cNvSpPr/>
          <p:nvPr/>
        </p:nvSpPr>
        <p:spPr>
          <a:xfrm>
            <a:off x="228600" y="2606040"/>
            <a:ext cx="2834640" cy="2011680"/>
          </a:xfrm>
          <a:prstGeom prst="rect">
            <a:avLst/>
          </a:prstGeom>
          <a:solidFill>
            <a:srgbClr val="FFFFFF"/>
          </a:solidFill>
          <a:ln w="15240">
            <a:solidFill>
              <a:srgbClr val="D1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28600" y="2606040"/>
            <a:ext cx="2834640" cy="310896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20040" y="2606040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Reduces Breach Impact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20040" y="2953512"/>
            <a:ext cx="269748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if criminals breach a merchant's system, they only find encrypted data they cannot read or use.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27832" y="2606040"/>
            <a:ext cx="2834640" cy="2011680"/>
          </a:xfrm>
          <a:prstGeom prst="rect">
            <a:avLst/>
          </a:prstGeom>
          <a:solidFill>
            <a:srgbClr val="FFFFFF"/>
          </a:solidFill>
          <a:ln w="15240">
            <a:solidFill>
              <a:srgbClr val="D1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227832" y="2606040"/>
            <a:ext cx="2834640" cy="310896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319272" y="2606040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Reduces PCI Scope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319272" y="2953512"/>
            <a:ext cx="269748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Merchants using certified P2PE solutions have a dramatically smaller PCI compliance burden — fewer systems to audit.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27064" y="2606040"/>
            <a:ext cx="2834640" cy="2011680"/>
          </a:xfrm>
          <a:prstGeom prst="rect">
            <a:avLst/>
          </a:prstGeom>
          <a:solidFill>
            <a:srgbClr val="FFFFFF"/>
          </a:solidFill>
          <a:ln w="15240">
            <a:solidFill>
              <a:srgbClr val="D1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227064" y="2606040"/>
            <a:ext cx="2834640" cy="310896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318504" y="2606040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Works With Tokenization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318504" y="2953512"/>
            <a:ext cx="269748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 combines E2EE (protects data in transit) with tokenization (protects stored data) for maximum security.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1234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09728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Modern Fraud Detection Works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658368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analyses hundreds of signals in milliseconds to approve or decline every transaction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28600" y="48920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Payment Systems in the US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8920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948940" y="2441448"/>
            <a:ext cx="3200400" cy="914400"/>
          </a:xfrm>
          <a:prstGeom prst="rect">
            <a:avLst/>
          </a:prstGeom>
          <a:solidFill>
            <a:srgbClr val="0D1B3E"/>
          </a:solidFill>
          <a:ln w="15240">
            <a:solidFill>
              <a:srgbClr val="D1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971800" y="2441448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Transaction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82880" y="1417320"/>
            <a:ext cx="2606040" cy="749808"/>
          </a:xfrm>
          <a:prstGeom prst="rect">
            <a:avLst/>
          </a:prstGeom>
          <a:solidFill>
            <a:srgbClr val="FFFFFF"/>
          </a:solidFill>
          <a:ln w="15240">
            <a:solidFill>
              <a:srgbClr val="D1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92608" y="1490472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— matches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usual geography?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606040"/>
            <a:ext cx="2606040" cy="749808"/>
          </a:xfrm>
          <a:prstGeom prst="rect">
            <a:avLst/>
          </a:prstGeom>
          <a:solidFill>
            <a:srgbClr val="FFFFFF"/>
          </a:solidFill>
          <a:ln w="15240">
            <a:solidFill>
              <a:srgbClr val="D1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92608" y="2679192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of day — unusual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for this merchant?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82880" y="3749040"/>
            <a:ext cx="2606040" cy="749808"/>
          </a:xfrm>
          <a:prstGeom prst="rect">
            <a:avLst/>
          </a:prstGeom>
          <a:solidFill>
            <a:srgbClr val="FFFFFF"/>
          </a:solidFill>
          <a:ln w="15240">
            <a:solidFill>
              <a:srgbClr val="D1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92608" y="3822192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— typical for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spending pattern?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309360" y="1417320"/>
            <a:ext cx="2606040" cy="749808"/>
          </a:xfrm>
          <a:prstGeom prst="rect">
            <a:avLst/>
          </a:prstGeom>
          <a:solidFill>
            <a:srgbClr val="FFFFFF"/>
          </a:solidFill>
          <a:ln w="15240">
            <a:solidFill>
              <a:srgbClr val="D1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19088" y="1490472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category — do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shop here normally?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309360" y="2606040"/>
            <a:ext cx="2606040" cy="749808"/>
          </a:xfrm>
          <a:prstGeom prst="rect">
            <a:avLst/>
          </a:prstGeom>
          <a:solidFill>
            <a:srgbClr val="FFFFFF"/>
          </a:solidFill>
          <a:ln w="15240">
            <a:solidFill>
              <a:srgbClr val="D1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19088" y="2679192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/ IP — is this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usual device?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309360" y="3749040"/>
            <a:ext cx="2606040" cy="749808"/>
          </a:xfrm>
          <a:prstGeom prst="rect">
            <a:avLst/>
          </a:prstGeom>
          <a:solidFill>
            <a:srgbClr val="FFFFFF"/>
          </a:solidFill>
          <a:ln w="15240">
            <a:solidFill>
              <a:srgbClr val="D1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19088" y="3822192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— multiple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in seconds?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28600" y="4663440"/>
            <a:ext cx="4023360" cy="164592"/>
          </a:xfrm>
          <a:prstGeom prst="rect">
            <a:avLst/>
          </a:prstGeom>
          <a:solidFill>
            <a:srgbClr val="16A34A"/>
          </a:solidFill>
          <a:ln w="15240">
            <a:solidFill>
              <a:srgbClr val="D1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28600" y="4663440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✔  APPROVE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92040" y="4663440"/>
            <a:ext cx="4023360" cy="164592"/>
          </a:xfrm>
          <a:prstGeom prst="rect">
            <a:avLst/>
          </a:prstGeom>
          <a:solidFill>
            <a:srgbClr val="DC2626"/>
          </a:solidFill>
          <a:ln w="15240">
            <a:solidFill>
              <a:srgbClr val="D1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92040" y="4663440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✘  DECLINE or FLAG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1234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09728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658368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8 things everyone should walk away knowing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28600" y="48920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Payment Systems in the US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8920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1389888"/>
            <a:ext cx="4160520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D1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28600" y="1389888"/>
            <a:ext cx="457200" cy="71323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28600" y="1389888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144475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parties in every transaction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77240" y="1755648"/>
            <a:ext cx="3520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Cardholder, Issuer, Network, Acquirer, Merchant — each earns a fee and takes some risk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09160" y="1389888"/>
            <a:ext cx="4160520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D1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709160" y="1389888"/>
            <a:ext cx="457200" cy="71323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09160" y="1389888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57800" y="144475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Credit risk ≠ Fraud risk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257800" y="1755648"/>
            <a:ext cx="3520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risk only exists when money is lent. Fraud risk exists in every card type, always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28600" y="2212848"/>
            <a:ext cx="4160520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D1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28600" y="2212848"/>
            <a:ext cx="457200" cy="71323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28600" y="2212848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77240" y="226771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you pay = who pays for fraud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77240" y="2578608"/>
            <a:ext cx="3520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Card-present: issuer bears it. Card-not-present: merchant bears it. Know the difference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09160" y="2212848"/>
            <a:ext cx="4160520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D1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09160" y="2212848"/>
            <a:ext cx="457200" cy="71323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09160" y="2212848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57800" y="226771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EMV chips changed the game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257800" y="2578608"/>
            <a:ext cx="3520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Eliminated counterfeit fraud at terminals — but pushed criminals online instead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8600" y="3035808"/>
            <a:ext cx="4160520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D1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28600" y="3035808"/>
            <a:ext cx="457200" cy="71323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28600" y="3035808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77240" y="309067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PCI-DSS is mandatory but not sufficient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77240" y="3401568"/>
            <a:ext cx="3520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for all card handlers. Reduces breach risk but cannot guarantee zero breaches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09160" y="3035808"/>
            <a:ext cx="4160520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D1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709160" y="3035808"/>
            <a:ext cx="457200" cy="71323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709160" y="3035808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257800" y="309067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Tokenization makes stolen data worthless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257800" y="3401568"/>
            <a:ext cx="3520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Pay, Google Pay — real card numbers never leave the secure vault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28600" y="3858768"/>
            <a:ext cx="4160520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D1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228600" y="3858768"/>
            <a:ext cx="457200" cy="71323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228600" y="3858768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77240" y="391363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is an economic decision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777240" y="4224528"/>
            <a:ext cx="3520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security doesn't exist. Risk-based calibration is the rational approach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709160" y="3858768"/>
            <a:ext cx="4160520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D1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4709160" y="3858768"/>
            <a:ext cx="457200" cy="71323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709160" y="3858768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5257800" y="391363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Fraud never stops — it adapts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5257800" y="4224528"/>
            <a:ext cx="3520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ATO, synthetic identity, AI-powered attacks — the landscape evolves constantly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5D172D4-5C41-EBA4-2AE2-39F7EB344ECB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1482D90-E18E-3964-4B75-1B2AB421547C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F313200-2E58-DB89-DB14-D97D8D611F04}"/>
              </a:ext>
            </a:extLst>
          </p:cNvPr>
          <p:cNvSpPr/>
          <p:nvPr/>
        </p:nvSpPr>
        <p:spPr>
          <a:xfrm>
            <a:off x="877824" y="2166586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3125334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9B8EE6072CCC949AE3B9F71595720CD" ma:contentTypeVersion="14" ma:contentTypeDescription="Create a new document." ma:contentTypeScope="" ma:versionID="d8cb1f135a5912bb290856803fdafd5b">
  <xsd:schema xmlns:xsd="http://www.w3.org/2001/XMLSchema" xmlns:xs="http://www.w3.org/2001/XMLSchema" xmlns:p="http://schemas.microsoft.com/office/2006/metadata/properties" xmlns:ns2="c9f1faa8-5418-4c35-877d-853ce2afda31" xmlns:ns3="61ea73c3-10a7-4d5d-9c58-c1e5c30e30dc" targetNamespace="http://schemas.microsoft.com/office/2006/metadata/properties" ma:root="true" ma:fieldsID="529b99e15a6c481cc6b667f0a6f1b08f" ns2:_="" ns3:_="">
    <xsd:import namespace="c9f1faa8-5418-4c35-877d-853ce2afda31"/>
    <xsd:import namespace="61ea73c3-10a7-4d5d-9c58-c1e5c30e30d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f1faa8-5418-4c35-877d-853ce2afda3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ca363587-87ea-41e2-9a9e-8270a2079e6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1ea73c3-10a7-4d5d-9c58-c1e5c30e30dc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25c207fb-9e6e-4c5b-9eb2-d05082e3e9b3}" ma:internalName="TaxCatchAll" ma:showField="CatchAllData" ma:web="61ea73c3-10a7-4d5d-9c58-c1e5c30e30d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1ea73c3-10a7-4d5d-9c58-c1e5c30e30dc" xsi:nil="true"/>
    <lcf76f155ced4ddcb4097134ff3c332f xmlns="c9f1faa8-5418-4c35-877d-853ce2afda31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B84F477E-C72B-4E1D-ADD8-EE62E1CEBCDD}"/>
</file>

<file path=customXml/itemProps2.xml><?xml version="1.0" encoding="utf-8"?>
<ds:datastoreItem xmlns:ds="http://schemas.openxmlformats.org/officeDocument/2006/customXml" ds:itemID="{DEE2AD3C-F9A9-46EE-97B9-AF42E03742DF}"/>
</file>

<file path=customXml/itemProps3.xml><?xml version="1.0" encoding="utf-8"?>
<ds:datastoreItem xmlns:ds="http://schemas.openxmlformats.org/officeDocument/2006/customXml" ds:itemID="{1860411D-741B-4108-89DD-2CFDF4CD7BDB}"/>
</file>

<file path=docProps/app.xml><?xml version="1.0" encoding="utf-8"?>
<Properties xmlns="http://schemas.openxmlformats.org/officeDocument/2006/extended-properties" xmlns:vt="http://schemas.openxmlformats.org/officeDocument/2006/docPropsVTypes">
  <TotalTime>2894</TotalTime>
  <Words>2503</Words>
  <Application>Microsoft Macintosh PowerPoint</Application>
  <PresentationFormat>On-screen Show (16:9)</PresentationFormat>
  <Paragraphs>364</Paragraphs>
  <Slides>18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Card Payment Systems in the US</dc:title>
  <dc:subject>PptxGenJS Presentation</dc:subject>
  <dc:creator>PptxGenJS</dc:creator>
  <cp:lastModifiedBy>Ankit Arora(UST,IN)</cp:lastModifiedBy>
  <cp:revision>10</cp:revision>
  <dcterms:created xsi:type="dcterms:W3CDTF">2026-02-23T13:46:25Z</dcterms:created>
  <dcterms:modified xsi:type="dcterms:W3CDTF">2026-03-10T09:00:24Z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5ffddfa-74ad-4c1f-9757-a38a11902f1c_Enabled">
    <vt:lpwstr>true</vt:lpwstr>
  </property>
  <property fmtid="{D5CDD505-2E9C-101B-9397-08002B2CF9AE}" pid="3" name="MSIP_Label_15ffddfa-74ad-4c1f-9757-a38a11902f1c_SetDate">
    <vt:lpwstr>2026-02-24T09:31:39Z</vt:lpwstr>
  </property>
  <property fmtid="{D5CDD505-2E9C-101B-9397-08002B2CF9AE}" pid="4" name="MSIP_Label_15ffddfa-74ad-4c1f-9757-a38a11902f1c_Method">
    <vt:lpwstr>Standard</vt:lpwstr>
  </property>
  <property fmtid="{D5CDD505-2E9C-101B-9397-08002B2CF9AE}" pid="5" name="MSIP_Label_15ffddfa-74ad-4c1f-9757-a38a11902f1c_Name">
    <vt:lpwstr>UST Internal</vt:lpwstr>
  </property>
  <property fmtid="{D5CDD505-2E9C-101B-9397-08002B2CF9AE}" pid="6" name="MSIP_Label_15ffddfa-74ad-4c1f-9757-a38a11902f1c_SiteId">
    <vt:lpwstr>a4431f4b-c207-4733-9530-34c08a9b2b8d</vt:lpwstr>
  </property>
  <property fmtid="{D5CDD505-2E9C-101B-9397-08002B2CF9AE}" pid="7" name="MSIP_Label_15ffddfa-74ad-4c1f-9757-a38a11902f1c_ActionId">
    <vt:lpwstr>f692f11e-f142-47dc-bbbc-9bd686ad919b</vt:lpwstr>
  </property>
  <property fmtid="{D5CDD505-2E9C-101B-9397-08002B2CF9AE}" pid="8" name="MSIP_Label_15ffddfa-74ad-4c1f-9757-a38a11902f1c_ContentBits">
    <vt:lpwstr>0</vt:lpwstr>
  </property>
  <property fmtid="{D5CDD505-2E9C-101B-9397-08002B2CF9AE}" pid="9" name="MSIP_Label_15ffddfa-74ad-4c1f-9757-a38a11902f1c_Tag">
    <vt:lpwstr>50, 3, 0, 1</vt:lpwstr>
  </property>
  <property fmtid="{D5CDD505-2E9C-101B-9397-08002B2CF9AE}" pid="10" name="ContentTypeId">
    <vt:lpwstr>0x010100E9B8EE6072CCC949AE3B9F71595720CD</vt:lpwstr>
  </property>
</Properties>
</file>