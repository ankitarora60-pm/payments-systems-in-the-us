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640080"/>
            <a:ext cx="640080" cy="6400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640080" cy="64008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383280"/>
            <a:ext cx="640080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80960" y="7498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Bank-to-Bank Network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7680960" y="21214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Transfers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7680960" y="34930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Reliable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20040" y="822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4800" dirty="0"/>
          </a:p>
        </p:txBody>
      </p:sp>
      <p:sp>
        <p:nvSpPr>
          <p:cNvPr id="12" name="Text 7"/>
          <p:cNvSpPr/>
          <p:nvPr/>
        </p:nvSpPr>
        <p:spPr>
          <a:xfrm>
            <a:off x="32004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HOUSE</a:t>
            </a:r>
            <a:endParaRPr lang="en-US" sz="4800" dirty="0"/>
          </a:p>
        </p:txBody>
      </p:sp>
      <p:sp>
        <p:nvSpPr>
          <p:cNvPr id="13" name="Text 8"/>
          <p:cNvSpPr/>
          <p:nvPr/>
        </p:nvSpPr>
        <p:spPr>
          <a:xfrm>
            <a:off x="32004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2004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Electronic Payment Network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20040" y="3429000"/>
            <a:ext cx="4572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ACH is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3721608"/>
            <a:ext cx="4572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" y="3694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ACH works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4014216"/>
            <a:ext cx="4572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39867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in ACH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0040" y="4306824"/>
            <a:ext cx="4572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279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transaction types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" y="4599432"/>
            <a:ext cx="4572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4572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trends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2004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System in the U.S. — Glenbrook Partners (3rd Ed.)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ACH?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(Automated Clearing House) is a nationwide electronic network for financial transactions — enabling direct bank-to-bank money transfers between U.S. financial institutions.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14600"/>
            <a:ext cx="26517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953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Deposit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5146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514600"/>
            <a:ext cx="26517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40480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2953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5146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514600"/>
            <a:ext cx="26517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75120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2953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11880"/>
            <a:ext cx="26517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05840" y="3721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Tax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61188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611880"/>
            <a:ext cx="26517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840480" y="3721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40480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Accounts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61188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3611880"/>
            <a:ext cx="26517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675120" y="3721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ACH WAS CREATED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paper checks with a faster, cheaper, electronic alternative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2004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41148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check processing was slow &amp; expensive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Physical checks required manual sorting and transport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risk of lost or stolen checks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Days to weeks for payments to clear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Significant labor and operational overhead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4023360" cy="32004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325880"/>
            <a:ext cx="4023360" cy="4114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Electronic processing — fully automated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Batch processing reduces operational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8712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Reliable end-to-end tracking and audit trail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346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Settled within 1–2 business days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822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NACHA governs rules and standards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0C1F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00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NACHA (Electronic Payments Association) serves as the trustee and rulemaker for the ACH Network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PAYMENT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Payment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4048" y="2002536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928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paying salary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596896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collecting bill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3191256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81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2697480"/>
            <a:ext cx="164592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606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50592" y="1234440"/>
            <a:ext cx="201168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1234440"/>
            <a:ext cx="20116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ODFI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42032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Originating Bank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0" y="200253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06624" y="18928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instruction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0" y="259689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transaction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0" y="319125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06624" y="3081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to network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42032" y="4343400"/>
            <a:ext cx="18288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436168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Liable for originator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62272" y="2697480"/>
            <a:ext cx="164592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35424" y="2606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26864" y="1234440"/>
            <a:ext cx="201168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12344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OPERATOR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Reserve / EPN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36592" y="200253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18928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transactions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36592" y="259689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banks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36592" y="31912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3081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clearing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18304" y="4343400"/>
            <a:ext cx="18288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36168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operators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38544" y="2697480"/>
            <a:ext cx="164592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11696" y="2606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03136" y="1234440"/>
            <a:ext cx="201168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03136" y="1234440"/>
            <a:ext cx="20116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Bank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12864" y="200253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9168" y="18928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entries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12864" y="259689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Credits/debits account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12864" y="319125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3081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returns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→ ODFI → ACH Operator → RDFI → Receiver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CLEARING, SETTLEMENT &amp; PAYMENT TYPES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vs. Settlement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1488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information exchanged between banks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97480" y="1325880"/>
            <a:ext cx="21488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176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funds move through Federal Reserve accounts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297680" cy="548640"/>
          </a:xfrm>
          <a:prstGeom prst="rect">
            <a:avLst/>
          </a:prstGeom>
          <a:solidFill>
            <a:srgbClr val="0C1F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ACH processes in batches → lower cost, high scalability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vs. Pull Payments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840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325880"/>
            <a:ext cx="64008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417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1801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initiates &amp; pushes money to recipient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Payroll Direct Deposit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834640"/>
            <a:ext cx="3840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83464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PULL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3310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initiates &amp; pulls funds from payer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Utility Bill Payment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ENTRY CODES (SEC)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codes classify each ACH transaction — defining authorization type and applicable rules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822960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210312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5506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Prearranged Payment &amp; Deposit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993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Consumer recurring payments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34440" y="22677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Payroll, mortgage, utilities, insurance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2532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Written or verbal authorization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6002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600200"/>
            <a:ext cx="82296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10312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165506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Internet-Initiated Entry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1993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Online bank account transactions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0" y="22677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Online subscriptions, e-commerce transfers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2532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Online authentication required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00400"/>
            <a:ext cx="82296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70332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25526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Credit or Debit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35935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Business-to-business payments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34440" y="3867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Vendor, supplier, inter-company transfers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41330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Company authorization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200400"/>
            <a:ext cx="822960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370332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325526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Trade Exchange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5935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B2B with detailed remittance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0" y="3867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Enterprise supply chain payments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41330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Includes invoice/remittance data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CONVERSION TO 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physical checks through electronic conversion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502920"/>
          </a:xfrm>
          <a:prstGeom prst="rect">
            <a:avLst/>
          </a:prstGeom>
          <a:solidFill>
            <a:srgbClr val="0A30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physical check handling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1143000"/>
            <a:ext cx="2011680" cy="502920"/>
          </a:xfrm>
          <a:prstGeom prst="rect">
            <a:avLst/>
          </a:prstGeom>
          <a:solidFill>
            <a:srgbClr val="0A30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processing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1143000"/>
            <a:ext cx="2011680" cy="502920"/>
          </a:xfrm>
          <a:prstGeom prst="rect">
            <a:avLst/>
          </a:prstGeom>
          <a:solidFill>
            <a:srgbClr val="0A30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Lower operational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03136" y="1143000"/>
            <a:ext cx="2011680" cy="502920"/>
          </a:xfrm>
          <a:prstGeom prst="rect">
            <a:avLst/>
          </a:prstGeom>
          <a:solidFill>
            <a:srgbClr val="0A30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4576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check loss risk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2743200" cy="3063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28800"/>
            <a:ext cx="2743200" cy="50292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836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ARC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Receivable Conversion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95351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1693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2825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sends/mails check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45643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1985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" y="332841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converted to ACH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95935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92277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" y="38313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debit created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2560320" cy="320040"/>
          </a:xfrm>
          <a:prstGeom prst="rect">
            <a:avLst/>
          </a:prstGeom>
          <a:solidFill>
            <a:srgbClr val="0A253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Utility, insurance, loan payments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828800"/>
            <a:ext cx="2743200" cy="3063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1828800"/>
            <a:ext cx="2743200" cy="50292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18836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POP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19272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Point-of-Purchase Conversion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295351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91693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11880" y="2825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scans check at store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37560" y="345643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41985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11880" y="332841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MICR data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37560" y="395935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92277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11880" y="38313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check, initiates ACH debit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19272" y="4434840"/>
            <a:ext cx="2560320" cy="320040"/>
          </a:xfrm>
          <a:prstGeom prst="rect">
            <a:avLst/>
          </a:prstGeom>
          <a:solidFill>
            <a:srgbClr val="0A253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Retail point-of-sale transactions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81344" y="1828800"/>
            <a:ext cx="2743200" cy="3063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81344" y="1828800"/>
            <a:ext cx="2743200" cy="50292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18836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BOC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272784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Conversion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91072" y="295351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291693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65392" y="2825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collected at point of sale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345643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341985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65392" y="332841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converted later in back office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395935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392277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65392" y="38313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debit processed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72784" y="4434840"/>
            <a:ext cx="2560320" cy="320040"/>
          </a:xfrm>
          <a:prstGeom prst="rect">
            <a:avLst/>
          </a:prstGeom>
          <a:solidFill>
            <a:srgbClr val="0A253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18504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High-volume retail environments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OF ACH PAYMENTS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 by Payment Method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764792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– 3%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2633472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– 1%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3502152"/>
            <a:ext cx="320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cents/transaction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ACH the lowest-cost option?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170432"/>
            <a:ext cx="3291840" cy="370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ACH Is Cheaper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Batch processing cuts operational cost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card network interchange fees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Direct bank-to-bank transfer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Lower infrastructure overhead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High volume at fixed low cost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Batch processing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interchange fees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 bank transfers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RISKS &amp; RISK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Risks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Unauthorized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debits from customer accounts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93976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93976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Insufficient funds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returned due to low balance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770632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70632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Data errors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3072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routing or account numbers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447288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4728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Settlement delay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is not real-time by default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123944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23944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Return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" y="4425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may dispute transactions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Risk Controls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417320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03B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417320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NACHA Rules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92624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rules for all ACH participants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093976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03B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093976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ODFI Oversight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Originating banks monitor and manage originators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770632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03B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770632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Authorization requirements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92624" y="3072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customer authorization at all times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447288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03B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447288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Return rate monitoring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92624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track and flag excessive return activity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4123944"/>
            <a:ext cx="3931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03B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4123944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Fraud detection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92624" y="4425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systems flag unusual transaction patterns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ACH &amp; TRENDS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5029200" cy="374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0292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SAME DAY 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to close the speed gap in traditional ACH processing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Same-day settlement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processed and settled same business 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Faster fund availability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81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get funds hours, not days, later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Improved efficiency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float and working capital needs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3708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payroll  •  Insurance payouts  •  B2B payments  •  Bank transfers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1170432"/>
            <a:ext cx="3291840" cy="374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1170432"/>
            <a:ext cx="3291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07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KEY TRENDS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1755648"/>
            <a:ext cx="329184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7922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 transactions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011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growth in internet-initiated payments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77840" y="2377440"/>
            <a:ext cx="3291840" cy="5303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4140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Same Day ACH expansion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6334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covers higher-value transactions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2999232"/>
            <a:ext cx="329184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30358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push to faster payments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32552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 &amp; RTP emerging alongside ACH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77840" y="3621024"/>
            <a:ext cx="3291840" cy="5303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3657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B2B digitization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38770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replacing checks with ACH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4242816"/>
            <a:ext cx="329184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42793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Fraud controls tightening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15000" y="44988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detection across originators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8EE6072CCC949AE3B9F71595720CD" ma:contentTypeVersion="14" ma:contentTypeDescription="Create a new document." ma:contentTypeScope="" ma:versionID="d8cb1f135a5912bb290856803fdafd5b">
  <xsd:schema xmlns:xsd="http://www.w3.org/2001/XMLSchema" xmlns:xs="http://www.w3.org/2001/XMLSchema" xmlns:p="http://schemas.microsoft.com/office/2006/metadata/properties" xmlns:ns2="c9f1faa8-5418-4c35-877d-853ce2afda31" xmlns:ns3="61ea73c3-10a7-4d5d-9c58-c1e5c30e30dc" targetNamespace="http://schemas.microsoft.com/office/2006/metadata/properties" ma:root="true" ma:fieldsID="529b99e15a6c481cc6b667f0a6f1b08f" ns2:_="" ns3:_="">
    <xsd:import namespace="c9f1faa8-5418-4c35-877d-853ce2afda31"/>
    <xsd:import namespace="61ea73c3-10a7-4d5d-9c58-c1e5c30e30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1faa8-5418-4c35-877d-853ce2afda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a363587-87ea-41e2-9a9e-8270a2079e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a73c3-10a7-4d5d-9c58-c1e5c30e30d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25c207fb-9e6e-4c5b-9eb2-d05082e3e9b3}" ma:internalName="TaxCatchAll" ma:showField="CatchAllData" ma:web="61ea73c3-10a7-4d5d-9c58-c1e5c30e30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ea73c3-10a7-4d5d-9c58-c1e5c30e30dc" xsi:nil="true"/>
    <lcf76f155ced4ddcb4097134ff3c332f xmlns="c9f1faa8-5418-4c35-877d-853ce2afda3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1AA7349-A3FA-4D18-9C6D-CC40F46BEA98}"/>
</file>

<file path=customXml/itemProps2.xml><?xml version="1.0" encoding="utf-8"?>
<ds:datastoreItem xmlns:ds="http://schemas.openxmlformats.org/officeDocument/2006/customXml" ds:itemID="{BEC174DC-98E7-4F79-BE72-D9D50627F060}"/>
</file>

<file path=customXml/itemProps3.xml><?xml version="1.0" encoding="utf-8"?>
<ds:datastoreItem xmlns:ds="http://schemas.openxmlformats.org/officeDocument/2006/customXml" ds:itemID="{AA80B27D-EFAA-43DD-9CE6-9529BB0DE21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ACH Payments System</dc:title>
  <dc:subject>PptxGenJS Presentation</dc:subject>
  <dc:creator>PptxGenJS</dc:creator>
  <cp:lastModifiedBy>PptxGenJS</cp:lastModifiedBy>
  <cp:revision>1</cp:revision>
  <dcterms:created xsi:type="dcterms:W3CDTF">2026-03-05T08:51:04Z</dcterms:created>
  <dcterms:modified xsi:type="dcterms:W3CDTF">2026-03-05T08:51:04Z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0x010100E9B8EE6072CCC949AE3B9F71595720CD</vt:lpwstr>
  </property>
</Properties>
</file>