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entation.xml" ContentType="application/vnd.openxmlformats-officedocument.presentationml.presentation.main+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charts/chart1.xml" ContentType="application/vnd.openxmlformats-officedocument.drawingml.chart+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6"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159" d="100"/>
          <a:sy n="159" d="100"/>
        </p:scale>
        <p:origin x="30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Debit Cards</c:v>
                </c:pt>
              </c:strCache>
            </c:strRef>
          </c:tx>
          <c:spPr>
            <a:solidFill>
              <a:srgbClr val="028090"/>
            </a:solidFill>
            <a:effectLst/>
          </c:spPr>
          <c:invertIfNegative val="0"/>
          <c:dLbls>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2002</c:v>
                </c:pt>
                <c:pt idx="1">
                  <c:v>2006</c:v>
                </c:pt>
                <c:pt idx="2">
                  <c:v>2011</c:v>
                </c:pt>
              </c:strCache>
            </c:strRef>
          </c:cat>
          <c:val>
            <c:numRef>
              <c:f>Sheet1!$B$2:$B$4</c:f>
              <c:numCache>
                <c:formatCode>General</c:formatCode>
                <c:ptCount val="3"/>
                <c:pt idx="0">
                  <c:v>13.3</c:v>
                </c:pt>
                <c:pt idx="1">
                  <c:v>23.2</c:v>
                </c:pt>
                <c:pt idx="2">
                  <c:v>35.9</c:v>
                </c:pt>
              </c:numCache>
            </c:numRef>
          </c:val>
          <c:extLst>
            <c:ext xmlns:c16="http://schemas.microsoft.com/office/drawing/2014/chart" uri="{C3380CC4-5D6E-409C-BE32-E72D297353CC}">
              <c16:uniqueId val="{00000000-AD7F-E644-9039-BB9691950297}"/>
            </c:ext>
          </c:extLst>
        </c:ser>
        <c:ser>
          <c:idx val="1"/>
          <c:order val="1"/>
          <c:tx>
            <c:strRef>
              <c:f>Sheet1!$C$1</c:f>
              <c:strCache>
                <c:ptCount val="1"/>
                <c:pt idx="0">
                  <c:v>Credit Cards</c:v>
                </c:pt>
              </c:strCache>
            </c:strRef>
          </c:tx>
          <c:spPr>
            <a:solidFill>
              <a:srgbClr val="D4860A"/>
            </a:solidFill>
            <a:effectLst/>
          </c:spPr>
          <c:invertIfNegative val="0"/>
          <c:dLbls>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2002</c:v>
                </c:pt>
                <c:pt idx="1">
                  <c:v>2006</c:v>
                </c:pt>
                <c:pt idx="2">
                  <c:v>2011</c:v>
                </c:pt>
              </c:strCache>
            </c:strRef>
          </c:cat>
          <c:val>
            <c:numRef>
              <c:f>Sheet1!$C$2:$C$4</c:f>
              <c:numCache>
                <c:formatCode>General</c:formatCode>
                <c:ptCount val="3"/>
                <c:pt idx="0">
                  <c:v>17.100000000000001</c:v>
                </c:pt>
                <c:pt idx="1">
                  <c:v>18.399999999999999</c:v>
                </c:pt>
                <c:pt idx="2">
                  <c:v>16.2</c:v>
                </c:pt>
              </c:numCache>
            </c:numRef>
          </c:val>
          <c:extLst>
            <c:ext xmlns:c16="http://schemas.microsoft.com/office/drawing/2014/chart" uri="{C3380CC4-5D6E-409C-BE32-E72D297353CC}">
              <c16:uniqueId val="{00000001-AD7F-E644-9039-BB9691950297}"/>
            </c:ext>
          </c:extLst>
        </c:ser>
        <c:ser>
          <c:idx val="2"/>
          <c:order val="2"/>
          <c:tx>
            <c:strRef>
              <c:f>Sheet1!$D$1</c:f>
              <c:strCache>
                <c:ptCount val="1"/>
                <c:pt idx="0">
                  <c:v>Checks</c:v>
                </c:pt>
              </c:strCache>
            </c:strRef>
          </c:tx>
          <c:spPr>
            <a:solidFill>
              <a:srgbClr val="B0B0B0"/>
            </a:solidFill>
            <a:effectLst/>
          </c:spPr>
          <c:invertIfNegative val="0"/>
          <c:dLbls>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2002</c:v>
                </c:pt>
                <c:pt idx="1">
                  <c:v>2006</c:v>
                </c:pt>
                <c:pt idx="2">
                  <c:v>2011</c:v>
                </c:pt>
              </c:strCache>
            </c:strRef>
          </c:cat>
          <c:val>
            <c:numRef>
              <c:f>Sheet1!$D$2:$D$4</c:f>
              <c:numCache>
                <c:formatCode>General</c:formatCode>
                <c:ptCount val="3"/>
                <c:pt idx="0">
                  <c:v>24.3</c:v>
                </c:pt>
                <c:pt idx="1">
                  <c:v>18.600000000000001</c:v>
                </c:pt>
                <c:pt idx="2">
                  <c:v>10.3</c:v>
                </c:pt>
              </c:numCache>
            </c:numRef>
          </c:val>
          <c:extLst>
            <c:ext xmlns:c16="http://schemas.microsoft.com/office/drawing/2014/chart" uri="{C3380CC4-5D6E-409C-BE32-E72D297353CC}">
              <c16:uniqueId val="{00000002-AD7F-E644-9039-BB9691950297}"/>
            </c:ext>
          </c:extLst>
        </c:ser>
        <c:ser>
          <c:idx val="3"/>
          <c:order val="3"/>
          <c:tx>
            <c:strRef>
              <c:f>Sheet1!$E$1</c:f>
              <c:strCache>
                <c:ptCount val="1"/>
                <c:pt idx="0">
                  <c:v>Cash</c:v>
                </c:pt>
              </c:strCache>
            </c:strRef>
          </c:tx>
          <c:spPr>
            <a:solidFill>
              <a:srgbClr val="6B7280"/>
            </a:solidFill>
            <a:effectLst/>
          </c:spPr>
          <c:invertIfNegative val="0"/>
          <c:dLbls>
            <c:numFmt formatCode="#,##0" sourceLinked="0"/>
            <c:spPr>
              <a:noFill/>
              <a:ln>
                <a:noFill/>
              </a:ln>
              <a:effectLst/>
            </c:spPr>
            <c:txPr>
              <a:bodyPr/>
              <a:lstStyle/>
              <a:p>
                <a:pPr>
                  <a:defRPr sz="9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2002</c:v>
                </c:pt>
                <c:pt idx="1">
                  <c:v>2006</c:v>
                </c:pt>
                <c:pt idx="2">
                  <c:v>2011</c:v>
                </c:pt>
              </c:strCache>
            </c:strRef>
          </c:cat>
          <c:val>
            <c:numRef>
              <c:f>Sheet1!$E$2:$E$4</c:f>
              <c:numCache>
                <c:formatCode>General</c:formatCode>
                <c:ptCount val="3"/>
                <c:pt idx="0">
                  <c:v>42.5</c:v>
                </c:pt>
                <c:pt idx="1">
                  <c:v>34.9</c:v>
                </c:pt>
                <c:pt idx="2">
                  <c:v>31.4</c:v>
                </c:pt>
              </c:numCache>
            </c:numRef>
          </c:val>
          <c:extLst>
            <c:ext xmlns:c16="http://schemas.microsoft.com/office/drawing/2014/chart" uri="{C3380CC4-5D6E-409C-BE32-E72D297353CC}">
              <c16:uniqueId val="{00000003-AD7F-E644-9039-BB969195029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5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073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12.pn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404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D4860A"/>
          </a:solidFill>
          <a:ln w="12700">
            <a:solidFill>
              <a:srgbClr val="D4860A"/>
            </a:solidFill>
            <a:prstDash val="solid"/>
          </a:ln>
        </p:spPr>
        <p:txBody>
          <a:bodyPr/>
          <a:lstStyle/>
          <a:p>
            <a:endParaRPr lang="en-US"/>
          </a:p>
        </p:txBody>
      </p:sp>
      <p:sp>
        <p:nvSpPr>
          <p:cNvPr id="3" name="Shape 1"/>
          <p:cNvSpPr/>
          <p:nvPr/>
        </p:nvSpPr>
        <p:spPr>
          <a:xfrm>
            <a:off x="0" y="5061204"/>
            <a:ext cx="9144000" cy="82296"/>
          </a:xfrm>
          <a:prstGeom prst="rect">
            <a:avLst/>
          </a:prstGeom>
          <a:solidFill>
            <a:srgbClr val="D4860A"/>
          </a:solidFill>
          <a:ln w="12700">
            <a:solidFill>
              <a:srgbClr val="D4860A"/>
            </a:solidFill>
            <a:prstDash val="solid"/>
          </a:ln>
        </p:spPr>
        <p:txBody>
          <a:bodyPr/>
          <a:lstStyle/>
          <a:p>
            <a:endParaRPr lang="en-US"/>
          </a:p>
        </p:txBody>
      </p:sp>
      <p:sp>
        <p:nvSpPr>
          <p:cNvPr id="4" name="Shape 2"/>
          <p:cNvSpPr/>
          <p:nvPr/>
        </p:nvSpPr>
        <p:spPr>
          <a:xfrm>
            <a:off x="0" y="0"/>
            <a:ext cx="5120640" cy="5143500"/>
          </a:xfrm>
          <a:prstGeom prst="rect">
            <a:avLst/>
          </a:prstGeom>
          <a:solidFill>
            <a:srgbClr val="013640"/>
          </a:solidFill>
          <a:ln w="12700">
            <a:solidFill>
              <a:srgbClr val="013640"/>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457200" y="777240"/>
            <a:ext cx="1463040" cy="1463040"/>
          </a:xfrm>
          <a:prstGeom prst="rect">
            <a:avLst/>
          </a:prstGeom>
        </p:spPr>
      </p:pic>
      <p:sp>
        <p:nvSpPr>
          <p:cNvPr id="6" name="Text 3"/>
          <p:cNvSpPr/>
          <p:nvPr/>
        </p:nvSpPr>
        <p:spPr>
          <a:xfrm>
            <a:off x="411480" y="2286000"/>
            <a:ext cx="448056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Perspectives on Payments:</a:t>
            </a:r>
            <a:endParaRPr lang="en-US" sz="2600" dirty="0"/>
          </a:p>
        </p:txBody>
      </p:sp>
      <p:sp>
        <p:nvSpPr>
          <p:cNvPr id="7" name="Text 4"/>
          <p:cNvSpPr/>
          <p:nvPr/>
        </p:nvSpPr>
        <p:spPr>
          <a:xfrm>
            <a:off x="411480" y="2834640"/>
            <a:ext cx="4480560" cy="640080"/>
          </a:xfrm>
          <a:prstGeom prst="rect">
            <a:avLst/>
          </a:prstGeom>
          <a:noFill/>
          <a:ln/>
        </p:spPr>
        <p:txBody>
          <a:bodyPr wrap="square" lIns="0" tIns="0" rIns="0" bIns="0" rtlCol="0" anchor="ctr"/>
          <a:lstStyle/>
          <a:p>
            <a:pPr marL="0" indent="0">
              <a:buNone/>
            </a:pPr>
            <a:r>
              <a:rPr lang="en-US" sz="3600" b="1" dirty="0">
                <a:solidFill>
                  <a:srgbClr val="D4860A"/>
                </a:solidFill>
                <a:latin typeface="Calibri" pitchFamily="34" charset="0"/>
                <a:ea typeface="Calibri" pitchFamily="34" charset="-122"/>
                <a:cs typeface="Calibri" pitchFamily="34" charset="-120"/>
              </a:rPr>
              <a:t>System Users</a:t>
            </a:r>
            <a:endParaRPr lang="en-US" sz="3600" dirty="0"/>
          </a:p>
        </p:txBody>
      </p:sp>
      <p:sp>
        <p:nvSpPr>
          <p:cNvPr id="8" name="Text 5"/>
          <p:cNvSpPr/>
          <p:nvPr/>
        </p:nvSpPr>
        <p:spPr>
          <a:xfrm>
            <a:off x="411480" y="3493008"/>
            <a:ext cx="4480560" cy="640080"/>
          </a:xfrm>
          <a:prstGeom prst="rect">
            <a:avLst/>
          </a:prstGeom>
          <a:noFill/>
          <a:ln/>
        </p:spPr>
        <p:txBody>
          <a:bodyPr wrap="square" lIns="0" tIns="0" rIns="0" bIns="0" rtlCol="0" anchor="ctr"/>
          <a:lstStyle/>
          <a:p>
            <a:pPr marL="0" indent="0">
              <a:buNone/>
            </a:pPr>
            <a:r>
              <a:rPr lang="en-US" sz="1300" i="1" dirty="0">
                <a:solidFill>
                  <a:srgbClr val="B2DDE6"/>
                </a:solidFill>
                <a:latin typeface="Calibri" pitchFamily="34" charset="0"/>
                <a:ea typeface="Calibri" pitchFamily="34" charset="-122"/>
                <a:cs typeface="Calibri" pitchFamily="34" charset="-120"/>
              </a:rPr>
              <a:t>How consumers, merchants, billers &amp; enterprises</a:t>
            </a:r>
            <a:endParaRPr lang="en-US" sz="1300" dirty="0"/>
          </a:p>
          <a:p>
            <a:pPr marL="0" indent="0">
              <a:buNone/>
            </a:pPr>
            <a:r>
              <a:rPr lang="en-US" sz="1300" i="1" dirty="0">
                <a:solidFill>
                  <a:srgbClr val="B2DDE6"/>
                </a:solidFill>
                <a:latin typeface="Calibri" pitchFamily="34" charset="0"/>
                <a:ea typeface="Calibri" pitchFamily="34" charset="-122"/>
                <a:cs typeface="Calibri" pitchFamily="34" charset="-120"/>
              </a:rPr>
              <a:t>think about — and use — payment systems</a:t>
            </a:r>
            <a:endParaRPr lang="en-US" sz="1300" dirty="0"/>
          </a:p>
        </p:txBody>
      </p:sp>
      <p:sp>
        <p:nvSpPr>
          <p:cNvPr id="9" name="Text 6"/>
          <p:cNvSpPr/>
          <p:nvPr/>
        </p:nvSpPr>
        <p:spPr>
          <a:xfrm>
            <a:off x="411480" y="4462272"/>
            <a:ext cx="4480560" cy="274320"/>
          </a:xfrm>
          <a:prstGeom prst="rect">
            <a:avLst/>
          </a:prstGeom>
          <a:noFill/>
          <a:ln/>
        </p:spPr>
        <p:txBody>
          <a:bodyPr wrap="square" lIns="0" tIns="0" rIns="0" bIns="0" rtlCol="0" anchor="ctr"/>
          <a:lstStyle/>
          <a:p>
            <a:pPr marL="0" indent="0">
              <a:buNone/>
            </a:pPr>
            <a:r>
              <a:rPr lang="en-US" sz="1000" dirty="0">
                <a:solidFill>
                  <a:srgbClr val="77AABB"/>
                </a:solidFill>
                <a:latin typeface="Calibri" pitchFamily="34" charset="0"/>
                <a:ea typeface="Calibri" pitchFamily="34" charset="-122"/>
                <a:cs typeface="Calibri" pitchFamily="34" charset="-120"/>
              </a:rPr>
              <a:t>Based on: Payment Systems in the US — Third Edition</a:t>
            </a:r>
            <a:endParaRPr lang="en-US" sz="1000" dirty="0"/>
          </a:p>
        </p:txBody>
      </p:sp>
      <p:sp>
        <p:nvSpPr>
          <p:cNvPr id="10" name="Text 7"/>
          <p:cNvSpPr/>
          <p:nvPr/>
        </p:nvSpPr>
        <p:spPr>
          <a:xfrm>
            <a:off x="5486400" y="914400"/>
            <a:ext cx="3383280" cy="292608"/>
          </a:xfrm>
          <a:prstGeom prst="rect">
            <a:avLst/>
          </a:prstGeom>
          <a:noFill/>
          <a:ln/>
        </p:spPr>
        <p:txBody>
          <a:bodyPr wrap="square" lIns="0" tIns="0" rIns="0" bIns="0" rtlCol="0" anchor="ctr"/>
          <a:lstStyle/>
          <a:p>
            <a:pPr marL="0" indent="0">
              <a:buNone/>
            </a:pPr>
            <a:r>
              <a:rPr lang="en-US" sz="1100" b="1" kern="0" spc="300" dirty="0">
                <a:solidFill>
                  <a:srgbClr val="D4860A"/>
                </a:solidFill>
                <a:latin typeface="Calibri" pitchFamily="34" charset="0"/>
                <a:ea typeface="Calibri" pitchFamily="34" charset="-122"/>
                <a:cs typeface="Calibri" pitchFamily="34" charset="-120"/>
              </a:rPr>
              <a:t>WHAT WE'LL COVER</a:t>
            </a:r>
            <a:endParaRPr lang="en-US" sz="1100" dirty="0"/>
          </a:p>
        </p:txBody>
      </p:sp>
      <p:sp>
        <p:nvSpPr>
          <p:cNvPr id="11" name="Shape 8"/>
          <p:cNvSpPr/>
          <p:nvPr/>
        </p:nvSpPr>
        <p:spPr>
          <a:xfrm>
            <a:off x="5486400" y="1298448"/>
            <a:ext cx="54864" cy="274320"/>
          </a:xfrm>
          <a:prstGeom prst="rect">
            <a:avLst/>
          </a:prstGeom>
          <a:solidFill>
            <a:srgbClr val="D4860A"/>
          </a:solidFill>
          <a:ln w="12700">
            <a:solidFill>
              <a:srgbClr val="D4860A"/>
            </a:solidFill>
            <a:prstDash val="solid"/>
          </a:ln>
        </p:spPr>
        <p:txBody>
          <a:bodyPr/>
          <a:lstStyle/>
          <a:p>
            <a:endParaRPr lang="en-US"/>
          </a:p>
        </p:txBody>
      </p:sp>
      <p:sp>
        <p:nvSpPr>
          <p:cNvPr id="12" name="Text 9"/>
          <p:cNvSpPr/>
          <p:nvPr/>
        </p:nvSpPr>
        <p:spPr>
          <a:xfrm>
            <a:off x="5614416" y="1298448"/>
            <a:ext cx="3291840" cy="292608"/>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The Consumer Perspective</a:t>
            </a:r>
            <a:endParaRPr lang="en-US" sz="1200" dirty="0"/>
          </a:p>
        </p:txBody>
      </p:sp>
      <p:sp>
        <p:nvSpPr>
          <p:cNvPr id="13" name="Shape 10"/>
          <p:cNvSpPr/>
          <p:nvPr/>
        </p:nvSpPr>
        <p:spPr>
          <a:xfrm>
            <a:off x="5486400" y="1828800"/>
            <a:ext cx="54864" cy="274320"/>
          </a:xfrm>
          <a:prstGeom prst="rect">
            <a:avLst/>
          </a:prstGeom>
          <a:solidFill>
            <a:srgbClr val="D4860A"/>
          </a:solidFill>
          <a:ln w="12700">
            <a:solidFill>
              <a:srgbClr val="D4860A"/>
            </a:solidFill>
            <a:prstDash val="solid"/>
          </a:ln>
        </p:spPr>
        <p:txBody>
          <a:bodyPr/>
          <a:lstStyle/>
          <a:p>
            <a:endParaRPr lang="en-US"/>
          </a:p>
        </p:txBody>
      </p:sp>
      <p:sp>
        <p:nvSpPr>
          <p:cNvPr id="14" name="Text 11"/>
          <p:cNvSpPr/>
          <p:nvPr/>
        </p:nvSpPr>
        <p:spPr>
          <a:xfrm>
            <a:off x="5614416" y="1828800"/>
            <a:ext cx="3291840" cy="292608"/>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What Drives Consumer Behaviour</a:t>
            </a:r>
            <a:endParaRPr lang="en-US" sz="1200" dirty="0"/>
          </a:p>
        </p:txBody>
      </p:sp>
      <p:sp>
        <p:nvSpPr>
          <p:cNvPr id="15" name="Shape 12"/>
          <p:cNvSpPr/>
          <p:nvPr/>
        </p:nvSpPr>
        <p:spPr>
          <a:xfrm>
            <a:off x="5486400" y="2359152"/>
            <a:ext cx="54864" cy="274320"/>
          </a:xfrm>
          <a:prstGeom prst="rect">
            <a:avLst/>
          </a:prstGeom>
          <a:solidFill>
            <a:srgbClr val="D4860A"/>
          </a:solidFill>
          <a:ln w="12700">
            <a:solidFill>
              <a:srgbClr val="D4860A"/>
            </a:solidFill>
            <a:prstDash val="solid"/>
          </a:ln>
        </p:spPr>
        <p:txBody>
          <a:bodyPr/>
          <a:lstStyle/>
          <a:p>
            <a:endParaRPr lang="en-US"/>
          </a:p>
        </p:txBody>
      </p:sp>
      <p:sp>
        <p:nvSpPr>
          <p:cNvPr id="16" name="Text 13"/>
          <p:cNvSpPr/>
          <p:nvPr/>
        </p:nvSpPr>
        <p:spPr>
          <a:xfrm>
            <a:off x="5614416" y="2359152"/>
            <a:ext cx="3291840" cy="292608"/>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The Merchant Perspective</a:t>
            </a:r>
            <a:endParaRPr lang="en-US" sz="1200" dirty="0"/>
          </a:p>
        </p:txBody>
      </p:sp>
      <p:sp>
        <p:nvSpPr>
          <p:cNvPr id="17" name="Shape 14"/>
          <p:cNvSpPr/>
          <p:nvPr/>
        </p:nvSpPr>
        <p:spPr>
          <a:xfrm>
            <a:off x="5486400" y="2889504"/>
            <a:ext cx="54864" cy="274320"/>
          </a:xfrm>
          <a:prstGeom prst="rect">
            <a:avLst/>
          </a:prstGeom>
          <a:solidFill>
            <a:srgbClr val="D4860A"/>
          </a:solidFill>
          <a:ln w="12700">
            <a:solidFill>
              <a:srgbClr val="D4860A"/>
            </a:solidFill>
            <a:prstDash val="solid"/>
          </a:ln>
        </p:spPr>
        <p:txBody>
          <a:bodyPr/>
          <a:lstStyle/>
          <a:p>
            <a:endParaRPr lang="en-US"/>
          </a:p>
        </p:txBody>
      </p:sp>
      <p:sp>
        <p:nvSpPr>
          <p:cNvPr id="18" name="Text 15"/>
          <p:cNvSpPr/>
          <p:nvPr/>
        </p:nvSpPr>
        <p:spPr>
          <a:xfrm>
            <a:off x="5614416" y="2889504"/>
            <a:ext cx="3291840" cy="292608"/>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Remote Commerce &amp; Fraud Costs</a:t>
            </a:r>
            <a:endParaRPr lang="en-US" sz="1200" dirty="0"/>
          </a:p>
        </p:txBody>
      </p:sp>
      <p:sp>
        <p:nvSpPr>
          <p:cNvPr id="19" name="Shape 16"/>
          <p:cNvSpPr/>
          <p:nvPr/>
        </p:nvSpPr>
        <p:spPr>
          <a:xfrm>
            <a:off x="5486400" y="3419856"/>
            <a:ext cx="54864" cy="274320"/>
          </a:xfrm>
          <a:prstGeom prst="rect">
            <a:avLst/>
          </a:prstGeom>
          <a:solidFill>
            <a:srgbClr val="D4860A"/>
          </a:solidFill>
          <a:ln w="12700">
            <a:solidFill>
              <a:srgbClr val="D4860A"/>
            </a:solidFill>
            <a:prstDash val="solid"/>
          </a:ln>
        </p:spPr>
        <p:txBody>
          <a:bodyPr/>
          <a:lstStyle/>
          <a:p>
            <a:endParaRPr lang="en-US"/>
          </a:p>
        </p:txBody>
      </p:sp>
      <p:sp>
        <p:nvSpPr>
          <p:cNvPr id="20" name="Text 17"/>
          <p:cNvSpPr/>
          <p:nvPr/>
        </p:nvSpPr>
        <p:spPr>
          <a:xfrm>
            <a:off x="5614416" y="3419856"/>
            <a:ext cx="3291840" cy="292608"/>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The Biller Perspective</a:t>
            </a:r>
            <a:endParaRPr lang="en-US" sz="1200" dirty="0"/>
          </a:p>
        </p:txBody>
      </p:sp>
      <p:sp>
        <p:nvSpPr>
          <p:cNvPr id="21" name="Shape 18"/>
          <p:cNvSpPr/>
          <p:nvPr/>
        </p:nvSpPr>
        <p:spPr>
          <a:xfrm>
            <a:off x="5486400" y="3950208"/>
            <a:ext cx="54864" cy="274320"/>
          </a:xfrm>
          <a:prstGeom prst="rect">
            <a:avLst/>
          </a:prstGeom>
          <a:solidFill>
            <a:srgbClr val="D4860A"/>
          </a:solidFill>
          <a:ln w="12700">
            <a:solidFill>
              <a:srgbClr val="D4860A"/>
            </a:solidFill>
            <a:prstDash val="solid"/>
          </a:ln>
        </p:spPr>
        <p:txBody>
          <a:bodyPr/>
          <a:lstStyle/>
          <a:p>
            <a:endParaRPr lang="en-US"/>
          </a:p>
        </p:txBody>
      </p:sp>
      <p:sp>
        <p:nvSpPr>
          <p:cNvPr id="22" name="Text 19"/>
          <p:cNvSpPr/>
          <p:nvPr/>
        </p:nvSpPr>
        <p:spPr>
          <a:xfrm>
            <a:off x="5614416" y="3950208"/>
            <a:ext cx="3291840" cy="292608"/>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The Enterprise Perspective</a:t>
            </a:r>
            <a:endParaRPr lang="en-US" sz="1200" dirty="0"/>
          </a:p>
        </p:txBody>
      </p:sp>
      <p:sp>
        <p:nvSpPr>
          <p:cNvPr id="23" name="Shape 20"/>
          <p:cNvSpPr/>
          <p:nvPr/>
        </p:nvSpPr>
        <p:spPr>
          <a:xfrm>
            <a:off x="5486400" y="4480560"/>
            <a:ext cx="54864" cy="274320"/>
          </a:xfrm>
          <a:prstGeom prst="rect">
            <a:avLst/>
          </a:prstGeom>
          <a:solidFill>
            <a:srgbClr val="D4860A"/>
          </a:solidFill>
          <a:ln w="12700">
            <a:solidFill>
              <a:srgbClr val="D4860A"/>
            </a:solidFill>
            <a:prstDash val="solid"/>
          </a:ln>
        </p:spPr>
        <p:txBody>
          <a:bodyPr/>
          <a:lstStyle/>
          <a:p>
            <a:endParaRPr lang="en-US"/>
          </a:p>
        </p:txBody>
      </p:sp>
      <p:sp>
        <p:nvSpPr>
          <p:cNvPr id="24" name="Text 21"/>
          <p:cNvSpPr/>
          <p:nvPr/>
        </p:nvSpPr>
        <p:spPr>
          <a:xfrm>
            <a:off x="5614416" y="4480560"/>
            <a:ext cx="3291840" cy="292608"/>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Key Takeaways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Who Are the System Users?</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Every payment involves two sides — the sender and the receiver of funds</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Shape 6"/>
          <p:cNvSpPr/>
          <p:nvPr/>
        </p:nvSpPr>
        <p:spPr>
          <a:xfrm>
            <a:off x="274320" y="1115568"/>
            <a:ext cx="1993392" cy="265176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9" name="Shape 7"/>
          <p:cNvSpPr/>
          <p:nvPr/>
        </p:nvSpPr>
        <p:spPr>
          <a:xfrm>
            <a:off x="274320" y="1115568"/>
            <a:ext cx="1993392" cy="54864"/>
          </a:xfrm>
          <a:prstGeom prst="rect">
            <a:avLst/>
          </a:prstGeom>
          <a:solidFill>
            <a:srgbClr val="028090"/>
          </a:solidFill>
          <a:ln w="12700">
            <a:solidFill>
              <a:srgbClr val="028090"/>
            </a:solidFill>
            <a:prstDash val="solid"/>
          </a:ln>
        </p:spPr>
        <p:txBody>
          <a:bodyPr/>
          <a:lstStyle/>
          <a:p>
            <a:endParaRPr lang="en-US"/>
          </a:p>
        </p:txBody>
      </p:sp>
      <p:sp>
        <p:nvSpPr>
          <p:cNvPr id="10" name="Shape 8"/>
          <p:cNvSpPr/>
          <p:nvPr/>
        </p:nvSpPr>
        <p:spPr>
          <a:xfrm>
            <a:off x="950976" y="1234440"/>
            <a:ext cx="640080" cy="640080"/>
          </a:xfrm>
          <a:prstGeom prst="ellipse">
            <a:avLst/>
          </a:prstGeom>
          <a:solidFill>
            <a:srgbClr val="028090"/>
          </a:solidFill>
          <a:ln w="12700">
            <a:solidFill>
              <a:srgbClr val="028090"/>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996696" y="1280160"/>
            <a:ext cx="548640" cy="548640"/>
          </a:xfrm>
          <a:prstGeom prst="rect">
            <a:avLst/>
          </a:prstGeom>
        </p:spPr>
      </p:pic>
      <p:sp>
        <p:nvSpPr>
          <p:cNvPr id="12" name="Text 9"/>
          <p:cNvSpPr/>
          <p:nvPr/>
        </p:nvSpPr>
        <p:spPr>
          <a:xfrm>
            <a:off x="274320" y="1965960"/>
            <a:ext cx="1993392" cy="320040"/>
          </a:xfrm>
          <a:prstGeom prst="rect">
            <a:avLst/>
          </a:prstGeom>
          <a:noFill/>
          <a:ln/>
        </p:spPr>
        <p:txBody>
          <a:bodyPr wrap="square" lIns="0" tIns="0" rIns="0" bIns="0" rtlCol="0" anchor="ctr"/>
          <a:lstStyle/>
          <a:p>
            <a:pPr marL="0" indent="0" algn="ctr">
              <a:buNone/>
            </a:pPr>
            <a:r>
              <a:rPr lang="en-US" sz="1300" b="1" dirty="0">
                <a:solidFill>
                  <a:srgbClr val="01404A"/>
                </a:solidFill>
                <a:latin typeface="Calibri" pitchFamily="34" charset="0"/>
                <a:ea typeface="Calibri" pitchFamily="34" charset="-122"/>
                <a:cs typeface="Calibri" pitchFamily="34" charset="-120"/>
              </a:rPr>
              <a:t>Consumers</a:t>
            </a:r>
            <a:endParaRPr lang="en-US" sz="1300" dirty="0"/>
          </a:p>
        </p:txBody>
      </p:sp>
      <p:sp>
        <p:nvSpPr>
          <p:cNvPr id="13" name="Text 10"/>
          <p:cNvSpPr/>
          <p:nvPr/>
        </p:nvSpPr>
        <p:spPr>
          <a:xfrm>
            <a:off x="347472" y="2304288"/>
            <a:ext cx="1847088" cy="502920"/>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Individuals buying goods,</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paying bills, transferring money</a:t>
            </a:r>
            <a:endParaRPr lang="en-US" sz="1000" dirty="0"/>
          </a:p>
        </p:txBody>
      </p:sp>
      <p:sp>
        <p:nvSpPr>
          <p:cNvPr id="14" name="Shape 11"/>
          <p:cNvSpPr/>
          <p:nvPr/>
        </p:nvSpPr>
        <p:spPr>
          <a:xfrm>
            <a:off x="2450592" y="1115568"/>
            <a:ext cx="1993392" cy="265176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5" name="Shape 12"/>
          <p:cNvSpPr/>
          <p:nvPr/>
        </p:nvSpPr>
        <p:spPr>
          <a:xfrm>
            <a:off x="2450592" y="1115568"/>
            <a:ext cx="1993392" cy="54864"/>
          </a:xfrm>
          <a:prstGeom prst="rect">
            <a:avLst/>
          </a:prstGeom>
          <a:solidFill>
            <a:srgbClr val="D4860A"/>
          </a:solidFill>
          <a:ln w="12700">
            <a:solidFill>
              <a:srgbClr val="D4860A"/>
            </a:solidFill>
            <a:prstDash val="solid"/>
          </a:ln>
        </p:spPr>
        <p:txBody>
          <a:bodyPr/>
          <a:lstStyle/>
          <a:p>
            <a:endParaRPr lang="en-US"/>
          </a:p>
        </p:txBody>
      </p:sp>
      <p:sp>
        <p:nvSpPr>
          <p:cNvPr id="16" name="Shape 13"/>
          <p:cNvSpPr/>
          <p:nvPr/>
        </p:nvSpPr>
        <p:spPr>
          <a:xfrm>
            <a:off x="3127248" y="1234440"/>
            <a:ext cx="640080" cy="640080"/>
          </a:xfrm>
          <a:prstGeom prst="ellipse">
            <a:avLst/>
          </a:prstGeom>
          <a:solidFill>
            <a:srgbClr val="D4860A"/>
          </a:solidFill>
          <a:ln w="12700">
            <a:solidFill>
              <a:srgbClr val="D4860A"/>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3172968" y="1280160"/>
            <a:ext cx="548640" cy="548640"/>
          </a:xfrm>
          <a:prstGeom prst="rect">
            <a:avLst/>
          </a:prstGeom>
        </p:spPr>
      </p:pic>
      <p:sp>
        <p:nvSpPr>
          <p:cNvPr id="18" name="Text 14"/>
          <p:cNvSpPr/>
          <p:nvPr/>
        </p:nvSpPr>
        <p:spPr>
          <a:xfrm>
            <a:off x="2450592" y="1965960"/>
            <a:ext cx="1993392" cy="320040"/>
          </a:xfrm>
          <a:prstGeom prst="rect">
            <a:avLst/>
          </a:prstGeom>
          <a:noFill/>
          <a:ln/>
        </p:spPr>
        <p:txBody>
          <a:bodyPr wrap="square" lIns="0" tIns="0" rIns="0" bIns="0" rtlCol="0" anchor="ctr"/>
          <a:lstStyle/>
          <a:p>
            <a:pPr marL="0" indent="0" algn="ctr">
              <a:buNone/>
            </a:pPr>
            <a:r>
              <a:rPr lang="en-US" sz="1300" b="1" dirty="0">
                <a:solidFill>
                  <a:srgbClr val="01404A"/>
                </a:solidFill>
                <a:latin typeface="Calibri" pitchFamily="34" charset="0"/>
                <a:ea typeface="Calibri" pitchFamily="34" charset="-122"/>
                <a:cs typeface="Calibri" pitchFamily="34" charset="-120"/>
              </a:rPr>
              <a:t>Merchants</a:t>
            </a:r>
            <a:endParaRPr lang="en-US" sz="1300" dirty="0"/>
          </a:p>
        </p:txBody>
      </p:sp>
      <p:sp>
        <p:nvSpPr>
          <p:cNvPr id="19" name="Text 15"/>
          <p:cNvSpPr/>
          <p:nvPr/>
        </p:nvSpPr>
        <p:spPr>
          <a:xfrm>
            <a:off x="2523744" y="2304288"/>
            <a:ext cx="1847088" cy="502920"/>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Retailers and online sellers</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accepting payments from customers</a:t>
            </a:r>
            <a:endParaRPr lang="en-US" sz="1000" dirty="0"/>
          </a:p>
        </p:txBody>
      </p:sp>
      <p:sp>
        <p:nvSpPr>
          <p:cNvPr id="20" name="Shape 16"/>
          <p:cNvSpPr/>
          <p:nvPr/>
        </p:nvSpPr>
        <p:spPr>
          <a:xfrm>
            <a:off x="4626864" y="1115568"/>
            <a:ext cx="1993392" cy="265176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21" name="Shape 17"/>
          <p:cNvSpPr/>
          <p:nvPr/>
        </p:nvSpPr>
        <p:spPr>
          <a:xfrm>
            <a:off x="4626864" y="1115568"/>
            <a:ext cx="1993392" cy="54864"/>
          </a:xfrm>
          <a:prstGeom prst="rect">
            <a:avLst/>
          </a:prstGeom>
          <a:solidFill>
            <a:srgbClr val="7B2D8B"/>
          </a:solidFill>
          <a:ln w="12700">
            <a:solidFill>
              <a:srgbClr val="7B2D8B"/>
            </a:solidFill>
            <a:prstDash val="solid"/>
          </a:ln>
        </p:spPr>
        <p:txBody>
          <a:bodyPr/>
          <a:lstStyle/>
          <a:p>
            <a:endParaRPr lang="en-US"/>
          </a:p>
        </p:txBody>
      </p:sp>
      <p:sp>
        <p:nvSpPr>
          <p:cNvPr id="22" name="Shape 18"/>
          <p:cNvSpPr/>
          <p:nvPr/>
        </p:nvSpPr>
        <p:spPr>
          <a:xfrm>
            <a:off x="5303520" y="1234440"/>
            <a:ext cx="640080" cy="640080"/>
          </a:xfrm>
          <a:prstGeom prst="ellipse">
            <a:avLst/>
          </a:prstGeom>
          <a:solidFill>
            <a:srgbClr val="7B2D8B"/>
          </a:solidFill>
          <a:ln w="12700">
            <a:solidFill>
              <a:srgbClr val="7B2D8B"/>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5349240" y="1280160"/>
            <a:ext cx="548640" cy="548640"/>
          </a:xfrm>
          <a:prstGeom prst="rect">
            <a:avLst/>
          </a:prstGeom>
        </p:spPr>
      </p:pic>
      <p:sp>
        <p:nvSpPr>
          <p:cNvPr id="24" name="Text 19"/>
          <p:cNvSpPr/>
          <p:nvPr/>
        </p:nvSpPr>
        <p:spPr>
          <a:xfrm>
            <a:off x="4626864" y="1965960"/>
            <a:ext cx="1993392" cy="320040"/>
          </a:xfrm>
          <a:prstGeom prst="rect">
            <a:avLst/>
          </a:prstGeom>
          <a:noFill/>
          <a:ln/>
        </p:spPr>
        <p:txBody>
          <a:bodyPr wrap="square" lIns="0" tIns="0" rIns="0" bIns="0" rtlCol="0" anchor="ctr"/>
          <a:lstStyle/>
          <a:p>
            <a:pPr marL="0" indent="0" algn="ctr">
              <a:buNone/>
            </a:pPr>
            <a:r>
              <a:rPr lang="en-US" sz="1300" b="1" dirty="0">
                <a:solidFill>
                  <a:srgbClr val="01404A"/>
                </a:solidFill>
                <a:latin typeface="Calibri" pitchFamily="34" charset="0"/>
                <a:ea typeface="Calibri" pitchFamily="34" charset="-122"/>
                <a:cs typeface="Calibri" pitchFamily="34" charset="-120"/>
              </a:rPr>
              <a:t>Billers</a:t>
            </a:r>
            <a:endParaRPr lang="en-US" sz="1300" dirty="0"/>
          </a:p>
        </p:txBody>
      </p:sp>
      <p:sp>
        <p:nvSpPr>
          <p:cNvPr id="25" name="Text 20"/>
          <p:cNvSpPr/>
          <p:nvPr/>
        </p:nvSpPr>
        <p:spPr>
          <a:xfrm>
            <a:off x="4700016" y="2304288"/>
            <a:ext cx="1847088" cy="502920"/>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Utilities, telecoms, mortgage</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servicers collecting regular payments</a:t>
            </a:r>
            <a:endParaRPr lang="en-US" sz="1000" dirty="0"/>
          </a:p>
        </p:txBody>
      </p:sp>
      <p:sp>
        <p:nvSpPr>
          <p:cNvPr id="26" name="Shape 21"/>
          <p:cNvSpPr/>
          <p:nvPr/>
        </p:nvSpPr>
        <p:spPr>
          <a:xfrm>
            <a:off x="6803136" y="1115568"/>
            <a:ext cx="1993392" cy="265176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27" name="Shape 22"/>
          <p:cNvSpPr/>
          <p:nvPr/>
        </p:nvSpPr>
        <p:spPr>
          <a:xfrm>
            <a:off x="6803136" y="1115568"/>
            <a:ext cx="1993392" cy="54864"/>
          </a:xfrm>
          <a:prstGeom prst="rect">
            <a:avLst/>
          </a:prstGeom>
          <a:solidFill>
            <a:srgbClr val="1E7145"/>
          </a:solidFill>
          <a:ln w="12700">
            <a:solidFill>
              <a:srgbClr val="1E7145"/>
            </a:solidFill>
            <a:prstDash val="solid"/>
          </a:ln>
        </p:spPr>
        <p:txBody>
          <a:bodyPr/>
          <a:lstStyle/>
          <a:p>
            <a:endParaRPr lang="en-US"/>
          </a:p>
        </p:txBody>
      </p:sp>
      <p:sp>
        <p:nvSpPr>
          <p:cNvPr id="28" name="Shape 23"/>
          <p:cNvSpPr/>
          <p:nvPr/>
        </p:nvSpPr>
        <p:spPr>
          <a:xfrm>
            <a:off x="7479792" y="1234440"/>
            <a:ext cx="640080" cy="640080"/>
          </a:xfrm>
          <a:prstGeom prst="ellipse">
            <a:avLst/>
          </a:prstGeom>
          <a:solidFill>
            <a:srgbClr val="1E7145"/>
          </a:solidFill>
          <a:ln w="12700">
            <a:solidFill>
              <a:srgbClr val="1E7145"/>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7525512" y="1280160"/>
            <a:ext cx="548640" cy="548640"/>
          </a:xfrm>
          <a:prstGeom prst="rect">
            <a:avLst/>
          </a:prstGeom>
        </p:spPr>
      </p:pic>
      <p:sp>
        <p:nvSpPr>
          <p:cNvPr id="30" name="Text 24"/>
          <p:cNvSpPr/>
          <p:nvPr/>
        </p:nvSpPr>
        <p:spPr>
          <a:xfrm>
            <a:off x="6803136" y="1965960"/>
            <a:ext cx="1993392" cy="320040"/>
          </a:xfrm>
          <a:prstGeom prst="rect">
            <a:avLst/>
          </a:prstGeom>
          <a:noFill/>
          <a:ln/>
        </p:spPr>
        <p:txBody>
          <a:bodyPr wrap="square" lIns="0" tIns="0" rIns="0" bIns="0" rtlCol="0" anchor="ctr"/>
          <a:lstStyle/>
          <a:p>
            <a:pPr marL="0" indent="0" algn="ctr">
              <a:buNone/>
            </a:pPr>
            <a:r>
              <a:rPr lang="en-US" sz="1300" b="1" dirty="0">
                <a:solidFill>
                  <a:srgbClr val="01404A"/>
                </a:solidFill>
                <a:latin typeface="Calibri" pitchFamily="34" charset="0"/>
                <a:ea typeface="Calibri" pitchFamily="34" charset="-122"/>
                <a:cs typeface="Calibri" pitchFamily="34" charset="-120"/>
              </a:rPr>
              <a:t>Enterprises</a:t>
            </a:r>
            <a:endParaRPr lang="en-US" sz="1300" dirty="0"/>
          </a:p>
        </p:txBody>
      </p:sp>
      <p:sp>
        <p:nvSpPr>
          <p:cNvPr id="31" name="Text 25"/>
          <p:cNvSpPr/>
          <p:nvPr/>
        </p:nvSpPr>
        <p:spPr>
          <a:xfrm>
            <a:off x="6876288" y="2304288"/>
            <a:ext cx="1847088" cy="502920"/>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Large businesses managing</a:t>
            </a:r>
            <a:endParaRPr lang="en-US" sz="1000" dirty="0"/>
          </a:p>
          <a:p>
            <a:pPr marL="0" indent="0" algn="ctr">
              <a:buNone/>
            </a:pPr>
            <a:r>
              <a:rPr lang="en-US" sz="1000" dirty="0">
                <a:solidFill>
                  <a:srgbClr val="4A5568"/>
                </a:solidFill>
                <a:latin typeface="Calibri" pitchFamily="34" charset="0"/>
                <a:ea typeface="Calibri" pitchFamily="34" charset="-122"/>
                <a:cs typeface="Calibri" pitchFamily="34" charset="-120"/>
              </a:rPr>
              <a:t>payables, receivables, and cash flow</a:t>
            </a:r>
            <a:endParaRPr lang="en-US" sz="1000" dirty="0"/>
          </a:p>
        </p:txBody>
      </p:sp>
      <p:sp>
        <p:nvSpPr>
          <p:cNvPr id="32" name="Shape 26"/>
          <p:cNvSpPr/>
          <p:nvPr/>
        </p:nvSpPr>
        <p:spPr>
          <a:xfrm>
            <a:off x="274320" y="3931920"/>
            <a:ext cx="8595360" cy="841248"/>
          </a:xfrm>
          <a:prstGeom prst="rect">
            <a:avLst/>
          </a:prstGeom>
          <a:solidFill>
            <a:srgbClr val="01404A"/>
          </a:solidFill>
          <a:ln w="12700">
            <a:solidFill>
              <a:srgbClr val="01404A"/>
            </a:solidFill>
            <a:prstDash val="solid"/>
          </a:ln>
          <a:effectLst>
            <a:outerShdw blurRad="101600" dist="38100" dir="8100000" algn="bl" rotWithShape="0">
              <a:srgbClr val="000000">
                <a:alpha val="13000"/>
              </a:srgbClr>
            </a:outerShdw>
          </a:effectLst>
        </p:spPr>
        <p:txBody>
          <a:bodyPr/>
          <a:lstStyle/>
          <a:p>
            <a:endParaRPr lang="en-US"/>
          </a:p>
        </p:txBody>
      </p:sp>
      <p:sp>
        <p:nvSpPr>
          <p:cNvPr id="33" name="Text 27"/>
          <p:cNvSpPr/>
          <p:nvPr/>
        </p:nvSpPr>
        <p:spPr>
          <a:xfrm>
            <a:off x="502920" y="4005072"/>
            <a:ext cx="8138160" cy="713232"/>
          </a:xfrm>
          <a:prstGeom prst="rect">
            <a:avLst/>
          </a:prstGeom>
          <a:noFill/>
          <a:ln/>
        </p:spPr>
        <p:txBody>
          <a:bodyPr wrap="square" lIns="0" tIns="0" rIns="0" bIns="0" rtlCol="0" anchor="ctr"/>
          <a:lstStyle/>
          <a:p>
            <a:pPr marL="0" indent="0">
              <a:buNone/>
            </a:pPr>
            <a:r>
              <a:rPr lang="en-US" sz="1100" dirty="0">
                <a:solidFill>
                  <a:srgbClr val="B2DDE6"/>
                </a:solidFill>
                <a:latin typeface="Calibri" pitchFamily="34" charset="0"/>
                <a:ea typeface="Calibri" pitchFamily="34" charset="-122"/>
                <a:cs typeface="Calibri" pitchFamily="34" charset="-120"/>
              </a:rPr>
              <a:t>Each of these four groups has very different goals, motivations, and pain points when it comes to payments. Understanding what each group wants — and what frustrates them — is the foundation of understanding how payment systems are designed and why they work the way they do.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Shifting Consumer Payments Behaviour</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Over the past two decades, how Americans pay has changed dramatically</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Text 6"/>
          <p:cNvSpPr/>
          <p:nvPr/>
        </p:nvSpPr>
        <p:spPr>
          <a:xfrm>
            <a:off x="274320" y="1097280"/>
            <a:ext cx="5303520" cy="274320"/>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Consumer Payments Transactions — US Market (% of total volume)</a:t>
            </a:r>
            <a:endParaRPr lang="en-US" sz="1100" dirty="0"/>
          </a:p>
        </p:txBody>
      </p:sp>
      <p:graphicFrame>
        <p:nvGraphicFramePr>
          <p:cNvPr id="9" name="Chart 0"/>
          <p:cNvGraphicFramePr/>
          <p:nvPr/>
        </p:nvGraphicFramePr>
        <p:xfrm>
          <a:off x="274320" y="1417320"/>
          <a:ext cx="521208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5715000" y="1115568"/>
            <a:ext cx="3154680" cy="1115568"/>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1" name="Shape 8"/>
          <p:cNvSpPr/>
          <p:nvPr/>
        </p:nvSpPr>
        <p:spPr>
          <a:xfrm>
            <a:off x="5715000" y="1115568"/>
            <a:ext cx="91440" cy="1115568"/>
          </a:xfrm>
          <a:prstGeom prst="rect">
            <a:avLst/>
          </a:prstGeom>
          <a:solidFill>
            <a:srgbClr val="028090"/>
          </a:solidFill>
          <a:ln w="12700">
            <a:solidFill>
              <a:srgbClr val="028090"/>
            </a:solidFill>
            <a:prstDash val="solid"/>
          </a:ln>
        </p:spPr>
        <p:txBody>
          <a:bodyPr/>
          <a:lstStyle/>
          <a:p>
            <a:endParaRPr lang="en-US"/>
          </a:p>
        </p:txBody>
      </p:sp>
      <p:pic>
        <p:nvPicPr>
          <p:cNvPr id="12" name="Image 0" descr="preencoded.png"/>
          <p:cNvPicPr>
            <a:picLocks noChangeAspect="1"/>
          </p:cNvPicPr>
          <p:nvPr/>
        </p:nvPicPr>
        <p:blipFill>
          <a:blip r:embed="rId4"/>
          <a:stretch>
            <a:fillRect/>
          </a:stretch>
        </p:blipFill>
        <p:spPr>
          <a:xfrm>
            <a:off x="5847588" y="1147572"/>
            <a:ext cx="347472" cy="347472"/>
          </a:xfrm>
          <a:prstGeom prst="rect">
            <a:avLst/>
          </a:prstGeom>
        </p:spPr>
      </p:pic>
      <p:sp>
        <p:nvSpPr>
          <p:cNvPr id="13" name="Text 9"/>
          <p:cNvSpPr/>
          <p:nvPr/>
        </p:nvSpPr>
        <p:spPr>
          <a:xfrm>
            <a:off x="6263640" y="1142020"/>
            <a:ext cx="2697480" cy="274320"/>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Debit cards surged</a:t>
            </a:r>
            <a:endParaRPr lang="en-US" sz="1100" dirty="0"/>
          </a:p>
        </p:txBody>
      </p:sp>
      <p:sp>
        <p:nvSpPr>
          <p:cNvPr id="14" name="Text 10"/>
          <p:cNvSpPr/>
          <p:nvPr/>
        </p:nvSpPr>
        <p:spPr>
          <a:xfrm>
            <a:off x="6263640" y="1293876"/>
            <a:ext cx="2529296" cy="68580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Debit card use nearly tripled from 13% to 36% — driven by convenience and the shift away from cash at point of sale.</a:t>
            </a:r>
            <a:endParaRPr lang="en-US" sz="1000" dirty="0"/>
          </a:p>
        </p:txBody>
      </p:sp>
      <p:sp>
        <p:nvSpPr>
          <p:cNvPr id="15" name="Shape 11"/>
          <p:cNvSpPr/>
          <p:nvPr/>
        </p:nvSpPr>
        <p:spPr>
          <a:xfrm>
            <a:off x="5715000" y="2395728"/>
            <a:ext cx="3154680" cy="1115568"/>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6" name="Shape 12"/>
          <p:cNvSpPr/>
          <p:nvPr/>
        </p:nvSpPr>
        <p:spPr>
          <a:xfrm>
            <a:off x="5715000" y="2395728"/>
            <a:ext cx="91440" cy="1115568"/>
          </a:xfrm>
          <a:prstGeom prst="rect">
            <a:avLst/>
          </a:prstGeom>
          <a:solidFill>
            <a:srgbClr val="B0B0B0"/>
          </a:solidFill>
          <a:ln w="12700">
            <a:solidFill>
              <a:srgbClr val="B0B0B0"/>
            </a:solidFill>
            <a:prstDash val="solid"/>
          </a:ln>
        </p:spPr>
        <p:txBody>
          <a:bodyPr/>
          <a:lstStyle/>
          <a:p>
            <a:endParaRPr lang="en-US"/>
          </a:p>
        </p:txBody>
      </p:sp>
      <p:pic>
        <p:nvPicPr>
          <p:cNvPr id="17" name="Image 1" descr="preencoded.png"/>
          <p:cNvPicPr>
            <a:picLocks noChangeAspect="1"/>
          </p:cNvPicPr>
          <p:nvPr/>
        </p:nvPicPr>
        <p:blipFill>
          <a:blip r:embed="rId5"/>
          <a:stretch>
            <a:fillRect/>
          </a:stretch>
        </p:blipFill>
        <p:spPr>
          <a:xfrm>
            <a:off x="5847588" y="2418588"/>
            <a:ext cx="347472" cy="347472"/>
          </a:xfrm>
          <a:prstGeom prst="rect">
            <a:avLst/>
          </a:prstGeom>
        </p:spPr>
      </p:pic>
      <p:sp>
        <p:nvSpPr>
          <p:cNvPr id="18" name="Text 13"/>
          <p:cNvSpPr/>
          <p:nvPr/>
        </p:nvSpPr>
        <p:spPr>
          <a:xfrm>
            <a:off x="6263640" y="2414016"/>
            <a:ext cx="2697480" cy="274320"/>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Checks declined sharply</a:t>
            </a:r>
            <a:endParaRPr lang="en-US" sz="1100" dirty="0"/>
          </a:p>
        </p:txBody>
      </p:sp>
      <p:sp>
        <p:nvSpPr>
          <p:cNvPr id="19" name="Text 14"/>
          <p:cNvSpPr/>
          <p:nvPr/>
        </p:nvSpPr>
        <p:spPr>
          <a:xfrm>
            <a:off x="6263640" y="2597223"/>
            <a:ext cx="2697480" cy="68580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Check usage halved as consumers embraced electronic alternatives, particularly for bill payments.</a:t>
            </a:r>
            <a:endParaRPr lang="en-US" sz="1000" dirty="0"/>
          </a:p>
        </p:txBody>
      </p:sp>
      <p:sp>
        <p:nvSpPr>
          <p:cNvPr id="20" name="Shape 15"/>
          <p:cNvSpPr/>
          <p:nvPr/>
        </p:nvSpPr>
        <p:spPr>
          <a:xfrm>
            <a:off x="5715000" y="3675888"/>
            <a:ext cx="3154680" cy="1115568"/>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21" name="Shape 16"/>
          <p:cNvSpPr/>
          <p:nvPr/>
        </p:nvSpPr>
        <p:spPr>
          <a:xfrm>
            <a:off x="5715000" y="3675888"/>
            <a:ext cx="91440" cy="1115568"/>
          </a:xfrm>
          <a:prstGeom prst="rect">
            <a:avLst/>
          </a:prstGeom>
          <a:solidFill>
            <a:srgbClr val="D4860A"/>
          </a:solidFill>
          <a:ln w="12700">
            <a:solidFill>
              <a:srgbClr val="D4860A"/>
            </a:solidFill>
            <a:prstDash val="solid"/>
          </a:ln>
        </p:spPr>
        <p:txBody>
          <a:bodyPr/>
          <a:lstStyle/>
          <a:p>
            <a:endParaRPr lang="en-US"/>
          </a:p>
        </p:txBody>
      </p:sp>
      <p:pic>
        <p:nvPicPr>
          <p:cNvPr id="22" name="Image 2" descr="preencoded.png"/>
          <p:cNvPicPr>
            <a:picLocks noChangeAspect="1"/>
          </p:cNvPicPr>
          <p:nvPr/>
        </p:nvPicPr>
        <p:blipFill>
          <a:blip r:embed="rId6"/>
          <a:stretch>
            <a:fillRect/>
          </a:stretch>
        </p:blipFill>
        <p:spPr>
          <a:xfrm>
            <a:off x="5847588" y="3735324"/>
            <a:ext cx="347472" cy="347472"/>
          </a:xfrm>
          <a:prstGeom prst="rect">
            <a:avLst/>
          </a:prstGeom>
        </p:spPr>
      </p:pic>
      <p:sp>
        <p:nvSpPr>
          <p:cNvPr id="23" name="Text 17"/>
          <p:cNvSpPr/>
          <p:nvPr/>
        </p:nvSpPr>
        <p:spPr>
          <a:xfrm>
            <a:off x="6263640" y="3702014"/>
            <a:ext cx="2697480" cy="274320"/>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Mobile is next</a:t>
            </a:r>
            <a:endParaRPr lang="en-US" sz="1100" dirty="0"/>
          </a:p>
        </p:txBody>
      </p:sp>
      <p:sp>
        <p:nvSpPr>
          <p:cNvPr id="24" name="Text 18"/>
          <p:cNvSpPr/>
          <p:nvPr/>
        </p:nvSpPr>
        <p:spPr>
          <a:xfrm>
            <a:off x="6263640" y="3890772"/>
            <a:ext cx="2697480" cy="68580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Smartphones are beginning to accelerate the shift further — the underlying rails remain card networks.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What Actually Drives Consumer Payments Behaviour</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Two forces above all others shape how consumers choose to pay</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Shape 6"/>
          <p:cNvSpPr/>
          <p:nvPr/>
        </p:nvSpPr>
        <p:spPr>
          <a:xfrm>
            <a:off x="274320" y="1115568"/>
            <a:ext cx="4114800" cy="2441121"/>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9" name="Shape 7"/>
          <p:cNvSpPr/>
          <p:nvPr/>
        </p:nvSpPr>
        <p:spPr>
          <a:xfrm>
            <a:off x="274320" y="1115568"/>
            <a:ext cx="4114800" cy="475488"/>
          </a:xfrm>
          <a:prstGeom prst="rect">
            <a:avLst/>
          </a:prstGeom>
          <a:solidFill>
            <a:srgbClr val="028090"/>
          </a:solidFill>
          <a:ln w="12700">
            <a:solidFill>
              <a:srgbClr val="028090"/>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365760" y="1152144"/>
            <a:ext cx="402336" cy="402336"/>
          </a:xfrm>
          <a:prstGeom prst="rect">
            <a:avLst/>
          </a:prstGeom>
        </p:spPr>
      </p:pic>
      <p:sp>
        <p:nvSpPr>
          <p:cNvPr id="11" name="Text 8"/>
          <p:cNvSpPr/>
          <p:nvPr/>
        </p:nvSpPr>
        <p:spPr>
          <a:xfrm>
            <a:off x="841248" y="1170432"/>
            <a:ext cx="3429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DRIVER 1 — Convenience</a:t>
            </a:r>
            <a:endParaRPr lang="en-US" sz="1400" dirty="0"/>
          </a:p>
        </p:txBody>
      </p:sp>
      <p:sp>
        <p:nvSpPr>
          <p:cNvPr id="12" name="Text 9"/>
          <p:cNvSpPr/>
          <p:nvPr/>
        </p:nvSpPr>
        <p:spPr>
          <a:xfrm>
            <a:off x="384048" y="1682496"/>
            <a:ext cx="3886200" cy="74980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Convenience is the single largest driver of new payment adoption. When a payment method makes life meaningfully easier — faster checkout, fewer steps, no need to carry cash — people adopt it. When it adds friction, they abandon it.</a:t>
            </a:r>
            <a:endParaRPr lang="en-US" sz="1100" dirty="0"/>
          </a:p>
        </p:txBody>
      </p:sp>
      <p:sp>
        <p:nvSpPr>
          <p:cNvPr id="13" name="Shape 10"/>
          <p:cNvSpPr/>
          <p:nvPr/>
        </p:nvSpPr>
        <p:spPr>
          <a:xfrm>
            <a:off x="384048" y="2660578"/>
            <a:ext cx="3886200" cy="347472"/>
          </a:xfrm>
          <a:prstGeom prst="rect">
            <a:avLst/>
          </a:prstGeom>
          <a:solidFill>
            <a:srgbClr val="EBF4F6"/>
          </a:solidFill>
          <a:ln w="12700">
            <a:solidFill>
              <a:srgbClr val="B2DDE6"/>
            </a:solidFill>
            <a:prstDash val="solid"/>
          </a:ln>
        </p:spPr>
        <p:txBody>
          <a:bodyPr/>
          <a:lstStyle/>
          <a:p>
            <a:endParaRPr lang="en-US"/>
          </a:p>
        </p:txBody>
      </p:sp>
      <p:sp>
        <p:nvSpPr>
          <p:cNvPr id="14" name="Text 11"/>
          <p:cNvSpPr/>
          <p:nvPr/>
        </p:nvSpPr>
        <p:spPr>
          <a:xfrm>
            <a:off x="475488" y="2678866"/>
            <a:ext cx="3712464" cy="292608"/>
          </a:xfrm>
          <a:prstGeom prst="rect">
            <a:avLst/>
          </a:prstGeom>
          <a:noFill/>
          <a:ln/>
        </p:spPr>
        <p:txBody>
          <a:bodyPr wrap="square" lIns="0" tIns="0" rIns="0" bIns="0" rtlCol="0" anchor="ctr"/>
          <a:lstStyle/>
          <a:p>
            <a:pPr marL="0" indent="0">
              <a:buNone/>
            </a:pPr>
            <a:r>
              <a:rPr lang="en-US" sz="1000" i="1" dirty="0">
                <a:solidFill>
                  <a:srgbClr val="028090"/>
                </a:solidFill>
                <a:latin typeface="Calibri" pitchFamily="34" charset="0"/>
                <a:ea typeface="Calibri" pitchFamily="34" charset="-122"/>
                <a:cs typeface="Calibri" pitchFamily="34" charset="-120"/>
              </a:rPr>
              <a:t>Anything that gets in the way of convenience is called 'friction' — and friction kills adoption.</a:t>
            </a:r>
            <a:endParaRPr lang="en-US" sz="1000" dirty="0"/>
          </a:p>
        </p:txBody>
      </p:sp>
      <p:sp>
        <p:nvSpPr>
          <p:cNvPr id="15" name="Shape 12"/>
          <p:cNvSpPr/>
          <p:nvPr/>
        </p:nvSpPr>
        <p:spPr>
          <a:xfrm>
            <a:off x="4754880" y="1115568"/>
            <a:ext cx="4114800" cy="2441121"/>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6" name="Shape 13"/>
          <p:cNvSpPr/>
          <p:nvPr/>
        </p:nvSpPr>
        <p:spPr>
          <a:xfrm>
            <a:off x="4754880" y="1115568"/>
            <a:ext cx="4114800" cy="475488"/>
          </a:xfrm>
          <a:prstGeom prst="rect">
            <a:avLst/>
          </a:prstGeom>
          <a:solidFill>
            <a:srgbClr val="D4860A"/>
          </a:solidFill>
          <a:ln w="12700">
            <a:solidFill>
              <a:srgbClr val="D4860A"/>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4846320" y="1152144"/>
            <a:ext cx="402336" cy="402336"/>
          </a:xfrm>
          <a:prstGeom prst="rect">
            <a:avLst/>
          </a:prstGeom>
        </p:spPr>
      </p:pic>
      <p:sp>
        <p:nvSpPr>
          <p:cNvPr id="18" name="Text 14"/>
          <p:cNvSpPr/>
          <p:nvPr/>
        </p:nvSpPr>
        <p:spPr>
          <a:xfrm>
            <a:off x="5321808" y="1170432"/>
            <a:ext cx="34290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DRIVER 2 — Financial Incentives</a:t>
            </a:r>
            <a:endParaRPr lang="en-US" sz="1400" dirty="0"/>
          </a:p>
        </p:txBody>
      </p:sp>
      <p:sp>
        <p:nvSpPr>
          <p:cNvPr id="19" name="Text 15"/>
          <p:cNvSpPr/>
          <p:nvPr/>
        </p:nvSpPr>
        <p:spPr>
          <a:xfrm>
            <a:off x="4864608" y="1682496"/>
            <a:ext cx="3886200" cy="74980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Significant financial gains — like cashback, airline miles, or rewards points — can change consumer behaviour. But the gain must be large enough to overcome existing habits. Small incentives rarely work. Rewards-based credit card programs have had the greatest impact on payment behaviour in the last decade.</a:t>
            </a:r>
            <a:endParaRPr lang="en-US" sz="1100" dirty="0"/>
          </a:p>
        </p:txBody>
      </p:sp>
      <p:sp>
        <p:nvSpPr>
          <p:cNvPr id="20" name="Shape 16"/>
          <p:cNvSpPr/>
          <p:nvPr/>
        </p:nvSpPr>
        <p:spPr>
          <a:xfrm>
            <a:off x="4864608" y="2660578"/>
            <a:ext cx="3886200" cy="347472"/>
          </a:xfrm>
          <a:prstGeom prst="rect">
            <a:avLst/>
          </a:prstGeom>
          <a:solidFill>
            <a:srgbClr val="EBF4F6"/>
          </a:solidFill>
          <a:ln w="12700">
            <a:solidFill>
              <a:srgbClr val="B2DDE6"/>
            </a:solidFill>
            <a:prstDash val="solid"/>
          </a:ln>
        </p:spPr>
        <p:txBody>
          <a:bodyPr/>
          <a:lstStyle/>
          <a:p>
            <a:endParaRPr lang="en-US"/>
          </a:p>
        </p:txBody>
      </p:sp>
      <p:sp>
        <p:nvSpPr>
          <p:cNvPr id="21" name="Text 17"/>
          <p:cNvSpPr/>
          <p:nvPr/>
        </p:nvSpPr>
        <p:spPr>
          <a:xfrm>
            <a:off x="4956048" y="2678866"/>
            <a:ext cx="3712464" cy="292608"/>
          </a:xfrm>
          <a:prstGeom prst="rect">
            <a:avLst/>
          </a:prstGeom>
          <a:noFill/>
          <a:ln/>
        </p:spPr>
        <p:txBody>
          <a:bodyPr wrap="square" lIns="0" tIns="0" rIns="0" bIns="0" rtlCol="0" anchor="ctr"/>
          <a:lstStyle/>
          <a:p>
            <a:pPr marL="0" indent="0">
              <a:buNone/>
            </a:pPr>
            <a:r>
              <a:rPr lang="en-US" sz="1000" i="1" dirty="0">
                <a:solidFill>
                  <a:srgbClr val="D4860A"/>
                </a:solidFill>
                <a:latin typeface="Calibri" pitchFamily="34" charset="0"/>
                <a:ea typeface="Calibri" pitchFamily="34" charset="-122"/>
                <a:cs typeface="Calibri" pitchFamily="34" charset="-120"/>
              </a:rPr>
              <a:t>Almost nothing else consistently drives change at scale. Almost nothing else.</a:t>
            </a:r>
            <a:endParaRPr lang="en-US" sz="1000" dirty="0"/>
          </a:p>
        </p:txBody>
      </p:sp>
      <p:sp>
        <p:nvSpPr>
          <p:cNvPr id="22" name="Text 18"/>
          <p:cNvSpPr/>
          <p:nvPr/>
        </p:nvSpPr>
        <p:spPr>
          <a:xfrm>
            <a:off x="274320" y="3753612"/>
            <a:ext cx="4114800" cy="237744"/>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Other factors that play a role:</a:t>
            </a:r>
            <a:endParaRPr lang="en-US" sz="1100" dirty="0"/>
          </a:p>
        </p:txBody>
      </p:sp>
      <p:sp>
        <p:nvSpPr>
          <p:cNvPr id="23" name="Text 19"/>
          <p:cNvSpPr/>
          <p:nvPr/>
        </p:nvSpPr>
        <p:spPr>
          <a:xfrm>
            <a:off x="274320" y="4009644"/>
            <a:ext cx="4114800" cy="658368"/>
          </a:xfrm>
          <a:prstGeom prst="rect">
            <a:avLst/>
          </a:prstGeom>
          <a:noFill/>
          <a:ln/>
        </p:spPr>
        <p:txBody>
          <a:bodyPr wrap="square"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Security perceptions</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Privacy concerns</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Status and social influence</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Familiarity and habit</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Demographic patterns</a:t>
            </a:r>
            <a:endParaRPr lang="en-US" sz="1050" dirty="0"/>
          </a:p>
        </p:txBody>
      </p:sp>
      <p:sp>
        <p:nvSpPr>
          <p:cNvPr id="24" name="Text 20"/>
          <p:cNvSpPr/>
          <p:nvPr/>
        </p:nvSpPr>
        <p:spPr>
          <a:xfrm>
            <a:off x="4754880" y="3753612"/>
            <a:ext cx="4114800" cy="237744"/>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Security paradox:</a:t>
            </a:r>
            <a:endParaRPr lang="en-US" sz="1100" dirty="0"/>
          </a:p>
        </p:txBody>
      </p:sp>
      <p:sp>
        <p:nvSpPr>
          <p:cNvPr id="25" name="Text 21"/>
          <p:cNvSpPr/>
          <p:nvPr/>
        </p:nvSpPr>
        <p:spPr>
          <a:xfrm>
            <a:off x="4754880" y="4009644"/>
            <a:ext cx="4114800" cy="658368"/>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Consumers say they want security — but often fail to adopt more secure options when they are offered. People expect payment systems to be secure as a baseline. Extra security features do not drive adoption on their own.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Demographics &amp; Psychographics</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Age shapes preferences — but attitude shapes behaviour even more</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Text 6"/>
          <p:cNvSpPr/>
          <p:nvPr/>
        </p:nvSpPr>
        <p:spPr>
          <a:xfrm>
            <a:off x="274320" y="1115568"/>
            <a:ext cx="8595360" cy="256032"/>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How different generations approach payments:</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1417320"/>
          <a:ext cx="8595360" cy="2011680"/>
        </p:xfrm>
        <a:graphic>
          <a:graphicData uri="http://schemas.openxmlformats.org/drawingml/2006/table">
            <a:tbl>
              <a:tblPr/>
              <a:tblGrid>
                <a:gridCol w="21488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50292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Gen Y (born 1975–2005)</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solidFill>
                      <a:srgbClr val="02809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Gen X (born 1965–1974)</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solidFill>
                      <a:srgbClr val="02809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Boomers (born 1946–1964)</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solidFill>
                      <a:srgbClr val="02809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Seniors (before 1946)</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502920">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Debit card generation — prefers debit over credit</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Prefer debit; use all online services</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Strong credit card orientation; peak earning power</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Checks and cash orientation</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Most likely to bank and research products online</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Expect full transparency of products and services</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Have the most credit cards, home equity loans, etc.</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Not comfortable with ATMs; prefer branch banking</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Living the mobile lifestyle</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Adopting mobile payments</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Prefer branch for major transactions</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Phones are for talking</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7"/>
          <p:cNvSpPr/>
          <p:nvPr/>
        </p:nvSpPr>
        <p:spPr>
          <a:xfrm>
            <a:off x="274320" y="3566160"/>
            <a:ext cx="8595360" cy="256032"/>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Beyond demographics — psychographic profile matters more:</a:t>
            </a:r>
            <a:endParaRPr lang="en-US" sz="1100" dirty="0"/>
          </a:p>
        </p:txBody>
      </p:sp>
      <p:sp>
        <p:nvSpPr>
          <p:cNvPr id="11" name="Shape 8"/>
          <p:cNvSpPr/>
          <p:nvPr/>
        </p:nvSpPr>
        <p:spPr>
          <a:xfrm>
            <a:off x="274320" y="3858768"/>
            <a:ext cx="4023360" cy="91440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2" name="Shape 9"/>
          <p:cNvSpPr/>
          <p:nvPr/>
        </p:nvSpPr>
        <p:spPr>
          <a:xfrm>
            <a:off x="274320" y="3858768"/>
            <a:ext cx="4023360" cy="329184"/>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347472" y="3877056"/>
            <a:ext cx="38404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'Carefree' Consumer</a:t>
            </a:r>
            <a:endParaRPr lang="en-US" sz="1200" dirty="0"/>
          </a:p>
        </p:txBody>
      </p:sp>
      <p:sp>
        <p:nvSpPr>
          <p:cNvPr id="14" name="Text 11"/>
          <p:cNvSpPr/>
          <p:nvPr/>
        </p:nvSpPr>
        <p:spPr>
          <a:xfrm>
            <a:off x="347472" y="4224528"/>
            <a:ext cx="3840480" cy="50292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Doesn't track balances closely. Pays bills when due — or later. May overdraft. Less focused on security. Values convenience above all.</a:t>
            </a:r>
            <a:endParaRPr lang="en-US" sz="1000" dirty="0"/>
          </a:p>
        </p:txBody>
      </p:sp>
      <p:sp>
        <p:nvSpPr>
          <p:cNvPr id="15" name="Shape 12"/>
          <p:cNvSpPr/>
          <p:nvPr/>
        </p:nvSpPr>
        <p:spPr>
          <a:xfrm>
            <a:off x="4754880" y="3858768"/>
            <a:ext cx="4114800" cy="91440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6" name="Shape 13"/>
          <p:cNvSpPr/>
          <p:nvPr/>
        </p:nvSpPr>
        <p:spPr>
          <a:xfrm>
            <a:off x="4754880" y="3858768"/>
            <a:ext cx="4114800" cy="329184"/>
          </a:xfrm>
          <a:prstGeom prst="rect">
            <a:avLst/>
          </a:prstGeom>
          <a:solidFill>
            <a:srgbClr val="D4860A"/>
          </a:solidFill>
          <a:ln w="12700">
            <a:solidFill>
              <a:srgbClr val="D4860A"/>
            </a:solidFill>
            <a:prstDash val="solid"/>
          </a:ln>
        </p:spPr>
        <p:txBody>
          <a:bodyPr/>
          <a:lstStyle/>
          <a:p>
            <a:endParaRPr lang="en-US"/>
          </a:p>
        </p:txBody>
      </p:sp>
      <p:sp>
        <p:nvSpPr>
          <p:cNvPr id="17" name="Text 14"/>
          <p:cNvSpPr/>
          <p:nvPr/>
        </p:nvSpPr>
        <p:spPr>
          <a:xfrm>
            <a:off x="4828032" y="3877056"/>
            <a:ext cx="39319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'Careful' Consumer</a:t>
            </a:r>
            <a:endParaRPr lang="en-US" sz="1200" dirty="0"/>
          </a:p>
        </p:txBody>
      </p:sp>
      <p:sp>
        <p:nvSpPr>
          <p:cNvPr id="18" name="Text 15"/>
          <p:cNvSpPr/>
          <p:nvPr/>
        </p:nvSpPr>
        <p:spPr>
          <a:xfrm>
            <a:off x="4828032" y="4224528"/>
            <a:ext cx="3931920" cy="502920"/>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Tracks account balances and limits closely. Pays bills on schedule. Never overdrafts. More security-conscious. High financial rewards orientation.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The Merchant Perspective</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At the end of the day, merchants just want to get paid — and sell more</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Shape 6"/>
          <p:cNvSpPr/>
          <p:nvPr/>
        </p:nvSpPr>
        <p:spPr>
          <a:xfrm>
            <a:off x="274320" y="1115568"/>
            <a:ext cx="2715768" cy="2721646"/>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9" name="Shape 7"/>
          <p:cNvSpPr/>
          <p:nvPr/>
        </p:nvSpPr>
        <p:spPr>
          <a:xfrm>
            <a:off x="274320" y="1115568"/>
            <a:ext cx="2715768" cy="475488"/>
          </a:xfrm>
          <a:prstGeom prst="rect">
            <a:avLst/>
          </a:prstGeom>
          <a:solidFill>
            <a:srgbClr val="028090"/>
          </a:solidFill>
          <a:ln w="12700">
            <a:solidFill>
              <a:srgbClr val="028090"/>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1403604" y="1170432"/>
            <a:ext cx="457200" cy="347472"/>
          </a:xfrm>
          <a:prstGeom prst="rect">
            <a:avLst/>
          </a:prstGeom>
        </p:spPr>
      </p:pic>
      <p:sp>
        <p:nvSpPr>
          <p:cNvPr id="11" name="Text 8"/>
          <p:cNvSpPr/>
          <p:nvPr/>
        </p:nvSpPr>
        <p:spPr>
          <a:xfrm>
            <a:off x="320040" y="1664208"/>
            <a:ext cx="2624328" cy="310896"/>
          </a:xfrm>
          <a:prstGeom prst="rect">
            <a:avLst/>
          </a:prstGeom>
          <a:noFill/>
          <a:ln/>
        </p:spPr>
        <p:txBody>
          <a:bodyPr wrap="square" lIns="0" tIns="0" rIns="0" bIns="0" rtlCol="0" anchor="ctr"/>
          <a:lstStyle/>
          <a:p>
            <a:pPr marL="0" indent="0" algn="ctr">
              <a:buNone/>
            </a:pPr>
            <a:r>
              <a:rPr lang="en-US" sz="1300" b="1" dirty="0">
                <a:solidFill>
                  <a:srgbClr val="01404A"/>
                </a:solidFill>
                <a:latin typeface="Calibri" pitchFamily="34" charset="0"/>
                <a:ea typeface="Calibri" pitchFamily="34" charset="-122"/>
                <a:cs typeface="Calibri" pitchFamily="34" charset="-120"/>
              </a:rPr>
              <a:t>Get Paid</a:t>
            </a:r>
            <a:endParaRPr lang="en-US" sz="1300" dirty="0"/>
          </a:p>
        </p:txBody>
      </p:sp>
      <p:sp>
        <p:nvSpPr>
          <p:cNvPr id="12" name="Text 9"/>
          <p:cNvSpPr/>
          <p:nvPr/>
        </p:nvSpPr>
        <p:spPr>
          <a:xfrm>
            <a:off x="374904" y="1399032"/>
            <a:ext cx="2514600" cy="2286000"/>
          </a:xfrm>
          <a:prstGeom prst="rect">
            <a:avLst/>
          </a:prstGeom>
          <a:noFill/>
          <a:ln/>
        </p:spPr>
        <p:txBody>
          <a:bodyPr wrap="square"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Accept payment forms customers want to use</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Keep or make a sale when customers are undecided</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Increase speed of checkout process</a:t>
            </a:r>
            <a:endParaRPr lang="en-US" sz="1050" dirty="0"/>
          </a:p>
        </p:txBody>
      </p:sp>
      <p:sp>
        <p:nvSpPr>
          <p:cNvPr id="13" name="Shape 10"/>
          <p:cNvSpPr/>
          <p:nvPr/>
        </p:nvSpPr>
        <p:spPr>
          <a:xfrm>
            <a:off x="3172968" y="1115568"/>
            <a:ext cx="2715768" cy="2721646"/>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4" name="Shape 11"/>
          <p:cNvSpPr/>
          <p:nvPr/>
        </p:nvSpPr>
        <p:spPr>
          <a:xfrm>
            <a:off x="3172968" y="1115568"/>
            <a:ext cx="2715768" cy="475488"/>
          </a:xfrm>
          <a:prstGeom prst="rect">
            <a:avLst/>
          </a:prstGeom>
          <a:solidFill>
            <a:srgbClr val="D4860A"/>
          </a:solidFill>
          <a:ln w="12700">
            <a:solidFill>
              <a:srgbClr val="D4860A"/>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302252" y="1170432"/>
            <a:ext cx="457200" cy="347472"/>
          </a:xfrm>
          <a:prstGeom prst="rect">
            <a:avLst/>
          </a:prstGeom>
        </p:spPr>
      </p:pic>
      <p:sp>
        <p:nvSpPr>
          <p:cNvPr id="16" name="Text 12"/>
          <p:cNvSpPr/>
          <p:nvPr/>
        </p:nvSpPr>
        <p:spPr>
          <a:xfrm>
            <a:off x="3218688" y="1664208"/>
            <a:ext cx="2624328" cy="310896"/>
          </a:xfrm>
          <a:prstGeom prst="rect">
            <a:avLst/>
          </a:prstGeom>
          <a:noFill/>
          <a:ln/>
        </p:spPr>
        <p:txBody>
          <a:bodyPr wrap="square" lIns="0" tIns="0" rIns="0" bIns="0" rtlCol="0" anchor="ctr"/>
          <a:lstStyle/>
          <a:p>
            <a:pPr marL="0" indent="0" algn="ctr">
              <a:buNone/>
            </a:pPr>
            <a:r>
              <a:rPr lang="en-US" sz="1300" b="1" dirty="0">
                <a:solidFill>
                  <a:srgbClr val="01404A"/>
                </a:solidFill>
                <a:latin typeface="Calibri" pitchFamily="34" charset="0"/>
                <a:ea typeface="Calibri" pitchFamily="34" charset="-122"/>
                <a:cs typeface="Calibri" pitchFamily="34" charset="-120"/>
              </a:rPr>
              <a:t>Sell More</a:t>
            </a:r>
            <a:endParaRPr lang="en-US" sz="1300" dirty="0"/>
          </a:p>
        </p:txBody>
      </p:sp>
      <p:sp>
        <p:nvSpPr>
          <p:cNvPr id="17" name="Text 13"/>
          <p:cNvSpPr/>
          <p:nvPr/>
        </p:nvSpPr>
        <p:spPr>
          <a:xfrm>
            <a:off x="3282696" y="1476756"/>
            <a:ext cx="2514600" cy="2286000"/>
          </a:xfrm>
          <a:prstGeom prst="rect">
            <a:avLst/>
          </a:prstGeom>
          <a:noFill/>
          <a:ln/>
        </p:spPr>
        <p:txBody>
          <a:bodyPr wrap="square"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Find and attract new customers</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Increase loyalty of existing customers</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Grow customer spending power</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Retain customers through rewards programs</a:t>
            </a:r>
            <a:endParaRPr lang="en-US" sz="1050" dirty="0"/>
          </a:p>
        </p:txBody>
      </p:sp>
      <p:sp>
        <p:nvSpPr>
          <p:cNvPr id="18" name="Shape 14"/>
          <p:cNvSpPr/>
          <p:nvPr/>
        </p:nvSpPr>
        <p:spPr>
          <a:xfrm>
            <a:off x="6071616" y="1115568"/>
            <a:ext cx="2715768" cy="2721646"/>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9" name="Shape 15"/>
          <p:cNvSpPr/>
          <p:nvPr/>
        </p:nvSpPr>
        <p:spPr>
          <a:xfrm>
            <a:off x="6071616" y="1115568"/>
            <a:ext cx="2715768" cy="475488"/>
          </a:xfrm>
          <a:prstGeom prst="rect">
            <a:avLst/>
          </a:prstGeom>
          <a:solidFill>
            <a:srgbClr val="1E7145"/>
          </a:solidFill>
          <a:ln w="12700">
            <a:solidFill>
              <a:srgbClr val="1E7145"/>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7200900" y="1170432"/>
            <a:ext cx="457200" cy="347472"/>
          </a:xfrm>
          <a:prstGeom prst="rect">
            <a:avLst/>
          </a:prstGeom>
        </p:spPr>
      </p:pic>
      <p:sp>
        <p:nvSpPr>
          <p:cNvPr id="21" name="Text 16"/>
          <p:cNvSpPr/>
          <p:nvPr/>
        </p:nvSpPr>
        <p:spPr>
          <a:xfrm>
            <a:off x="6117336" y="1664208"/>
            <a:ext cx="2624328" cy="310896"/>
          </a:xfrm>
          <a:prstGeom prst="rect">
            <a:avLst/>
          </a:prstGeom>
          <a:noFill/>
          <a:ln/>
        </p:spPr>
        <p:txBody>
          <a:bodyPr wrap="square" lIns="0" tIns="0" rIns="0" bIns="0" rtlCol="0" anchor="ctr"/>
          <a:lstStyle/>
          <a:p>
            <a:pPr marL="0" indent="0" algn="ctr">
              <a:buNone/>
            </a:pPr>
            <a:r>
              <a:rPr lang="en-US" sz="1300" b="1" dirty="0">
                <a:solidFill>
                  <a:srgbClr val="01404A"/>
                </a:solidFill>
                <a:latin typeface="Calibri" pitchFamily="34" charset="0"/>
                <a:ea typeface="Calibri" pitchFamily="34" charset="-122"/>
                <a:cs typeface="Calibri" pitchFamily="34" charset="-120"/>
              </a:rPr>
              <a:t>Lower Costs</a:t>
            </a:r>
            <a:endParaRPr lang="en-US" sz="1300" dirty="0"/>
          </a:p>
        </p:txBody>
      </p:sp>
      <p:sp>
        <p:nvSpPr>
          <p:cNvPr id="22" name="Text 17"/>
          <p:cNvSpPr/>
          <p:nvPr/>
        </p:nvSpPr>
        <p:spPr>
          <a:xfrm>
            <a:off x="6172200" y="1551214"/>
            <a:ext cx="2514600" cy="2286000"/>
          </a:xfrm>
          <a:prstGeom prst="rect">
            <a:avLst/>
          </a:prstGeom>
          <a:noFill/>
          <a:ln/>
        </p:spPr>
        <p:txBody>
          <a:bodyPr wrap="square" rtlCol="0" anchor="ctr"/>
          <a:lstStyle/>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Reduce fees paid to banks and processors</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Lower internal transaction handling costs</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Decrease incidents of fraud and theft</a:t>
            </a:r>
            <a:endParaRPr lang="en-US" sz="1050" dirty="0"/>
          </a:p>
          <a:p>
            <a:pPr marL="342900" indent="-342900">
              <a:buSzPct val="100000"/>
              <a:buChar char="•"/>
            </a:pPr>
            <a:r>
              <a:rPr lang="en-US" sz="1050" dirty="0">
                <a:solidFill>
                  <a:srgbClr val="4A5568"/>
                </a:solidFill>
                <a:latin typeface="Calibri" pitchFamily="34" charset="0"/>
                <a:ea typeface="Calibri" pitchFamily="34" charset="-122"/>
                <a:cs typeface="Calibri" pitchFamily="34" charset="-120"/>
              </a:rPr>
              <a:t>Minimize PCI compliance overhead</a:t>
            </a:r>
            <a:endParaRPr lang="en-US" sz="1050" dirty="0"/>
          </a:p>
        </p:txBody>
      </p:sp>
      <p:sp>
        <p:nvSpPr>
          <p:cNvPr id="23" name="Shape 18"/>
          <p:cNvSpPr/>
          <p:nvPr/>
        </p:nvSpPr>
        <p:spPr>
          <a:xfrm>
            <a:off x="274320" y="4416552"/>
            <a:ext cx="8522208" cy="414746"/>
          </a:xfrm>
          <a:prstGeom prst="rect">
            <a:avLst/>
          </a:prstGeom>
          <a:solidFill>
            <a:srgbClr val="EBF4F6"/>
          </a:solidFill>
          <a:ln w="12700">
            <a:solidFill>
              <a:srgbClr val="B2DDE6"/>
            </a:solidFill>
            <a:prstDash val="solid"/>
          </a:ln>
        </p:spPr>
        <p:txBody>
          <a:bodyPr/>
          <a:lstStyle/>
          <a:p>
            <a:endParaRPr lang="en-US"/>
          </a:p>
        </p:txBody>
      </p:sp>
      <p:sp>
        <p:nvSpPr>
          <p:cNvPr id="24" name="Text 19"/>
          <p:cNvSpPr/>
          <p:nvPr/>
        </p:nvSpPr>
        <p:spPr>
          <a:xfrm>
            <a:off x="384048" y="4503420"/>
            <a:ext cx="8412480" cy="237744"/>
          </a:xfrm>
          <a:prstGeom prst="rect">
            <a:avLst/>
          </a:prstGeom>
          <a:noFill/>
          <a:ln/>
        </p:spPr>
        <p:txBody>
          <a:bodyPr wrap="square" lIns="0" tIns="0" rIns="0" bIns="0" rtlCol="0" anchor="ctr"/>
          <a:lstStyle/>
          <a:p>
            <a:pPr marL="0" indent="0">
              <a:buNone/>
            </a:pPr>
            <a:r>
              <a:rPr lang="en-US" sz="1050" b="1" dirty="0">
                <a:solidFill>
                  <a:srgbClr val="01404A"/>
                </a:solidFill>
                <a:latin typeface="Calibri" pitchFamily="34" charset="0"/>
                <a:ea typeface="Calibri" pitchFamily="34" charset="-122"/>
                <a:cs typeface="Calibri" pitchFamily="34" charset="-120"/>
              </a:rPr>
              <a:t>Key insight: Merchants have adopted new payment methods almost entirely because those methods helped drive more sales — not because they reduced costs. Revenue growth is the primary motivator.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Merchant Segmentation</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One size does not fit all — merchant needs vary enormously by size and type</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Shape 6"/>
          <p:cNvSpPr/>
          <p:nvPr/>
        </p:nvSpPr>
        <p:spPr>
          <a:xfrm>
            <a:off x="274320" y="1115568"/>
            <a:ext cx="1993392" cy="260604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9" name="Shape 7"/>
          <p:cNvSpPr/>
          <p:nvPr/>
        </p:nvSpPr>
        <p:spPr>
          <a:xfrm>
            <a:off x="274320" y="1115568"/>
            <a:ext cx="1993392" cy="54864"/>
          </a:xfrm>
          <a:prstGeom prst="rect">
            <a:avLst/>
          </a:prstGeom>
          <a:solidFill>
            <a:srgbClr val="4A5568"/>
          </a:solidFill>
          <a:ln w="12700">
            <a:solidFill>
              <a:srgbClr val="4A5568"/>
            </a:solidFill>
            <a:prstDash val="solid"/>
          </a:ln>
        </p:spPr>
        <p:txBody>
          <a:bodyPr/>
          <a:lstStyle/>
          <a:p>
            <a:endParaRPr lang="en-US"/>
          </a:p>
        </p:txBody>
      </p:sp>
      <p:sp>
        <p:nvSpPr>
          <p:cNvPr id="10" name="Shape 8"/>
          <p:cNvSpPr/>
          <p:nvPr/>
        </p:nvSpPr>
        <p:spPr>
          <a:xfrm>
            <a:off x="950976" y="1290608"/>
            <a:ext cx="640080" cy="640080"/>
          </a:xfrm>
          <a:prstGeom prst="ellipse">
            <a:avLst/>
          </a:prstGeom>
          <a:solidFill>
            <a:srgbClr val="4A5568"/>
          </a:solidFill>
          <a:ln w="12700">
            <a:solidFill>
              <a:srgbClr val="4A5568"/>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996696" y="1336328"/>
            <a:ext cx="548640" cy="548640"/>
          </a:xfrm>
          <a:prstGeom prst="rect">
            <a:avLst/>
          </a:prstGeom>
        </p:spPr>
      </p:pic>
      <p:sp>
        <p:nvSpPr>
          <p:cNvPr id="12" name="Text 9"/>
          <p:cNvSpPr/>
          <p:nvPr/>
        </p:nvSpPr>
        <p:spPr>
          <a:xfrm>
            <a:off x="274320" y="2003840"/>
            <a:ext cx="1993392" cy="384048"/>
          </a:xfrm>
          <a:prstGeom prst="rect">
            <a:avLst/>
          </a:prstGeom>
          <a:noFill/>
          <a:ln/>
        </p:spPr>
        <p:txBody>
          <a:bodyPr wrap="square" lIns="0" tIns="0" rIns="0" bIns="0" rtlCol="0" anchor="ctr"/>
          <a:lstStyle/>
          <a:p>
            <a:pPr marL="0" indent="0" algn="ctr">
              <a:buNone/>
            </a:pPr>
            <a:r>
              <a:rPr lang="en-US" sz="1100" b="1" dirty="0">
                <a:solidFill>
                  <a:srgbClr val="01404A"/>
                </a:solidFill>
                <a:latin typeface="Calibri" pitchFamily="34" charset="0"/>
                <a:ea typeface="Calibri" pitchFamily="34" charset="-122"/>
                <a:cs typeface="Calibri" pitchFamily="34" charset="-120"/>
              </a:rPr>
              <a:t>Very Small</a:t>
            </a:r>
            <a:endParaRPr lang="en-US" sz="1100" dirty="0"/>
          </a:p>
          <a:p>
            <a:pPr marL="0" indent="0" algn="ctr">
              <a:buNone/>
            </a:pPr>
            <a:r>
              <a:rPr lang="en-US" sz="1100" b="1" dirty="0">
                <a:solidFill>
                  <a:srgbClr val="01404A"/>
                </a:solidFill>
                <a:latin typeface="Calibri" pitchFamily="34" charset="0"/>
                <a:ea typeface="Calibri" pitchFamily="34" charset="-122"/>
                <a:cs typeface="Calibri" pitchFamily="34" charset="-120"/>
              </a:rPr>
              <a:t>Merchant</a:t>
            </a:r>
            <a:endParaRPr lang="en-US" sz="1100" dirty="0"/>
          </a:p>
        </p:txBody>
      </p:sp>
      <p:sp>
        <p:nvSpPr>
          <p:cNvPr id="13" name="Text 10"/>
          <p:cNvSpPr/>
          <p:nvPr/>
        </p:nvSpPr>
        <p:spPr>
          <a:xfrm>
            <a:off x="371964" y="2244856"/>
            <a:ext cx="1847088" cy="1261872"/>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Manages payments like a consumer — often with the same bank the owner uses personally.</a:t>
            </a:r>
            <a:endParaRPr lang="en-US" sz="1000" dirty="0"/>
          </a:p>
        </p:txBody>
      </p:sp>
      <p:sp>
        <p:nvSpPr>
          <p:cNvPr id="14" name="Shape 11"/>
          <p:cNvSpPr/>
          <p:nvPr/>
        </p:nvSpPr>
        <p:spPr>
          <a:xfrm>
            <a:off x="2450592" y="1115568"/>
            <a:ext cx="1993392" cy="260604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5" name="Shape 12"/>
          <p:cNvSpPr/>
          <p:nvPr/>
        </p:nvSpPr>
        <p:spPr>
          <a:xfrm>
            <a:off x="2450592" y="1115568"/>
            <a:ext cx="1993392" cy="54864"/>
          </a:xfrm>
          <a:prstGeom prst="rect">
            <a:avLst/>
          </a:prstGeom>
          <a:solidFill>
            <a:srgbClr val="028090"/>
          </a:solidFill>
          <a:ln w="12700">
            <a:solidFill>
              <a:srgbClr val="028090"/>
            </a:solidFill>
            <a:prstDash val="solid"/>
          </a:ln>
        </p:spPr>
        <p:txBody>
          <a:bodyPr/>
          <a:lstStyle/>
          <a:p>
            <a:endParaRPr lang="en-US"/>
          </a:p>
        </p:txBody>
      </p:sp>
      <p:sp>
        <p:nvSpPr>
          <p:cNvPr id="16" name="Shape 13"/>
          <p:cNvSpPr/>
          <p:nvPr/>
        </p:nvSpPr>
        <p:spPr>
          <a:xfrm>
            <a:off x="3127248" y="1290608"/>
            <a:ext cx="640080" cy="640080"/>
          </a:xfrm>
          <a:prstGeom prst="ellipse">
            <a:avLst/>
          </a:prstGeom>
          <a:solidFill>
            <a:srgbClr val="028090"/>
          </a:solidFill>
          <a:ln w="12700">
            <a:solidFill>
              <a:srgbClr val="028090"/>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3172968" y="1336328"/>
            <a:ext cx="548640" cy="548640"/>
          </a:xfrm>
          <a:prstGeom prst="rect">
            <a:avLst/>
          </a:prstGeom>
        </p:spPr>
      </p:pic>
      <p:sp>
        <p:nvSpPr>
          <p:cNvPr id="18" name="Text 14"/>
          <p:cNvSpPr/>
          <p:nvPr/>
        </p:nvSpPr>
        <p:spPr>
          <a:xfrm>
            <a:off x="2450592" y="2003840"/>
            <a:ext cx="1993392" cy="384048"/>
          </a:xfrm>
          <a:prstGeom prst="rect">
            <a:avLst/>
          </a:prstGeom>
          <a:noFill/>
          <a:ln/>
        </p:spPr>
        <p:txBody>
          <a:bodyPr wrap="square" lIns="0" tIns="0" rIns="0" bIns="0" rtlCol="0" anchor="ctr"/>
          <a:lstStyle/>
          <a:p>
            <a:pPr marL="0" indent="0" algn="ctr">
              <a:buNone/>
            </a:pPr>
            <a:r>
              <a:rPr lang="en-US" sz="1100" b="1" dirty="0">
                <a:solidFill>
                  <a:srgbClr val="01404A"/>
                </a:solidFill>
                <a:latin typeface="Calibri" pitchFamily="34" charset="0"/>
                <a:ea typeface="Calibri" pitchFamily="34" charset="-122"/>
                <a:cs typeface="Calibri" pitchFamily="34" charset="-120"/>
              </a:rPr>
              <a:t>Growing</a:t>
            </a:r>
            <a:endParaRPr lang="en-US" sz="1100" dirty="0"/>
          </a:p>
          <a:p>
            <a:pPr marL="0" indent="0" algn="ctr">
              <a:buNone/>
            </a:pPr>
            <a:r>
              <a:rPr lang="en-US" sz="1100" b="1" dirty="0">
                <a:solidFill>
                  <a:srgbClr val="01404A"/>
                </a:solidFill>
                <a:latin typeface="Calibri" pitchFamily="34" charset="0"/>
                <a:ea typeface="Calibri" pitchFamily="34" charset="-122"/>
                <a:cs typeface="Calibri" pitchFamily="34" charset="-120"/>
              </a:rPr>
              <a:t>Mid-Size</a:t>
            </a:r>
            <a:endParaRPr lang="en-US" sz="1100" dirty="0"/>
          </a:p>
        </p:txBody>
      </p:sp>
      <p:sp>
        <p:nvSpPr>
          <p:cNvPr id="19" name="Text 15"/>
          <p:cNvSpPr/>
          <p:nvPr/>
        </p:nvSpPr>
        <p:spPr>
          <a:xfrm>
            <a:off x="2548236" y="2220364"/>
            <a:ext cx="1847088" cy="1261872"/>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Depends on its bank for credit. As it grows, adds other payment providers for specialist needs.</a:t>
            </a:r>
            <a:endParaRPr lang="en-US" sz="1000" dirty="0"/>
          </a:p>
        </p:txBody>
      </p:sp>
      <p:sp>
        <p:nvSpPr>
          <p:cNvPr id="20" name="Shape 16"/>
          <p:cNvSpPr/>
          <p:nvPr/>
        </p:nvSpPr>
        <p:spPr>
          <a:xfrm>
            <a:off x="4626864" y="1115568"/>
            <a:ext cx="1993392" cy="260604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21" name="Shape 17"/>
          <p:cNvSpPr/>
          <p:nvPr/>
        </p:nvSpPr>
        <p:spPr>
          <a:xfrm>
            <a:off x="4626864" y="1115568"/>
            <a:ext cx="1993392" cy="54864"/>
          </a:xfrm>
          <a:prstGeom prst="rect">
            <a:avLst/>
          </a:prstGeom>
          <a:solidFill>
            <a:srgbClr val="01404A"/>
          </a:solidFill>
          <a:ln w="12700">
            <a:solidFill>
              <a:srgbClr val="01404A"/>
            </a:solidFill>
            <a:prstDash val="solid"/>
          </a:ln>
        </p:spPr>
        <p:txBody>
          <a:bodyPr/>
          <a:lstStyle/>
          <a:p>
            <a:endParaRPr lang="en-US"/>
          </a:p>
        </p:txBody>
      </p:sp>
      <p:sp>
        <p:nvSpPr>
          <p:cNvPr id="22" name="Shape 18"/>
          <p:cNvSpPr/>
          <p:nvPr/>
        </p:nvSpPr>
        <p:spPr>
          <a:xfrm>
            <a:off x="5303520" y="1290608"/>
            <a:ext cx="640080" cy="640080"/>
          </a:xfrm>
          <a:prstGeom prst="ellipse">
            <a:avLst/>
          </a:prstGeom>
          <a:solidFill>
            <a:srgbClr val="01404A"/>
          </a:solidFill>
          <a:ln w="12700">
            <a:solidFill>
              <a:srgbClr val="01404A"/>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5349240" y="1336328"/>
            <a:ext cx="548640" cy="548640"/>
          </a:xfrm>
          <a:prstGeom prst="rect">
            <a:avLst/>
          </a:prstGeom>
        </p:spPr>
      </p:pic>
      <p:sp>
        <p:nvSpPr>
          <p:cNvPr id="24" name="Text 19"/>
          <p:cNvSpPr/>
          <p:nvPr/>
        </p:nvSpPr>
        <p:spPr>
          <a:xfrm>
            <a:off x="4626864" y="2003840"/>
            <a:ext cx="1993392" cy="384048"/>
          </a:xfrm>
          <a:prstGeom prst="rect">
            <a:avLst/>
          </a:prstGeom>
          <a:noFill/>
          <a:ln/>
        </p:spPr>
        <p:txBody>
          <a:bodyPr wrap="square" lIns="0" tIns="0" rIns="0" bIns="0" rtlCol="0" anchor="ctr"/>
          <a:lstStyle/>
          <a:p>
            <a:pPr marL="0" indent="0" algn="ctr">
              <a:buNone/>
            </a:pPr>
            <a:r>
              <a:rPr lang="en-US" sz="1100" b="1" dirty="0">
                <a:solidFill>
                  <a:srgbClr val="01404A"/>
                </a:solidFill>
                <a:latin typeface="Calibri" pitchFamily="34" charset="0"/>
                <a:ea typeface="Calibri" pitchFamily="34" charset="-122"/>
                <a:cs typeface="Calibri" pitchFamily="34" charset="-120"/>
              </a:rPr>
              <a:t>Large</a:t>
            </a:r>
            <a:endParaRPr lang="en-US" sz="1100" dirty="0"/>
          </a:p>
          <a:p>
            <a:pPr marL="0" indent="0" algn="ctr">
              <a:buNone/>
            </a:pPr>
            <a:r>
              <a:rPr lang="en-US" sz="1100" b="1" dirty="0">
                <a:solidFill>
                  <a:srgbClr val="01404A"/>
                </a:solidFill>
                <a:latin typeface="Calibri" pitchFamily="34" charset="0"/>
                <a:ea typeface="Calibri" pitchFamily="34" charset="-122"/>
                <a:cs typeface="Calibri" pitchFamily="34" charset="-120"/>
              </a:rPr>
              <a:t>Enterprise</a:t>
            </a:r>
            <a:endParaRPr lang="en-US" sz="1100" dirty="0"/>
          </a:p>
        </p:txBody>
      </p:sp>
      <p:sp>
        <p:nvSpPr>
          <p:cNvPr id="25" name="Text 20"/>
          <p:cNvSpPr/>
          <p:nvPr/>
        </p:nvSpPr>
        <p:spPr>
          <a:xfrm>
            <a:off x="4754880" y="2259220"/>
            <a:ext cx="1847088" cy="1261872"/>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Treats payments as a strategic function. Issues RFPs. Has dedicated staff for payments decisions.</a:t>
            </a:r>
            <a:endParaRPr lang="en-US" sz="1000" dirty="0"/>
          </a:p>
        </p:txBody>
      </p:sp>
      <p:sp>
        <p:nvSpPr>
          <p:cNvPr id="26" name="Shape 21"/>
          <p:cNvSpPr/>
          <p:nvPr/>
        </p:nvSpPr>
        <p:spPr>
          <a:xfrm>
            <a:off x="6803136" y="1115568"/>
            <a:ext cx="1993392" cy="260604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27" name="Shape 22"/>
          <p:cNvSpPr/>
          <p:nvPr/>
        </p:nvSpPr>
        <p:spPr>
          <a:xfrm>
            <a:off x="6803136" y="1115568"/>
            <a:ext cx="1993392" cy="54864"/>
          </a:xfrm>
          <a:prstGeom prst="rect">
            <a:avLst/>
          </a:prstGeom>
          <a:solidFill>
            <a:srgbClr val="D4860A"/>
          </a:solidFill>
          <a:ln w="12700">
            <a:solidFill>
              <a:srgbClr val="D4860A"/>
            </a:solidFill>
            <a:prstDash val="solid"/>
          </a:ln>
        </p:spPr>
        <p:txBody>
          <a:bodyPr/>
          <a:lstStyle/>
          <a:p>
            <a:endParaRPr lang="en-US"/>
          </a:p>
        </p:txBody>
      </p:sp>
      <p:sp>
        <p:nvSpPr>
          <p:cNvPr id="28" name="Shape 23"/>
          <p:cNvSpPr/>
          <p:nvPr/>
        </p:nvSpPr>
        <p:spPr>
          <a:xfrm>
            <a:off x="7479792" y="1290608"/>
            <a:ext cx="640080" cy="640080"/>
          </a:xfrm>
          <a:prstGeom prst="ellipse">
            <a:avLst/>
          </a:prstGeom>
          <a:solidFill>
            <a:srgbClr val="D4860A"/>
          </a:solidFill>
          <a:ln w="12700">
            <a:solidFill>
              <a:srgbClr val="D4860A"/>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7525512" y="1336328"/>
            <a:ext cx="548640" cy="548640"/>
          </a:xfrm>
          <a:prstGeom prst="rect">
            <a:avLst/>
          </a:prstGeom>
        </p:spPr>
      </p:pic>
      <p:sp>
        <p:nvSpPr>
          <p:cNvPr id="30" name="Text 24"/>
          <p:cNvSpPr/>
          <p:nvPr/>
        </p:nvSpPr>
        <p:spPr>
          <a:xfrm>
            <a:off x="6803136" y="2003840"/>
            <a:ext cx="1993392" cy="384048"/>
          </a:xfrm>
          <a:prstGeom prst="rect">
            <a:avLst/>
          </a:prstGeom>
          <a:noFill/>
          <a:ln/>
        </p:spPr>
        <p:txBody>
          <a:bodyPr wrap="square" lIns="0" tIns="0" rIns="0" bIns="0" rtlCol="0" anchor="ctr"/>
          <a:lstStyle/>
          <a:p>
            <a:pPr marL="0" indent="0" algn="ctr">
              <a:buNone/>
            </a:pPr>
            <a:r>
              <a:rPr lang="en-US" sz="1100" b="1" dirty="0">
                <a:solidFill>
                  <a:srgbClr val="01404A"/>
                </a:solidFill>
                <a:latin typeface="Calibri" pitchFamily="34" charset="0"/>
                <a:ea typeface="Calibri" pitchFamily="34" charset="-122"/>
                <a:cs typeface="Calibri" pitchFamily="34" charset="-120"/>
              </a:rPr>
              <a:t>Top 350</a:t>
            </a:r>
            <a:endParaRPr lang="en-US" sz="1100" dirty="0"/>
          </a:p>
          <a:p>
            <a:pPr marL="0" indent="0" algn="ctr">
              <a:buNone/>
            </a:pPr>
            <a:r>
              <a:rPr lang="en-US" sz="1100" b="1" dirty="0">
                <a:solidFill>
                  <a:srgbClr val="01404A"/>
                </a:solidFill>
                <a:latin typeface="Calibri" pitchFamily="34" charset="0"/>
                <a:ea typeface="Calibri" pitchFamily="34" charset="-122"/>
                <a:cs typeface="Calibri" pitchFamily="34" charset="-120"/>
              </a:rPr>
              <a:t>Merchants</a:t>
            </a:r>
            <a:endParaRPr lang="en-US" sz="1100" dirty="0"/>
          </a:p>
        </p:txBody>
      </p:sp>
      <p:sp>
        <p:nvSpPr>
          <p:cNvPr id="31" name="Text 25"/>
          <p:cNvSpPr/>
          <p:nvPr/>
        </p:nvSpPr>
        <p:spPr>
          <a:xfrm>
            <a:off x="6924948" y="2177576"/>
            <a:ext cx="1847088" cy="1261872"/>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Responsible for about half of all payment card transactions. Have enormous negotiating power.</a:t>
            </a:r>
            <a:endParaRPr lang="en-US" sz="1000" dirty="0"/>
          </a:p>
        </p:txBody>
      </p:sp>
      <p:sp>
        <p:nvSpPr>
          <p:cNvPr id="32" name="Shape 26"/>
          <p:cNvSpPr/>
          <p:nvPr/>
        </p:nvSpPr>
        <p:spPr>
          <a:xfrm>
            <a:off x="274320" y="3858768"/>
            <a:ext cx="8595360" cy="987552"/>
          </a:xfrm>
          <a:prstGeom prst="rect">
            <a:avLst/>
          </a:prstGeom>
          <a:solidFill>
            <a:srgbClr val="FDF8EE"/>
          </a:solidFill>
          <a:ln w="19050">
            <a:solidFill>
              <a:srgbClr val="D4860A"/>
            </a:solidFill>
            <a:prstDash val="solid"/>
          </a:ln>
          <a:effectLst>
            <a:outerShdw blurRad="101600" dist="38100" dir="8100000" algn="bl" rotWithShape="0">
              <a:srgbClr val="000000">
                <a:alpha val="13000"/>
              </a:srgbClr>
            </a:outerShdw>
          </a:effectLst>
        </p:spPr>
        <p:txBody>
          <a:bodyPr/>
          <a:lstStyle/>
          <a:p>
            <a:endParaRPr lang="en-US"/>
          </a:p>
        </p:txBody>
      </p:sp>
      <p:pic>
        <p:nvPicPr>
          <p:cNvPr id="33" name="Image 4" descr="preencoded.png"/>
          <p:cNvPicPr>
            <a:picLocks noChangeAspect="1"/>
          </p:cNvPicPr>
          <p:nvPr/>
        </p:nvPicPr>
        <p:blipFill>
          <a:blip r:embed="rId7"/>
          <a:stretch>
            <a:fillRect/>
          </a:stretch>
        </p:blipFill>
        <p:spPr>
          <a:xfrm>
            <a:off x="402336" y="4005072"/>
            <a:ext cx="384048" cy="384048"/>
          </a:xfrm>
          <a:prstGeom prst="rect">
            <a:avLst/>
          </a:prstGeom>
        </p:spPr>
      </p:pic>
      <p:sp>
        <p:nvSpPr>
          <p:cNvPr id="34" name="Text 27"/>
          <p:cNvSpPr/>
          <p:nvPr/>
        </p:nvSpPr>
        <p:spPr>
          <a:xfrm>
            <a:off x="868680" y="3913632"/>
            <a:ext cx="7772400" cy="274320"/>
          </a:xfrm>
          <a:prstGeom prst="rect">
            <a:avLst/>
          </a:prstGeom>
          <a:noFill/>
          <a:ln/>
        </p:spPr>
        <p:txBody>
          <a:bodyPr wrap="square" lIns="0" tIns="0" rIns="0" bIns="0" rtlCol="0" anchor="ctr"/>
          <a:lstStyle/>
          <a:p>
            <a:pPr marL="0" indent="0">
              <a:buNone/>
            </a:pPr>
            <a:r>
              <a:rPr lang="en-US" sz="1200" b="1" dirty="0">
                <a:solidFill>
                  <a:srgbClr val="01404A"/>
                </a:solidFill>
                <a:latin typeface="Calibri" pitchFamily="34" charset="0"/>
                <a:ea typeface="Calibri" pitchFamily="34" charset="-122"/>
                <a:cs typeface="Calibri" pitchFamily="34" charset="-120"/>
              </a:rPr>
              <a:t>The Cost of PCI Compliance</a:t>
            </a:r>
            <a:endParaRPr lang="en-US" sz="1200" dirty="0"/>
          </a:p>
        </p:txBody>
      </p:sp>
      <p:sp>
        <p:nvSpPr>
          <p:cNvPr id="35" name="Text 28"/>
          <p:cNvSpPr/>
          <p:nvPr/>
        </p:nvSpPr>
        <p:spPr>
          <a:xfrm>
            <a:off x="868680" y="4187952"/>
            <a:ext cx="7818120" cy="59436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PCI-DSS compliance has had a significant impact on merchant systems and back-office processes. Merchants who have suffered card data breaches have faced significant financial penalties. Ensuring PCI compliance is now priority number one for major merchants — and many are now considering outsourcing payments entirely to specialist providers (Payments as a Service) to reduce both compliance cost and breach risk.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Remote Commerce &amp; the eCommerce Fraud Problem</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Online merchants face a fraud challenge that physical stores do not</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Shape 6"/>
          <p:cNvSpPr/>
          <p:nvPr/>
        </p:nvSpPr>
        <p:spPr>
          <a:xfrm>
            <a:off x="274320" y="1115568"/>
            <a:ext cx="4069080" cy="3401568"/>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9" name="Shape 7"/>
          <p:cNvSpPr/>
          <p:nvPr/>
        </p:nvSpPr>
        <p:spPr>
          <a:xfrm>
            <a:off x="274320" y="1115568"/>
            <a:ext cx="4069080" cy="438912"/>
          </a:xfrm>
          <a:prstGeom prst="rect">
            <a:avLst/>
          </a:prstGeom>
          <a:solidFill>
            <a:srgbClr val="01404A"/>
          </a:solidFill>
          <a:ln w="12700">
            <a:solidFill>
              <a:srgbClr val="01404A"/>
            </a:solidFill>
            <a:prstDash val="solid"/>
          </a:ln>
        </p:spPr>
        <p:txBody>
          <a:bodyPr/>
          <a:lstStyle/>
          <a:p>
            <a:endParaRPr lang="en-US"/>
          </a:p>
        </p:txBody>
      </p:sp>
      <p:sp>
        <p:nvSpPr>
          <p:cNvPr id="10" name="Text 8"/>
          <p:cNvSpPr/>
          <p:nvPr/>
        </p:nvSpPr>
        <p:spPr>
          <a:xfrm>
            <a:off x="347472" y="1152144"/>
            <a:ext cx="38862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How We Got Here</a:t>
            </a:r>
            <a:endParaRPr lang="en-US" sz="1300" dirty="0"/>
          </a:p>
        </p:txBody>
      </p:sp>
      <p:sp>
        <p:nvSpPr>
          <p:cNvPr id="11" name="Text 9"/>
          <p:cNvSpPr/>
          <p:nvPr/>
        </p:nvSpPr>
        <p:spPr>
          <a:xfrm>
            <a:off x="347472" y="1627632"/>
            <a:ext cx="3886200" cy="713232"/>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Long before Amazon, US merchants were selling via mail and telephone orders — these were called 'MOTO' (mail order / telephone order) transactions. Because the merchant could not see the physical card, the industry treated MOTO as fraud-prone from the very beginning.</a:t>
            </a:r>
            <a:endParaRPr lang="en-US" sz="1050" dirty="0"/>
          </a:p>
        </p:txBody>
      </p:sp>
      <p:sp>
        <p:nvSpPr>
          <p:cNvPr id="12" name="Text 10"/>
          <p:cNvSpPr/>
          <p:nvPr/>
        </p:nvSpPr>
        <p:spPr>
          <a:xfrm>
            <a:off x="347472" y="2377440"/>
            <a:ext cx="3886200" cy="841248"/>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When eCommerce arrived, the card industry simply extended this existing MOTO framework. The rule was already in place: if the merchant cannot verify the card physically, the merchant bears the fraud liability. An online merchant must therefore manage card acceptance to avoid fraud — just as a physical merchant manages bounced checks.</a:t>
            </a:r>
            <a:endParaRPr lang="en-US" sz="1050" dirty="0"/>
          </a:p>
        </p:txBody>
      </p:sp>
      <p:sp>
        <p:nvSpPr>
          <p:cNvPr id="13" name="Shape 11"/>
          <p:cNvSpPr/>
          <p:nvPr/>
        </p:nvSpPr>
        <p:spPr>
          <a:xfrm>
            <a:off x="347472" y="3460113"/>
            <a:ext cx="3886200" cy="338328"/>
          </a:xfrm>
          <a:prstGeom prst="rect">
            <a:avLst/>
          </a:prstGeom>
          <a:solidFill>
            <a:srgbClr val="EBF4F6"/>
          </a:solidFill>
          <a:ln w="12700">
            <a:solidFill>
              <a:srgbClr val="B2DDE6"/>
            </a:solidFill>
            <a:prstDash val="solid"/>
          </a:ln>
        </p:spPr>
        <p:txBody>
          <a:bodyPr/>
          <a:lstStyle/>
          <a:p>
            <a:endParaRPr lang="en-US"/>
          </a:p>
        </p:txBody>
      </p:sp>
      <p:sp>
        <p:nvSpPr>
          <p:cNvPr id="14" name="Text 12"/>
          <p:cNvSpPr/>
          <p:nvPr/>
        </p:nvSpPr>
        <p:spPr>
          <a:xfrm>
            <a:off x="438912" y="3535911"/>
            <a:ext cx="3712464" cy="182880"/>
          </a:xfrm>
          <a:prstGeom prst="rect">
            <a:avLst/>
          </a:prstGeom>
          <a:noFill/>
          <a:ln/>
        </p:spPr>
        <p:txBody>
          <a:bodyPr wrap="square" lIns="0" tIns="0" rIns="0" bIns="0" rtlCol="0" anchor="ctr"/>
          <a:lstStyle/>
          <a:p>
            <a:pPr marL="0" indent="0">
              <a:buNone/>
            </a:pPr>
            <a:r>
              <a:rPr lang="en-US" sz="1000" i="1" dirty="0">
                <a:solidFill>
                  <a:srgbClr val="028090"/>
                </a:solidFill>
                <a:latin typeface="Calibri" pitchFamily="34" charset="0"/>
                <a:ea typeface="Calibri" pitchFamily="34" charset="-122"/>
                <a:cs typeface="Calibri" pitchFamily="34" charset="-120"/>
              </a:rPr>
              <a:t>From the start, virtually all remote commerce payments were made by card.</a:t>
            </a:r>
            <a:endParaRPr lang="en-US" sz="1000" dirty="0"/>
          </a:p>
        </p:txBody>
      </p:sp>
      <p:sp>
        <p:nvSpPr>
          <p:cNvPr id="15" name="Shape 13"/>
          <p:cNvSpPr/>
          <p:nvPr/>
        </p:nvSpPr>
        <p:spPr>
          <a:xfrm>
            <a:off x="4617720" y="1115568"/>
            <a:ext cx="4251960" cy="3401568"/>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6" name="Shape 14"/>
          <p:cNvSpPr/>
          <p:nvPr/>
        </p:nvSpPr>
        <p:spPr>
          <a:xfrm>
            <a:off x="4617720" y="1115568"/>
            <a:ext cx="4251960" cy="438912"/>
          </a:xfrm>
          <a:prstGeom prst="rect">
            <a:avLst/>
          </a:prstGeom>
          <a:solidFill>
            <a:srgbClr val="D4860A"/>
          </a:solidFill>
          <a:ln w="12700">
            <a:solidFill>
              <a:srgbClr val="D4860A"/>
            </a:solidFill>
            <a:prstDash val="solid"/>
          </a:ln>
        </p:spPr>
        <p:txBody>
          <a:bodyPr/>
          <a:lstStyle/>
          <a:p>
            <a:endParaRPr lang="en-US"/>
          </a:p>
        </p:txBody>
      </p:sp>
      <p:sp>
        <p:nvSpPr>
          <p:cNvPr id="17" name="Text 15"/>
          <p:cNvSpPr/>
          <p:nvPr/>
        </p:nvSpPr>
        <p:spPr>
          <a:xfrm>
            <a:off x="4690872" y="1152144"/>
            <a:ext cx="40690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Merchant Frustrations with Card Costs</a:t>
            </a:r>
            <a:endParaRPr lang="en-US" sz="1300" dirty="0"/>
          </a:p>
        </p:txBody>
      </p:sp>
      <p:sp>
        <p:nvSpPr>
          <p:cNvPr id="18" name="Text 16"/>
          <p:cNvSpPr/>
          <p:nvPr/>
        </p:nvSpPr>
        <p:spPr>
          <a:xfrm>
            <a:off x="4736592" y="1664208"/>
            <a:ext cx="3977640" cy="237744"/>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Rising Interchange Fees</a:t>
            </a:r>
            <a:endParaRPr lang="en-US" sz="1100" dirty="0"/>
          </a:p>
        </p:txBody>
      </p:sp>
      <p:sp>
        <p:nvSpPr>
          <p:cNvPr id="19" name="Text 17"/>
          <p:cNvSpPr/>
          <p:nvPr/>
        </p:nvSpPr>
        <p:spPr>
          <a:xfrm>
            <a:off x="4736592" y="1901952"/>
            <a:ext cx="3977640" cy="658368"/>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Rewards-based credit cards introduced in the mid-2000s came with higher interchange — merchants pay more per transaction to fund the customer rewards they did not ask for.</a:t>
            </a:r>
            <a:endParaRPr lang="en-US" sz="1000" dirty="0"/>
          </a:p>
        </p:txBody>
      </p:sp>
      <p:sp>
        <p:nvSpPr>
          <p:cNvPr id="20" name="Shape 18"/>
          <p:cNvSpPr/>
          <p:nvPr/>
        </p:nvSpPr>
        <p:spPr>
          <a:xfrm>
            <a:off x="4736592" y="2578608"/>
            <a:ext cx="3977640" cy="0"/>
          </a:xfrm>
          <a:prstGeom prst="line">
            <a:avLst/>
          </a:prstGeom>
          <a:noFill/>
          <a:ln w="12700">
            <a:solidFill>
              <a:srgbClr val="B2DDE6"/>
            </a:solidFill>
            <a:prstDash val="solid"/>
          </a:ln>
        </p:spPr>
        <p:txBody>
          <a:bodyPr/>
          <a:lstStyle/>
          <a:p>
            <a:endParaRPr lang="en-US"/>
          </a:p>
        </p:txBody>
      </p:sp>
      <p:sp>
        <p:nvSpPr>
          <p:cNvPr id="21" name="Text 19"/>
          <p:cNvSpPr/>
          <p:nvPr/>
        </p:nvSpPr>
        <p:spPr>
          <a:xfrm>
            <a:off x="4736592" y="2670048"/>
            <a:ext cx="3977640" cy="237744"/>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No Equivalent Enterprise Protection</a:t>
            </a:r>
            <a:endParaRPr lang="en-US" sz="1100" dirty="0"/>
          </a:p>
        </p:txBody>
      </p:sp>
      <p:sp>
        <p:nvSpPr>
          <p:cNvPr id="22" name="Text 20"/>
          <p:cNvSpPr/>
          <p:nvPr/>
        </p:nvSpPr>
        <p:spPr>
          <a:xfrm>
            <a:off x="4736592" y="2907792"/>
            <a:ext cx="3977640" cy="658368"/>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Many consumer protections built into card network rules and federal regulations do not apply to businesses. Enterprises need their own risk management frameworks.</a:t>
            </a:r>
            <a:endParaRPr lang="en-US" sz="1000" dirty="0"/>
          </a:p>
        </p:txBody>
      </p:sp>
      <p:sp>
        <p:nvSpPr>
          <p:cNvPr id="23" name="Shape 21"/>
          <p:cNvSpPr/>
          <p:nvPr/>
        </p:nvSpPr>
        <p:spPr>
          <a:xfrm>
            <a:off x="4736592" y="3584448"/>
            <a:ext cx="3977640" cy="0"/>
          </a:xfrm>
          <a:prstGeom prst="line">
            <a:avLst/>
          </a:prstGeom>
          <a:noFill/>
          <a:ln w="12700">
            <a:solidFill>
              <a:srgbClr val="B2DDE6"/>
            </a:solidFill>
            <a:prstDash val="solid"/>
          </a:ln>
        </p:spPr>
        <p:txBody>
          <a:bodyPr/>
          <a:lstStyle/>
          <a:p>
            <a:endParaRPr lang="en-US"/>
          </a:p>
        </p:txBody>
      </p:sp>
      <p:sp>
        <p:nvSpPr>
          <p:cNvPr id="24" name="Text 22"/>
          <p:cNvSpPr/>
          <p:nvPr/>
        </p:nvSpPr>
        <p:spPr>
          <a:xfrm>
            <a:off x="4736592" y="3675888"/>
            <a:ext cx="3977640" cy="237744"/>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Merchants Fighting Back</a:t>
            </a:r>
            <a:endParaRPr lang="en-US" sz="1100" dirty="0"/>
          </a:p>
        </p:txBody>
      </p:sp>
      <p:sp>
        <p:nvSpPr>
          <p:cNvPr id="25" name="Text 23"/>
          <p:cNvSpPr/>
          <p:nvPr/>
        </p:nvSpPr>
        <p:spPr>
          <a:xfrm>
            <a:off x="4736592" y="3913632"/>
            <a:ext cx="3977640" cy="658368"/>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Merchants have lobbied regulators, launched litigation against networks, and explored alternatives like ACH payments to reduce their dependence on higher-cost card acceptance.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The Biller Perspective</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Billers — utilities, telecoms, mortgage servicers — are just merchants who send bills first</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Shape 6"/>
          <p:cNvSpPr/>
          <p:nvPr/>
        </p:nvSpPr>
        <p:spPr>
          <a:xfrm>
            <a:off x="274320" y="1115568"/>
            <a:ext cx="8595360" cy="841248"/>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9" name="Text 7"/>
          <p:cNvSpPr/>
          <p:nvPr/>
        </p:nvSpPr>
        <p:spPr>
          <a:xfrm>
            <a:off x="384048" y="1170432"/>
            <a:ext cx="3474720" cy="256032"/>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What makes billers different from regular merchants:</a:t>
            </a:r>
            <a:endParaRPr lang="en-US" sz="1100" dirty="0"/>
          </a:p>
        </p:txBody>
      </p:sp>
      <p:sp>
        <p:nvSpPr>
          <p:cNvPr id="10" name="Text 8"/>
          <p:cNvSpPr/>
          <p:nvPr/>
        </p:nvSpPr>
        <p:spPr>
          <a:xfrm>
            <a:off x="3931920" y="1170432"/>
            <a:ext cx="4754880" cy="658368"/>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 biller presents a bill to a customer first — and then collects payment. Over 100,000 billers in the US collectively handle around 22 billion payments per year. They range from your electricity company to your dentist.</a:t>
            </a:r>
            <a:endParaRPr lang="en-US" sz="1050" dirty="0"/>
          </a:p>
        </p:txBody>
      </p:sp>
      <p:sp>
        <p:nvSpPr>
          <p:cNvPr id="11" name="Text 9"/>
          <p:cNvSpPr/>
          <p:nvPr/>
        </p:nvSpPr>
        <p:spPr>
          <a:xfrm>
            <a:off x="274320" y="2029968"/>
            <a:ext cx="8595360" cy="256032"/>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What different billers are trying to achieve:</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274320" y="2331720"/>
          <a:ext cx="8595360" cy="1996440"/>
        </p:xfrm>
        <a:graphic>
          <a:graphicData uri="http://schemas.openxmlformats.org/drawingml/2006/table">
            <a:tbl>
              <a:tblPr/>
              <a:tblGrid>
                <a:gridCol w="22860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20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Biller Segment</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solidFill>
                      <a:srgbClr val="02809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Key Objective</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solidFill>
                      <a:srgbClr val="02809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Common Strategy</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320040">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All billers</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Reduce statement mailing expense</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Drive customers to pay on the biller's own website</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Credit card issuers, cable, telecom</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Cross-sell products while customer pays bill</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Accept card and online payments; build digital relationship</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Utilities</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Encourage customer self-service</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Online payment portals; automated phone payment (IVR)</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All billers</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Lower payments acceptance cost</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Prefer ACH over cards; avoid or surcharge card payments</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4"/>
                  </a:ext>
                </a:extLst>
              </a:tr>
              <a:tr h="320040">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Mortgage processors, cable</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Collect late payment fee revenue</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Accept cards by phone; make card payment the last-minute option</a:t>
                      </a:r>
                      <a:endParaRPr lang="en-US" sz="1000" dirty="0">
                        <a:latin typeface="Calibri" charset="0"/>
                        <a:ea typeface="Calibri" charset="0"/>
                        <a:cs typeface="Calibri" charset="0"/>
                      </a:endParaRPr>
                    </a:p>
                  </a:txBody>
                  <a:tcPr>
                    <a:lnL w="12700" cap="flat" cmpd="sng" algn="ctr">
                      <a:solidFill>
                        <a:srgbClr val="D0D8E8"/>
                      </a:solidFill>
                      <a:prstDash val="solid"/>
                      <a:round/>
                      <a:headEnd type="none" w="med" len="med"/>
                      <a:tailEnd type="none" w="med" len="med"/>
                    </a:lnL>
                    <a:lnR w="12700" cap="flat" cmpd="sng" algn="ctr">
                      <a:solidFill>
                        <a:srgbClr val="D0D8E8"/>
                      </a:solidFill>
                      <a:prstDash val="solid"/>
                      <a:round/>
                      <a:headEnd type="none" w="med" len="med"/>
                      <a:tailEnd type="none" w="med" len="med"/>
                    </a:lnR>
                    <a:lnT w="12700" cap="flat" cmpd="sng" algn="ctr">
                      <a:solidFill>
                        <a:srgbClr val="D0D8E8"/>
                      </a:solidFill>
                      <a:prstDash val="solid"/>
                      <a:round/>
                      <a:headEnd type="none" w="med" len="med"/>
                      <a:tailEnd type="none" w="med" len="med"/>
                    </a:lnT>
                    <a:lnB w="12700" cap="flat" cmpd="sng" algn="ctr">
                      <a:solidFill>
                        <a:srgbClr val="D0D8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 name="Shape 10"/>
          <p:cNvSpPr/>
          <p:nvPr/>
        </p:nvSpPr>
        <p:spPr>
          <a:xfrm>
            <a:off x="274320" y="4352544"/>
            <a:ext cx="8595360" cy="521208"/>
          </a:xfrm>
          <a:prstGeom prst="rect">
            <a:avLst/>
          </a:prstGeom>
          <a:solidFill>
            <a:srgbClr val="EBF4F6"/>
          </a:solidFill>
          <a:ln w="12700">
            <a:solidFill>
              <a:srgbClr val="B2DDE6"/>
            </a:solidFill>
            <a:prstDash val="solid"/>
          </a:ln>
        </p:spPr>
        <p:txBody>
          <a:bodyPr/>
          <a:lstStyle/>
          <a:p>
            <a:endParaRPr lang="en-US"/>
          </a:p>
        </p:txBody>
      </p:sp>
      <p:sp>
        <p:nvSpPr>
          <p:cNvPr id="14" name="Text 11"/>
          <p:cNvSpPr/>
          <p:nvPr/>
        </p:nvSpPr>
        <p:spPr>
          <a:xfrm>
            <a:off x="384048" y="4370832"/>
            <a:ext cx="8412480" cy="457200"/>
          </a:xfrm>
          <a:prstGeom prst="rect">
            <a:avLst/>
          </a:prstGeom>
          <a:noFill/>
          <a:ln/>
        </p:spPr>
        <p:txBody>
          <a:bodyPr wrap="square" lIns="0" tIns="0" rIns="0" bIns="0" rtlCol="0" anchor="ctr"/>
          <a:lstStyle/>
          <a:p>
            <a:pPr marL="0" indent="0">
              <a:buNone/>
            </a:pPr>
            <a:r>
              <a:rPr lang="en-US" sz="1050" i="1" dirty="0">
                <a:solidFill>
                  <a:srgbClr val="01404A"/>
                </a:solidFill>
                <a:latin typeface="Calibri" pitchFamily="34" charset="0"/>
                <a:ea typeface="Calibri" pitchFamily="34" charset="-122"/>
                <a:cs typeface="Calibri" pitchFamily="34" charset="-120"/>
              </a:rPr>
              <a:t>Checks are not dead yet: Despite the digital shift, checks remain a common way consumers pay bills — particularly older consumers and those in segments with limited digital access. Billers have to keep accepting them for the foreseeable future.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The Enterprise Perspective</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Businesses of all sizes need to manage payments — but their needs are very different</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Shape 6"/>
          <p:cNvSpPr/>
          <p:nvPr/>
        </p:nvSpPr>
        <p:spPr>
          <a:xfrm>
            <a:off x="274320" y="1115568"/>
            <a:ext cx="2715768" cy="233172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9" name="Shape 7"/>
          <p:cNvSpPr/>
          <p:nvPr/>
        </p:nvSpPr>
        <p:spPr>
          <a:xfrm>
            <a:off x="274320" y="1115568"/>
            <a:ext cx="2715768" cy="54864"/>
          </a:xfrm>
          <a:prstGeom prst="rect">
            <a:avLst/>
          </a:prstGeom>
          <a:solidFill>
            <a:srgbClr val="4A5568"/>
          </a:solidFill>
          <a:ln w="12700">
            <a:solidFill>
              <a:srgbClr val="4A5568"/>
            </a:solidFill>
            <a:prstDash val="solid"/>
          </a:ln>
        </p:spPr>
        <p:txBody>
          <a:bodyPr/>
          <a:lstStyle/>
          <a:p>
            <a:endParaRPr lang="en-US"/>
          </a:p>
        </p:txBody>
      </p:sp>
      <p:sp>
        <p:nvSpPr>
          <p:cNvPr id="10" name="Shape 8"/>
          <p:cNvSpPr/>
          <p:nvPr/>
        </p:nvSpPr>
        <p:spPr>
          <a:xfrm>
            <a:off x="1312164" y="1293032"/>
            <a:ext cx="640080" cy="640080"/>
          </a:xfrm>
          <a:prstGeom prst="ellipse">
            <a:avLst/>
          </a:prstGeom>
          <a:solidFill>
            <a:srgbClr val="4A5568"/>
          </a:solidFill>
          <a:ln w="12700">
            <a:solidFill>
              <a:srgbClr val="4A5568"/>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1357884" y="1338752"/>
            <a:ext cx="548640" cy="548640"/>
          </a:xfrm>
          <a:prstGeom prst="rect">
            <a:avLst/>
          </a:prstGeom>
        </p:spPr>
      </p:pic>
      <p:sp>
        <p:nvSpPr>
          <p:cNvPr id="12" name="Text 9"/>
          <p:cNvSpPr/>
          <p:nvPr/>
        </p:nvSpPr>
        <p:spPr>
          <a:xfrm>
            <a:off x="320040" y="1938528"/>
            <a:ext cx="2624328" cy="320040"/>
          </a:xfrm>
          <a:prstGeom prst="rect">
            <a:avLst/>
          </a:prstGeom>
          <a:noFill/>
          <a:ln/>
        </p:spPr>
        <p:txBody>
          <a:bodyPr wrap="square" lIns="0" tIns="0" rIns="0" bIns="0" rtlCol="0" anchor="ctr"/>
          <a:lstStyle/>
          <a:p>
            <a:pPr marL="0" indent="0" algn="ctr">
              <a:buNone/>
            </a:pPr>
            <a:r>
              <a:rPr lang="en-US" sz="1200" b="1" dirty="0">
                <a:solidFill>
                  <a:srgbClr val="01404A"/>
                </a:solidFill>
                <a:latin typeface="Calibri" pitchFamily="34" charset="0"/>
                <a:ea typeface="Calibri" pitchFamily="34" charset="-122"/>
                <a:cs typeface="Calibri" pitchFamily="34" charset="-120"/>
              </a:rPr>
              <a:t>Very Small Business</a:t>
            </a:r>
            <a:endParaRPr lang="en-US" sz="1200" dirty="0"/>
          </a:p>
        </p:txBody>
      </p:sp>
      <p:sp>
        <p:nvSpPr>
          <p:cNvPr id="13" name="Text 10"/>
          <p:cNvSpPr/>
          <p:nvPr/>
        </p:nvSpPr>
        <p:spPr>
          <a:xfrm>
            <a:off x="384048" y="2304288"/>
            <a:ext cx="2514600" cy="100584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Manages payments just like a consumer. Uses the same bank as the owner personally. Payments are handled informally.</a:t>
            </a:r>
            <a:endParaRPr lang="en-US" sz="1050" dirty="0"/>
          </a:p>
        </p:txBody>
      </p:sp>
      <p:sp>
        <p:nvSpPr>
          <p:cNvPr id="14" name="Shape 11"/>
          <p:cNvSpPr/>
          <p:nvPr/>
        </p:nvSpPr>
        <p:spPr>
          <a:xfrm>
            <a:off x="3172968" y="1115568"/>
            <a:ext cx="2715768" cy="233172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5" name="Shape 12"/>
          <p:cNvSpPr/>
          <p:nvPr/>
        </p:nvSpPr>
        <p:spPr>
          <a:xfrm>
            <a:off x="3172968" y="1115568"/>
            <a:ext cx="2715768" cy="54864"/>
          </a:xfrm>
          <a:prstGeom prst="rect">
            <a:avLst/>
          </a:prstGeom>
          <a:solidFill>
            <a:srgbClr val="4AADBC"/>
          </a:solidFill>
          <a:ln w="12700">
            <a:solidFill>
              <a:srgbClr val="4AADBC"/>
            </a:solidFill>
            <a:prstDash val="solid"/>
          </a:ln>
        </p:spPr>
        <p:txBody>
          <a:bodyPr/>
          <a:lstStyle/>
          <a:p>
            <a:endParaRPr lang="en-US"/>
          </a:p>
        </p:txBody>
      </p:sp>
      <p:sp>
        <p:nvSpPr>
          <p:cNvPr id="16" name="Shape 13"/>
          <p:cNvSpPr/>
          <p:nvPr/>
        </p:nvSpPr>
        <p:spPr>
          <a:xfrm>
            <a:off x="4210812" y="1293032"/>
            <a:ext cx="640080" cy="640080"/>
          </a:xfrm>
          <a:prstGeom prst="ellipse">
            <a:avLst/>
          </a:prstGeom>
          <a:solidFill>
            <a:srgbClr val="4AADBC"/>
          </a:solidFill>
          <a:ln w="12700">
            <a:solidFill>
              <a:srgbClr val="4AADBC"/>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4256532" y="1338752"/>
            <a:ext cx="548640" cy="548640"/>
          </a:xfrm>
          <a:prstGeom prst="rect">
            <a:avLst/>
          </a:prstGeom>
        </p:spPr>
      </p:pic>
      <p:sp>
        <p:nvSpPr>
          <p:cNvPr id="18" name="Text 14"/>
          <p:cNvSpPr/>
          <p:nvPr/>
        </p:nvSpPr>
        <p:spPr>
          <a:xfrm>
            <a:off x="3218688" y="1938528"/>
            <a:ext cx="2624328" cy="320040"/>
          </a:xfrm>
          <a:prstGeom prst="rect">
            <a:avLst/>
          </a:prstGeom>
          <a:noFill/>
          <a:ln/>
        </p:spPr>
        <p:txBody>
          <a:bodyPr wrap="square" lIns="0" tIns="0" rIns="0" bIns="0" rtlCol="0" anchor="ctr"/>
          <a:lstStyle/>
          <a:p>
            <a:pPr marL="0" indent="0" algn="ctr">
              <a:buNone/>
            </a:pPr>
            <a:r>
              <a:rPr lang="en-US" sz="1200" b="1" dirty="0">
                <a:solidFill>
                  <a:srgbClr val="01404A"/>
                </a:solidFill>
                <a:latin typeface="Calibri" pitchFamily="34" charset="0"/>
                <a:ea typeface="Calibri" pitchFamily="34" charset="-122"/>
                <a:cs typeface="Calibri" pitchFamily="34" charset="-120"/>
              </a:rPr>
              <a:t>Growing Mid-Size</a:t>
            </a:r>
            <a:endParaRPr lang="en-US" sz="1200" dirty="0"/>
          </a:p>
        </p:txBody>
      </p:sp>
      <p:sp>
        <p:nvSpPr>
          <p:cNvPr id="19" name="Text 15"/>
          <p:cNvSpPr/>
          <p:nvPr/>
        </p:nvSpPr>
        <p:spPr>
          <a:xfrm>
            <a:off x="3282696" y="2304288"/>
            <a:ext cx="2514600" cy="100584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Depends on bank credit relationships. Adds specialist providers as it grows — a regional bank, a card acquirer, a payroll processor.</a:t>
            </a:r>
            <a:endParaRPr lang="en-US" sz="1050" dirty="0"/>
          </a:p>
        </p:txBody>
      </p:sp>
      <p:sp>
        <p:nvSpPr>
          <p:cNvPr id="20" name="Shape 16"/>
          <p:cNvSpPr/>
          <p:nvPr/>
        </p:nvSpPr>
        <p:spPr>
          <a:xfrm>
            <a:off x="6071616" y="1115568"/>
            <a:ext cx="2715768" cy="233172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21" name="Shape 17"/>
          <p:cNvSpPr/>
          <p:nvPr/>
        </p:nvSpPr>
        <p:spPr>
          <a:xfrm>
            <a:off x="6071616" y="1115568"/>
            <a:ext cx="2715768" cy="54864"/>
          </a:xfrm>
          <a:prstGeom prst="rect">
            <a:avLst/>
          </a:prstGeom>
          <a:solidFill>
            <a:srgbClr val="01404A"/>
          </a:solidFill>
          <a:ln w="12700">
            <a:solidFill>
              <a:srgbClr val="01404A"/>
            </a:solidFill>
            <a:prstDash val="solid"/>
          </a:ln>
        </p:spPr>
        <p:txBody>
          <a:bodyPr/>
          <a:lstStyle/>
          <a:p>
            <a:endParaRPr lang="en-US"/>
          </a:p>
        </p:txBody>
      </p:sp>
      <p:sp>
        <p:nvSpPr>
          <p:cNvPr id="22" name="Shape 18"/>
          <p:cNvSpPr/>
          <p:nvPr/>
        </p:nvSpPr>
        <p:spPr>
          <a:xfrm>
            <a:off x="7109460" y="1293032"/>
            <a:ext cx="640080" cy="640080"/>
          </a:xfrm>
          <a:prstGeom prst="ellipse">
            <a:avLst/>
          </a:prstGeom>
          <a:solidFill>
            <a:srgbClr val="01404A"/>
          </a:solidFill>
          <a:ln w="12700">
            <a:solidFill>
              <a:srgbClr val="01404A"/>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7155180" y="1338752"/>
            <a:ext cx="548640" cy="548640"/>
          </a:xfrm>
          <a:prstGeom prst="rect">
            <a:avLst/>
          </a:prstGeom>
        </p:spPr>
      </p:pic>
      <p:sp>
        <p:nvSpPr>
          <p:cNvPr id="24" name="Text 19"/>
          <p:cNvSpPr/>
          <p:nvPr/>
        </p:nvSpPr>
        <p:spPr>
          <a:xfrm>
            <a:off x="6117336" y="1938528"/>
            <a:ext cx="2624328" cy="320040"/>
          </a:xfrm>
          <a:prstGeom prst="rect">
            <a:avLst/>
          </a:prstGeom>
          <a:noFill/>
          <a:ln/>
        </p:spPr>
        <p:txBody>
          <a:bodyPr wrap="square" lIns="0" tIns="0" rIns="0" bIns="0" rtlCol="0" anchor="ctr"/>
          <a:lstStyle/>
          <a:p>
            <a:pPr marL="0" indent="0" algn="ctr">
              <a:buNone/>
            </a:pPr>
            <a:r>
              <a:rPr lang="en-US" sz="1200" b="1" dirty="0">
                <a:solidFill>
                  <a:srgbClr val="01404A"/>
                </a:solidFill>
                <a:latin typeface="Calibri" pitchFamily="34" charset="0"/>
                <a:ea typeface="Calibri" pitchFamily="34" charset="-122"/>
                <a:cs typeface="Calibri" pitchFamily="34" charset="-120"/>
              </a:rPr>
              <a:t>Large Enterprise</a:t>
            </a:r>
            <a:endParaRPr lang="en-US" sz="1200" dirty="0"/>
          </a:p>
        </p:txBody>
      </p:sp>
      <p:sp>
        <p:nvSpPr>
          <p:cNvPr id="25" name="Text 20"/>
          <p:cNvSpPr/>
          <p:nvPr/>
        </p:nvSpPr>
        <p:spPr>
          <a:xfrm>
            <a:off x="6181344" y="2304288"/>
            <a:ext cx="2514600" cy="100584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Treats payment acquisition and management as a formal business process. Uses RFPs, competitive bidding, and has dedicated payments staff.</a:t>
            </a:r>
            <a:endParaRPr lang="en-US" sz="1050" dirty="0"/>
          </a:p>
        </p:txBody>
      </p:sp>
      <p:sp>
        <p:nvSpPr>
          <p:cNvPr id="26" name="Text 21"/>
          <p:cNvSpPr/>
          <p:nvPr/>
        </p:nvSpPr>
        <p:spPr>
          <a:xfrm>
            <a:off x="274320" y="3566160"/>
            <a:ext cx="8595360" cy="256032"/>
          </a:xfrm>
          <a:prstGeom prst="rect">
            <a:avLst/>
          </a:prstGeom>
          <a:noFill/>
          <a:ln/>
        </p:spPr>
        <p:txBody>
          <a:bodyPr wrap="square" lIns="0" tIns="0" rIns="0" bIns="0" rtlCol="0" anchor="ctr"/>
          <a:lstStyle/>
          <a:p>
            <a:pPr marL="0" indent="0">
              <a:buNone/>
            </a:pPr>
            <a:r>
              <a:rPr lang="en-US" sz="1100" b="1" dirty="0">
                <a:solidFill>
                  <a:srgbClr val="01404A"/>
                </a:solidFill>
                <a:latin typeface="Calibri" pitchFamily="34" charset="0"/>
                <a:ea typeface="Calibri" pitchFamily="34" charset="-122"/>
                <a:cs typeface="Calibri" pitchFamily="34" charset="-120"/>
              </a:rPr>
              <a:t>Universal enterprise payments requirements:</a:t>
            </a:r>
            <a:endParaRPr lang="en-US" sz="1100" dirty="0"/>
          </a:p>
        </p:txBody>
      </p:sp>
      <p:sp>
        <p:nvSpPr>
          <p:cNvPr id="27" name="Shape 22"/>
          <p:cNvSpPr/>
          <p:nvPr/>
        </p:nvSpPr>
        <p:spPr>
          <a:xfrm>
            <a:off x="274320" y="3858768"/>
            <a:ext cx="1993392" cy="96012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28" name="Shape 23"/>
          <p:cNvSpPr/>
          <p:nvPr/>
        </p:nvSpPr>
        <p:spPr>
          <a:xfrm>
            <a:off x="274320" y="3858768"/>
            <a:ext cx="73152" cy="960120"/>
          </a:xfrm>
          <a:prstGeom prst="rect">
            <a:avLst/>
          </a:prstGeom>
          <a:solidFill>
            <a:srgbClr val="028090"/>
          </a:solidFill>
          <a:ln w="12700">
            <a:solidFill>
              <a:srgbClr val="028090"/>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384048" y="3931920"/>
            <a:ext cx="320040" cy="320040"/>
          </a:xfrm>
          <a:prstGeom prst="rect">
            <a:avLst/>
          </a:prstGeom>
        </p:spPr>
      </p:pic>
      <p:sp>
        <p:nvSpPr>
          <p:cNvPr id="30" name="Text 24"/>
          <p:cNvSpPr/>
          <p:nvPr/>
        </p:nvSpPr>
        <p:spPr>
          <a:xfrm>
            <a:off x="658368" y="3895344"/>
            <a:ext cx="1481328" cy="256032"/>
          </a:xfrm>
          <a:prstGeom prst="rect">
            <a:avLst/>
          </a:prstGeom>
          <a:noFill/>
          <a:ln/>
        </p:spPr>
        <p:txBody>
          <a:bodyPr wrap="square" lIns="0" tIns="0" rIns="0" bIns="0" rtlCol="0" anchor="ctr"/>
          <a:lstStyle/>
          <a:p>
            <a:pPr marL="0" indent="0">
              <a:buNone/>
            </a:pPr>
            <a:r>
              <a:rPr lang="en-US" sz="1050" b="1" dirty="0">
                <a:solidFill>
                  <a:srgbClr val="01404A"/>
                </a:solidFill>
                <a:latin typeface="Calibri" pitchFamily="34" charset="0"/>
                <a:ea typeface="Calibri" pitchFamily="34" charset="-122"/>
                <a:cs typeface="Calibri" pitchFamily="34" charset="-120"/>
              </a:rPr>
              <a:t>Control Cash Flow</a:t>
            </a:r>
            <a:endParaRPr lang="en-US" sz="1050" dirty="0"/>
          </a:p>
        </p:txBody>
      </p:sp>
      <p:sp>
        <p:nvSpPr>
          <p:cNvPr id="31" name="Text 25"/>
          <p:cNvSpPr/>
          <p:nvPr/>
        </p:nvSpPr>
        <p:spPr>
          <a:xfrm>
            <a:off x="658368" y="4151376"/>
            <a:ext cx="1481328" cy="59436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All enterprises must forecast and manage cash inflows and outflows to ensure ongoing solvency.</a:t>
            </a:r>
            <a:endParaRPr lang="en-US" sz="950" dirty="0"/>
          </a:p>
        </p:txBody>
      </p:sp>
      <p:sp>
        <p:nvSpPr>
          <p:cNvPr id="32" name="Shape 26"/>
          <p:cNvSpPr/>
          <p:nvPr/>
        </p:nvSpPr>
        <p:spPr>
          <a:xfrm>
            <a:off x="2450592" y="3858768"/>
            <a:ext cx="1993392" cy="96012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33" name="Shape 27"/>
          <p:cNvSpPr/>
          <p:nvPr/>
        </p:nvSpPr>
        <p:spPr>
          <a:xfrm>
            <a:off x="2450592" y="3858768"/>
            <a:ext cx="73152" cy="960120"/>
          </a:xfrm>
          <a:prstGeom prst="rect">
            <a:avLst/>
          </a:prstGeom>
          <a:solidFill>
            <a:srgbClr val="D4860A"/>
          </a:solidFill>
          <a:ln w="12700">
            <a:solidFill>
              <a:srgbClr val="D4860A"/>
            </a:solidFill>
            <a:prstDash val="solid"/>
          </a:ln>
        </p:spPr>
        <p:txBody>
          <a:bodyPr/>
          <a:lstStyle/>
          <a:p>
            <a:endParaRPr lang="en-US"/>
          </a:p>
        </p:txBody>
      </p:sp>
      <p:pic>
        <p:nvPicPr>
          <p:cNvPr id="34" name="Image 4" descr="preencoded.png"/>
          <p:cNvPicPr>
            <a:picLocks noChangeAspect="1"/>
          </p:cNvPicPr>
          <p:nvPr/>
        </p:nvPicPr>
        <p:blipFill>
          <a:blip r:embed="rId7"/>
          <a:stretch>
            <a:fillRect/>
          </a:stretch>
        </p:blipFill>
        <p:spPr>
          <a:xfrm>
            <a:off x="2560320" y="3931920"/>
            <a:ext cx="320040" cy="320040"/>
          </a:xfrm>
          <a:prstGeom prst="rect">
            <a:avLst/>
          </a:prstGeom>
        </p:spPr>
      </p:pic>
      <p:sp>
        <p:nvSpPr>
          <p:cNvPr id="35" name="Text 28"/>
          <p:cNvSpPr/>
          <p:nvPr/>
        </p:nvSpPr>
        <p:spPr>
          <a:xfrm>
            <a:off x="2898648" y="3903133"/>
            <a:ext cx="1481328" cy="256032"/>
          </a:xfrm>
          <a:prstGeom prst="rect">
            <a:avLst/>
          </a:prstGeom>
          <a:noFill/>
          <a:ln/>
        </p:spPr>
        <p:txBody>
          <a:bodyPr wrap="square" lIns="0" tIns="0" rIns="0" bIns="0" rtlCol="0" anchor="ctr"/>
          <a:lstStyle/>
          <a:p>
            <a:pPr marL="0" indent="0">
              <a:buNone/>
            </a:pPr>
            <a:r>
              <a:rPr lang="en-US" sz="1050" b="1" dirty="0">
                <a:solidFill>
                  <a:srgbClr val="01404A"/>
                </a:solidFill>
                <a:latin typeface="Calibri" pitchFamily="34" charset="0"/>
                <a:ea typeface="Calibri" pitchFamily="34" charset="-122"/>
                <a:cs typeface="Calibri" pitchFamily="34" charset="-120"/>
              </a:rPr>
              <a:t>Manage Fraud Risk</a:t>
            </a:r>
            <a:endParaRPr lang="en-US" sz="1050" dirty="0"/>
          </a:p>
        </p:txBody>
      </p:sp>
      <p:sp>
        <p:nvSpPr>
          <p:cNvPr id="36" name="Text 29"/>
          <p:cNvSpPr/>
          <p:nvPr/>
        </p:nvSpPr>
        <p:spPr>
          <a:xfrm>
            <a:off x="2898648" y="4159165"/>
            <a:ext cx="1481328" cy="59436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Cheque fraud, ACH fraud, and card fraud each require their own risk management processes and controls.</a:t>
            </a:r>
            <a:endParaRPr lang="en-US" sz="950" dirty="0"/>
          </a:p>
        </p:txBody>
      </p:sp>
      <p:sp>
        <p:nvSpPr>
          <p:cNvPr id="37" name="Shape 30"/>
          <p:cNvSpPr/>
          <p:nvPr/>
        </p:nvSpPr>
        <p:spPr>
          <a:xfrm>
            <a:off x="4626864" y="3858768"/>
            <a:ext cx="1993392" cy="96012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38" name="Shape 31"/>
          <p:cNvSpPr/>
          <p:nvPr/>
        </p:nvSpPr>
        <p:spPr>
          <a:xfrm>
            <a:off x="4626864" y="3858768"/>
            <a:ext cx="73152" cy="960120"/>
          </a:xfrm>
          <a:prstGeom prst="rect">
            <a:avLst/>
          </a:prstGeom>
          <a:solidFill>
            <a:srgbClr val="1E7145"/>
          </a:solidFill>
          <a:ln w="12700">
            <a:solidFill>
              <a:srgbClr val="1E7145"/>
            </a:solidFill>
            <a:prstDash val="solid"/>
          </a:ln>
        </p:spPr>
        <p:txBody>
          <a:bodyPr/>
          <a:lstStyle/>
          <a:p>
            <a:endParaRPr lang="en-US"/>
          </a:p>
        </p:txBody>
      </p:sp>
      <p:pic>
        <p:nvPicPr>
          <p:cNvPr id="39" name="Image 5" descr="preencoded.png"/>
          <p:cNvPicPr>
            <a:picLocks noChangeAspect="1"/>
          </p:cNvPicPr>
          <p:nvPr/>
        </p:nvPicPr>
        <p:blipFill>
          <a:blip r:embed="rId8"/>
          <a:stretch>
            <a:fillRect/>
          </a:stretch>
        </p:blipFill>
        <p:spPr>
          <a:xfrm>
            <a:off x="4736592" y="3931920"/>
            <a:ext cx="320040" cy="320040"/>
          </a:xfrm>
          <a:prstGeom prst="rect">
            <a:avLst/>
          </a:prstGeom>
        </p:spPr>
      </p:pic>
      <p:sp>
        <p:nvSpPr>
          <p:cNvPr id="40" name="Text 32"/>
          <p:cNvSpPr/>
          <p:nvPr/>
        </p:nvSpPr>
        <p:spPr>
          <a:xfrm>
            <a:off x="5093208" y="3895344"/>
            <a:ext cx="1481328" cy="256032"/>
          </a:xfrm>
          <a:prstGeom prst="rect">
            <a:avLst/>
          </a:prstGeom>
          <a:noFill/>
          <a:ln/>
        </p:spPr>
        <p:txBody>
          <a:bodyPr wrap="square" lIns="0" tIns="0" rIns="0" bIns="0" rtlCol="0" anchor="ctr"/>
          <a:lstStyle/>
          <a:p>
            <a:pPr marL="0" indent="0">
              <a:buNone/>
            </a:pPr>
            <a:r>
              <a:rPr lang="en-US" sz="1050" b="1" dirty="0">
                <a:solidFill>
                  <a:srgbClr val="01404A"/>
                </a:solidFill>
                <a:latin typeface="Calibri" pitchFamily="34" charset="0"/>
                <a:ea typeface="Calibri" pitchFamily="34" charset="-122"/>
                <a:cs typeface="Calibri" pitchFamily="34" charset="-120"/>
              </a:rPr>
              <a:t>Maximise Efficiency</a:t>
            </a:r>
            <a:endParaRPr lang="en-US" sz="1050" dirty="0"/>
          </a:p>
        </p:txBody>
      </p:sp>
      <p:sp>
        <p:nvSpPr>
          <p:cNvPr id="41" name="Text 33"/>
          <p:cNvSpPr/>
          <p:nvPr/>
        </p:nvSpPr>
        <p:spPr>
          <a:xfrm>
            <a:off x="5093208" y="4151376"/>
            <a:ext cx="1481328" cy="59436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Minimise fees paid to banks and third parties. Ensure accelerated access to good funds received.</a:t>
            </a:r>
            <a:endParaRPr lang="en-US" sz="950" dirty="0"/>
          </a:p>
        </p:txBody>
      </p:sp>
      <p:sp>
        <p:nvSpPr>
          <p:cNvPr id="42" name="Shape 34"/>
          <p:cNvSpPr/>
          <p:nvPr/>
        </p:nvSpPr>
        <p:spPr>
          <a:xfrm>
            <a:off x="6803136" y="3858768"/>
            <a:ext cx="1993392" cy="960120"/>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43" name="Shape 35"/>
          <p:cNvSpPr/>
          <p:nvPr/>
        </p:nvSpPr>
        <p:spPr>
          <a:xfrm>
            <a:off x="6803136" y="3858768"/>
            <a:ext cx="73152" cy="960120"/>
          </a:xfrm>
          <a:prstGeom prst="rect">
            <a:avLst/>
          </a:prstGeom>
          <a:solidFill>
            <a:srgbClr val="4AADBC"/>
          </a:solidFill>
          <a:ln w="12700">
            <a:solidFill>
              <a:srgbClr val="4AADBC"/>
            </a:solidFill>
            <a:prstDash val="solid"/>
          </a:ln>
        </p:spPr>
        <p:txBody>
          <a:bodyPr/>
          <a:lstStyle/>
          <a:p>
            <a:endParaRPr lang="en-US"/>
          </a:p>
        </p:txBody>
      </p:sp>
      <p:pic>
        <p:nvPicPr>
          <p:cNvPr id="44" name="Image 6" descr="preencoded.png"/>
          <p:cNvPicPr>
            <a:picLocks noChangeAspect="1"/>
          </p:cNvPicPr>
          <p:nvPr/>
        </p:nvPicPr>
        <p:blipFill>
          <a:blip r:embed="rId9"/>
          <a:stretch>
            <a:fillRect/>
          </a:stretch>
        </p:blipFill>
        <p:spPr>
          <a:xfrm>
            <a:off x="6912864" y="3931920"/>
            <a:ext cx="320040" cy="320040"/>
          </a:xfrm>
          <a:prstGeom prst="rect">
            <a:avLst/>
          </a:prstGeom>
        </p:spPr>
      </p:pic>
      <p:sp>
        <p:nvSpPr>
          <p:cNvPr id="45" name="Text 36"/>
          <p:cNvSpPr/>
          <p:nvPr/>
        </p:nvSpPr>
        <p:spPr>
          <a:xfrm>
            <a:off x="7288445" y="3895344"/>
            <a:ext cx="1481328" cy="256032"/>
          </a:xfrm>
          <a:prstGeom prst="rect">
            <a:avLst/>
          </a:prstGeom>
          <a:noFill/>
          <a:ln/>
        </p:spPr>
        <p:txBody>
          <a:bodyPr wrap="square" lIns="0" tIns="0" rIns="0" bIns="0" rtlCol="0" anchor="ctr"/>
          <a:lstStyle/>
          <a:p>
            <a:pPr marL="0" indent="0">
              <a:buNone/>
            </a:pPr>
            <a:r>
              <a:rPr lang="en-US" sz="1050" b="1" dirty="0">
                <a:solidFill>
                  <a:srgbClr val="01404A"/>
                </a:solidFill>
                <a:latin typeface="Calibri" pitchFamily="34" charset="0"/>
                <a:ea typeface="Calibri" pitchFamily="34" charset="-122"/>
                <a:cs typeface="Calibri" pitchFamily="34" charset="-120"/>
              </a:rPr>
              <a:t>Integrate Systems</a:t>
            </a:r>
            <a:endParaRPr lang="en-US" sz="1050" dirty="0"/>
          </a:p>
        </p:txBody>
      </p:sp>
      <p:sp>
        <p:nvSpPr>
          <p:cNvPr id="46" name="Text 37"/>
          <p:cNvSpPr/>
          <p:nvPr/>
        </p:nvSpPr>
        <p:spPr>
          <a:xfrm>
            <a:off x="7251192" y="4151376"/>
            <a:ext cx="1545336" cy="594360"/>
          </a:xfrm>
          <a:prstGeom prst="rect">
            <a:avLst/>
          </a:prstGeom>
          <a:noFill/>
          <a:ln/>
        </p:spPr>
        <p:txBody>
          <a:bodyPr wrap="square" lIns="0" tIns="0" rIns="0" bIns="0" rtlCol="0" anchor="ctr"/>
          <a:lstStyle/>
          <a:p>
            <a:pPr marL="0" indent="0">
              <a:buNone/>
            </a:pPr>
            <a:r>
              <a:rPr lang="en-US" sz="950" dirty="0">
                <a:solidFill>
                  <a:srgbClr val="4A5568"/>
                </a:solidFill>
                <a:latin typeface="Calibri" pitchFamily="34" charset="0"/>
                <a:ea typeface="Calibri" pitchFamily="34" charset="-122"/>
                <a:cs typeface="Calibri" pitchFamily="34" charset="-120"/>
              </a:rPr>
              <a:t>Payment's data must integrate with ERP and accounting systems — more complex as the enterprise grows.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Shifting Risks for Enterprises</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Changing payment types bring new risk challenges — controls do not transfer automatically</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Shape 6"/>
          <p:cNvSpPr/>
          <p:nvPr/>
        </p:nvSpPr>
        <p:spPr>
          <a:xfrm>
            <a:off x="274320" y="1115568"/>
            <a:ext cx="4206240" cy="1627632"/>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9" name="Shape 7"/>
          <p:cNvSpPr/>
          <p:nvPr/>
        </p:nvSpPr>
        <p:spPr>
          <a:xfrm>
            <a:off x="274320" y="1115568"/>
            <a:ext cx="109728" cy="1627632"/>
          </a:xfrm>
          <a:prstGeom prst="rect">
            <a:avLst/>
          </a:prstGeom>
          <a:solidFill>
            <a:srgbClr val="4A5568"/>
          </a:solidFill>
          <a:ln w="12700">
            <a:solidFill>
              <a:srgbClr val="4A5568"/>
            </a:solidFill>
            <a:prstDash val="solid"/>
          </a:ln>
        </p:spPr>
        <p:txBody>
          <a:bodyPr/>
          <a:lstStyle/>
          <a:p>
            <a:endParaRPr lang="en-US"/>
          </a:p>
        </p:txBody>
      </p:sp>
      <p:sp>
        <p:nvSpPr>
          <p:cNvPr id="10" name="Text 8"/>
          <p:cNvSpPr/>
          <p:nvPr/>
        </p:nvSpPr>
        <p:spPr>
          <a:xfrm>
            <a:off x="274320" y="1152144"/>
            <a:ext cx="109728"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1" name="Text 9"/>
          <p:cNvSpPr/>
          <p:nvPr/>
        </p:nvSpPr>
        <p:spPr>
          <a:xfrm>
            <a:off x="502920" y="1152144"/>
            <a:ext cx="3611880" cy="292608"/>
          </a:xfrm>
          <a:prstGeom prst="rect">
            <a:avLst/>
          </a:prstGeom>
          <a:noFill/>
          <a:ln/>
        </p:spPr>
        <p:txBody>
          <a:bodyPr wrap="square" lIns="0" tIns="0" rIns="0" bIns="0" rtlCol="0" anchor="ctr"/>
          <a:lstStyle/>
          <a:p>
            <a:pPr marL="0" indent="0">
              <a:buNone/>
            </a:pPr>
            <a:r>
              <a:rPr lang="en-US" sz="1200" b="1" dirty="0">
                <a:solidFill>
                  <a:srgbClr val="01404A"/>
                </a:solidFill>
                <a:latin typeface="Calibri" pitchFamily="34" charset="0"/>
                <a:ea typeface="Calibri" pitchFamily="34" charset="-122"/>
                <a:cs typeface="Calibri" pitchFamily="34" charset="-120"/>
              </a:rPr>
              <a:t>Cheque Fraud Controls</a:t>
            </a:r>
            <a:endParaRPr lang="en-US" sz="1200" dirty="0"/>
          </a:p>
        </p:txBody>
      </p:sp>
      <p:sp>
        <p:nvSpPr>
          <p:cNvPr id="12" name="Text 10"/>
          <p:cNvSpPr/>
          <p:nvPr/>
        </p:nvSpPr>
        <p:spPr>
          <a:xfrm>
            <a:off x="502920" y="1444752"/>
            <a:ext cx="3611880" cy="1170432"/>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Enterprises historically built strong controls around cheque fraud — positive pay systems, strict matching of cheques against issued lists. These controls work well for cheques. They do not transfer to ACH or card transactions, which require entirely different risk management approaches.</a:t>
            </a:r>
            <a:endParaRPr lang="en-US" sz="1000" dirty="0"/>
          </a:p>
        </p:txBody>
      </p:sp>
      <p:sp>
        <p:nvSpPr>
          <p:cNvPr id="13" name="Shape 11"/>
          <p:cNvSpPr/>
          <p:nvPr/>
        </p:nvSpPr>
        <p:spPr>
          <a:xfrm>
            <a:off x="4709160" y="1115568"/>
            <a:ext cx="4206240" cy="1627632"/>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4" name="Shape 12"/>
          <p:cNvSpPr/>
          <p:nvPr/>
        </p:nvSpPr>
        <p:spPr>
          <a:xfrm>
            <a:off x="4709160" y="1115568"/>
            <a:ext cx="109728" cy="1627632"/>
          </a:xfrm>
          <a:prstGeom prst="rect">
            <a:avLst/>
          </a:prstGeom>
          <a:solidFill>
            <a:srgbClr val="028090"/>
          </a:solidFill>
          <a:ln w="12700">
            <a:solidFill>
              <a:srgbClr val="028090"/>
            </a:solidFill>
            <a:prstDash val="solid"/>
          </a:ln>
        </p:spPr>
        <p:txBody>
          <a:bodyPr/>
          <a:lstStyle/>
          <a:p>
            <a:endParaRPr lang="en-US"/>
          </a:p>
        </p:txBody>
      </p:sp>
      <p:sp>
        <p:nvSpPr>
          <p:cNvPr id="15" name="Text 13"/>
          <p:cNvSpPr/>
          <p:nvPr/>
        </p:nvSpPr>
        <p:spPr>
          <a:xfrm>
            <a:off x="4709160" y="1152144"/>
            <a:ext cx="109728"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4937760" y="1152144"/>
            <a:ext cx="3611880" cy="292608"/>
          </a:xfrm>
          <a:prstGeom prst="rect">
            <a:avLst/>
          </a:prstGeom>
          <a:noFill/>
          <a:ln/>
        </p:spPr>
        <p:txBody>
          <a:bodyPr wrap="square" lIns="0" tIns="0" rIns="0" bIns="0" rtlCol="0" anchor="ctr"/>
          <a:lstStyle/>
          <a:p>
            <a:pPr marL="0" indent="0">
              <a:buNone/>
            </a:pPr>
            <a:r>
              <a:rPr lang="en-US" sz="1200" b="1" dirty="0">
                <a:solidFill>
                  <a:srgbClr val="01404A"/>
                </a:solidFill>
                <a:latin typeface="Calibri" pitchFamily="34" charset="0"/>
                <a:ea typeface="Calibri" pitchFamily="34" charset="-122"/>
                <a:cs typeface="Calibri" pitchFamily="34" charset="-120"/>
              </a:rPr>
              <a:t>ACH Risk</a:t>
            </a:r>
            <a:endParaRPr lang="en-US" sz="1200" dirty="0"/>
          </a:p>
        </p:txBody>
      </p:sp>
      <p:sp>
        <p:nvSpPr>
          <p:cNvPr id="17" name="Text 15"/>
          <p:cNvSpPr/>
          <p:nvPr/>
        </p:nvSpPr>
        <p:spPr>
          <a:xfrm>
            <a:off x="4937760" y="1444752"/>
            <a:ext cx="3611880" cy="1170432"/>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When enterprises shift payments from cheques to ACH, the cheque fraud controls no longer apply. ACH carries its own credit risk and fraud risk. Some federal regulations and ACH network rules protect consumers but do not afford equivalent protections to businesses.</a:t>
            </a:r>
            <a:endParaRPr lang="en-US" sz="1000" dirty="0"/>
          </a:p>
        </p:txBody>
      </p:sp>
      <p:sp>
        <p:nvSpPr>
          <p:cNvPr id="18" name="Shape 16"/>
          <p:cNvSpPr/>
          <p:nvPr/>
        </p:nvSpPr>
        <p:spPr>
          <a:xfrm>
            <a:off x="274320" y="2926080"/>
            <a:ext cx="4206240" cy="1527048"/>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19" name="Shape 17"/>
          <p:cNvSpPr/>
          <p:nvPr/>
        </p:nvSpPr>
        <p:spPr>
          <a:xfrm>
            <a:off x="274320" y="2926080"/>
            <a:ext cx="109728" cy="1527048"/>
          </a:xfrm>
          <a:prstGeom prst="rect">
            <a:avLst/>
          </a:prstGeom>
          <a:solidFill>
            <a:srgbClr val="D4860A"/>
          </a:solidFill>
          <a:ln w="12700">
            <a:solidFill>
              <a:srgbClr val="D4860A"/>
            </a:solidFill>
            <a:prstDash val="solid"/>
          </a:ln>
        </p:spPr>
        <p:txBody>
          <a:bodyPr/>
          <a:lstStyle/>
          <a:p>
            <a:endParaRPr lang="en-US"/>
          </a:p>
        </p:txBody>
      </p:sp>
      <p:sp>
        <p:nvSpPr>
          <p:cNvPr id="20" name="Text 18"/>
          <p:cNvSpPr/>
          <p:nvPr/>
        </p:nvSpPr>
        <p:spPr>
          <a:xfrm>
            <a:off x="274320" y="2962656"/>
            <a:ext cx="109728"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1" name="Text 19"/>
          <p:cNvSpPr/>
          <p:nvPr/>
        </p:nvSpPr>
        <p:spPr>
          <a:xfrm>
            <a:off x="502920" y="2962656"/>
            <a:ext cx="3611880" cy="292608"/>
          </a:xfrm>
          <a:prstGeom prst="rect">
            <a:avLst/>
          </a:prstGeom>
          <a:noFill/>
          <a:ln/>
        </p:spPr>
        <p:txBody>
          <a:bodyPr wrap="square" lIns="0" tIns="0" rIns="0" bIns="0" rtlCol="0" anchor="ctr"/>
          <a:lstStyle/>
          <a:p>
            <a:pPr marL="0" indent="0">
              <a:buNone/>
            </a:pPr>
            <a:r>
              <a:rPr lang="en-US" sz="1200" b="1" dirty="0">
                <a:solidFill>
                  <a:srgbClr val="01404A"/>
                </a:solidFill>
                <a:latin typeface="Calibri" pitchFamily="34" charset="0"/>
                <a:ea typeface="Calibri" pitchFamily="34" charset="-122"/>
                <a:cs typeface="Calibri" pitchFamily="34" charset="-120"/>
              </a:rPr>
              <a:t>Card Risk</a:t>
            </a:r>
            <a:endParaRPr lang="en-US" sz="1200" dirty="0"/>
          </a:p>
        </p:txBody>
      </p:sp>
      <p:sp>
        <p:nvSpPr>
          <p:cNvPr id="22" name="Text 20"/>
          <p:cNvSpPr/>
          <p:nvPr/>
        </p:nvSpPr>
        <p:spPr>
          <a:xfrm>
            <a:off x="502920" y="3255264"/>
            <a:ext cx="3611880" cy="1170432"/>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Card payments introduce yet another risk framework. Network rules, chargeback exposure, and PCI compliance requirements all apply. Each time an enterprise changes its mix of payment methods, it must reassess its entire risk management framework from scratch.</a:t>
            </a:r>
            <a:endParaRPr lang="en-US" sz="1000" dirty="0"/>
          </a:p>
        </p:txBody>
      </p:sp>
      <p:sp>
        <p:nvSpPr>
          <p:cNvPr id="23" name="Shape 21"/>
          <p:cNvSpPr/>
          <p:nvPr/>
        </p:nvSpPr>
        <p:spPr>
          <a:xfrm>
            <a:off x="4709160" y="2926080"/>
            <a:ext cx="4206240" cy="1527048"/>
          </a:xfrm>
          <a:prstGeom prst="rect">
            <a:avLst/>
          </a:prstGeom>
          <a:solidFill>
            <a:srgbClr val="FFFFFF"/>
          </a:solidFill>
          <a:ln w="12700">
            <a:solidFill>
              <a:srgbClr val="B2DDE6"/>
            </a:solidFill>
            <a:prstDash val="solid"/>
          </a:ln>
          <a:effectLst>
            <a:outerShdw blurRad="101600" dist="38100" dir="8100000" algn="bl" rotWithShape="0">
              <a:srgbClr val="000000">
                <a:alpha val="13000"/>
              </a:srgbClr>
            </a:outerShdw>
          </a:effectLst>
        </p:spPr>
        <p:txBody>
          <a:bodyPr/>
          <a:lstStyle/>
          <a:p>
            <a:endParaRPr lang="en-US"/>
          </a:p>
        </p:txBody>
      </p:sp>
      <p:sp>
        <p:nvSpPr>
          <p:cNvPr id="24" name="Shape 22"/>
          <p:cNvSpPr/>
          <p:nvPr/>
        </p:nvSpPr>
        <p:spPr>
          <a:xfrm>
            <a:off x="4709160" y="2926080"/>
            <a:ext cx="109728" cy="1527048"/>
          </a:xfrm>
          <a:prstGeom prst="rect">
            <a:avLst/>
          </a:prstGeom>
          <a:solidFill>
            <a:srgbClr val="1E7145"/>
          </a:solidFill>
          <a:ln w="12700">
            <a:solidFill>
              <a:srgbClr val="1E7145"/>
            </a:solidFill>
            <a:prstDash val="solid"/>
          </a:ln>
        </p:spPr>
        <p:txBody>
          <a:bodyPr/>
          <a:lstStyle/>
          <a:p>
            <a:endParaRPr lang="en-US"/>
          </a:p>
        </p:txBody>
      </p:sp>
      <p:sp>
        <p:nvSpPr>
          <p:cNvPr id="25" name="Text 23"/>
          <p:cNvSpPr/>
          <p:nvPr/>
        </p:nvSpPr>
        <p:spPr>
          <a:xfrm>
            <a:off x="4709160" y="2962656"/>
            <a:ext cx="109728"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6" name="Text 24"/>
          <p:cNvSpPr/>
          <p:nvPr/>
        </p:nvSpPr>
        <p:spPr>
          <a:xfrm>
            <a:off x="4937760" y="2962656"/>
            <a:ext cx="3611880" cy="292608"/>
          </a:xfrm>
          <a:prstGeom prst="rect">
            <a:avLst/>
          </a:prstGeom>
          <a:noFill/>
          <a:ln/>
        </p:spPr>
        <p:txBody>
          <a:bodyPr wrap="square" lIns="0" tIns="0" rIns="0" bIns="0" rtlCol="0" anchor="ctr"/>
          <a:lstStyle/>
          <a:p>
            <a:pPr marL="0" indent="0">
              <a:buNone/>
            </a:pPr>
            <a:r>
              <a:rPr lang="en-US" sz="1200" b="1" dirty="0">
                <a:solidFill>
                  <a:srgbClr val="01404A"/>
                </a:solidFill>
                <a:latin typeface="Calibri" pitchFamily="34" charset="0"/>
                <a:ea typeface="Calibri" pitchFamily="34" charset="-122"/>
                <a:cs typeface="Calibri" pitchFamily="34" charset="-120"/>
              </a:rPr>
              <a:t>Check Persistence</a:t>
            </a:r>
            <a:endParaRPr lang="en-US" sz="1200" dirty="0"/>
          </a:p>
        </p:txBody>
      </p:sp>
      <p:sp>
        <p:nvSpPr>
          <p:cNvPr id="27" name="Text 25"/>
          <p:cNvSpPr/>
          <p:nvPr/>
        </p:nvSpPr>
        <p:spPr>
          <a:xfrm>
            <a:off x="4937760" y="3255264"/>
            <a:ext cx="3611880" cy="1170432"/>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Despite years of forecasts predicting their decline, checks remain dominant in enterprise-to-enterprise payments — over 70% of large enterprise payments are still made by cheque. This stubbornly persistent number reflects both habit and the genuine operational complexity of moving to alternatives.</a:t>
            </a:r>
            <a:endParaRPr lang="en-US" sz="1000" dirty="0"/>
          </a:p>
        </p:txBody>
      </p:sp>
      <p:sp>
        <p:nvSpPr>
          <p:cNvPr id="28" name="Shape 26"/>
          <p:cNvSpPr/>
          <p:nvPr/>
        </p:nvSpPr>
        <p:spPr>
          <a:xfrm>
            <a:off x="274320" y="4549984"/>
            <a:ext cx="8595360" cy="365760"/>
          </a:xfrm>
          <a:prstGeom prst="rect">
            <a:avLst/>
          </a:prstGeom>
          <a:solidFill>
            <a:srgbClr val="EBF4F6"/>
          </a:solidFill>
          <a:ln w="12700">
            <a:solidFill>
              <a:srgbClr val="B2DDE6"/>
            </a:solidFill>
            <a:prstDash val="solid"/>
          </a:ln>
        </p:spPr>
        <p:txBody>
          <a:bodyPr/>
          <a:lstStyle/>
          <a:p>
            <a:endParaRPr lang="en-US"/>
          </a:p>
        </p:txBody>
      </p:sp>
      <p:sp>
        <p:nvSpPr>
          <p:cNvPr id="29" name="Text 27"/>
          <p:cNvSpPr/>
          <p:nvPr/>
        </p:nvSpPr>
        <p:spPr>
          <a:xfrm>
            <a:off x="384048" y="4632280"/>
            <a:ext cx="8412480" cy="182880"/>
          </a:xfrm>
          <a:prstGeom prst="rect">
            <a:avLst/>
          </a:prstGeom>
          <a:noFill/>
          <a:ln/>
        </p:spPr>
        <p:txBody>
          <a:bodyPr wrap="square" lIns="0" tIns="0" rIns="0" bIns="0" rtlCol="0" anchor="ctr"/>
          <a:lstStyle/>
          <a:p>
            <a:pPr marL="0" indent="0">
              <a:buNone/>
            </a:pPr>
            <a:r>
              <a:rPr lang="en-US" sz="1000" b="1" i="1" dirty="0">
                <a:solidFill>
                  <a:srgbClr val="01404A"/>
                </a:solidFill>
                <a:latin typeface="Calibri" pitchFamily="34" charset="0"/>
                <a:ea typeface="Calibri" pitchFamily="34" charset="-122"/>
                <a:cs typeface="Calibri" pitchFamily="34" charset="-120"/>
              </a:rPr>
              <a:t>Takeaway: Moving to a new payment type does not inherit the protections of the old one. Each payment method requires its own dedicated risk management process.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860A"/>
          </a:solidFill>
          <a:ln w="12700">
            <a:solidFill>
              <a:srgbClr val="D4860A"/>
            </a:solidFill>
            <a:prstDash val="solid"/>
          </a:ln>
        </p:spPr>
        <p:txBody>
          <a:bodyPr/>
          <a:lstStyle/>
          <a:p>
            <a:endParaRPr lang="en-US"/>
          </a:p>
        </p:txBody>
      </p:sp>
      <p:sp>
        <p:nvSpPr>
          <p:cNvPr id="3" name="Text 1"/>
          <p:cNvSpPr/>
          <p:nvPr/>
        </p:nvSpPr>
        <p:spPr>
          <a:xfrm>
            <a:off x="411480" y="137160"/>
            <a:ext cx="8321040" cy="502920"/>
          </a:xfrm>
          <a:prstGeom prst="rect">
            <a:avLst/>
          </a:prstGeom>
          <a:noFill/>
          <a:ln/>
        </p:spPr>
        <p:txBody>
          <a:bodyPr wrap="square" lIns="0" tIns="0" rIns="0" bIns="0" rtlCol="0" anchor="ctr"/>
          <a:lstStyle/>
          <a:p>
            <a:pPr marL="0" indent="0">
              <a:buNone/>
            </a:pPr>
            <a:r>
              <a:rPr lang="en-US" sz="2600" b="1" dirty="0">
                <a:solidFill>
                  <a:srgbClr val="01404A"/>
                </a:solidFill>
                <a:latin typeface="Calibri" pitchFamily="34" charset="0"/>
                <a:ea typeface="Calibri" pitchFamily="34" charset="-122"/>
                <a:cs typeface="Calibri" pitchFamily="34" charset="-120"/>
              </a:rPr>
              <a:t>Key Takeaways</a:t>
            </a:r>
            <a:endParaRPr lang="en-US" sz="2600" dirty="0"/>
          </a:p>
        </p:txBody>
      </p:sp>
      <p:sp>
        <p:nvSpPr>
          <p:cNvPr id="4" name="Text 2"/>
          <p:cNvSpPr/>
          <p:nvPr/>
        </p:nvSpPr>
        <p:spPr>
          <a:xfrm>
            <a:off x="411480" y="640080"/>
            <a:ext cx="8321040" cy="256032"/>
          </a:xfrm>
          <a:prstGeom prst="rect">
            <a:avLst/>
          </a:prstGeom>
          <a:noFill/>
          <a:ln/>
        </p:spPr>
        <p:txBody>
          <a:bodyPr wrap="square" lIns="0" tIns="0" rIns="0" bIns="0" rtlCol="0" anchor="ctr"/>
          <a:lstStyle/>
          <a:p>
            <a:pPr marL="0" indent="0">
              <a:buNone/>
            </a:pPr>
            <a:r>
              <a:rPr lang="en-US" sz="1300" i="1" dirty="0">
                <a:solidFill>
                  <a:srgbClr val="028090"/>
                </a:solidFill>
                <a:latin typeface="Calibri" pitchFamily="34" charset="0"/>
                <a:ea typeface="Calibri" pitchFamily="34" charset="-122"/>
                <a:cs typeface="Calibri" pitchFamily="34" charset="-120"/>
              </a:rPr>
              <a:t>What every team member should understand about system users</a:t>
            </a:r>
            <a:endParaRPr lang="en-US" sz="1300" dirty="0"/>
          </a:p>
        </p:txBody>
      </p:sp>
      <p:sp>
        <p:nvSpPr>
          <p:cNvPr id="5" name="Shape 3"/>
          <p:cNvSpPr/>
          <p:nvPr/>
        </p:nvSpPr>
        <p:spPr>
          <a:xfrm>
            <a:off x="411480" y="905256"/>
            <a:ext cx="8321040" cy="27432"/>
          </a:xfrm>
          <a:prstGeom prst="rect">
            <a:avLst/>
          </a:prstGeom>
          <a:solidFill>
            <a:srgbClr val="B2DDE6"/>
          </a:solidFill>
          <a:ln w="12700">
            <a:solidFill>
              <a:srgbClr val="B2DDE6"/>
            </a:solidFill>
            <a:prstDash val="solid"/>
          </a:ln>
        </p:spPr>
        <p:txBody>
          <a:bodyPr/>
          <a:lstStyle/>
          <a:p>
            <a:endParaRPr lang="en-US"/>
          </a:p>
        </p:txBody>
      </p:sp>
      <p:sp>
        <p:nvSpPr>
          <p:cNvPr id="6" name="Shape 4"/>
          <p:cNvSpPr/>
          <p:nvPr/>
        </p:nvSpPr>
        <p:spPr>
          <a:xfrm>
            <a:off x="0" y="4983480"/>
            <a:ext cx="9144000" cy="160020"/>
          </a:xfrm>
          <a:prstGeom prst="rect">
            <a:avLst/>
          </a:prstGeom>
          <a:solidFill>
            <a:srgbClr val="01404A"/>
          </a:solidFill>
          <a:ln w="12700">
            <a:solidFill>
              <a:srgbClr val="01404A"/>
            </a:solidFill>
            <a:prstDash val="solid"/>
          </a:ln>
        </p:spPr>
        <p:txBody>
          <a:bodyPr/>
          <a:lstStyle/>
          <a:p>
            <a:endParaRPr lang="en-US"/>
          </a:p>
        </p:txBody>
      </p:sp>
      <p:sp>
        <p:nvSpPr>
          <p:cNvPr id="7" name="Text 5"/>
          <p:cNvSpPr/>
          <p:nvPr/>
        </p:nvSpPr>
        <p:spPr>
          <a:xfrm>
            <a:off x="274320" y="4988052"/>
            <a:ext cx="6400800" cy="146304"/>
          </a:xfrm>
          <a:prstGeom prst="rect">
            <a:avLst/>
          </a:prstGeom>
          <a:noFill/>
          <a:ln/>
        </p:spPr>
        <p:txBody>
          <a:bodyPr wrap="square" lIns="0" tIns="0" rIns="0" bIns="0" rtlCol="0" anchor="ctr"/>
          <a:lstStyle/>
          <a:p>
            <a:pPr marL="0" indent="0">
              <a:buNone/>
            </a:pPr>
            <a:r>
              <a:rPr lang="en-US" sz="900" dirty="0">
                <a:solidFill>
                  <a:srgbClr val="B2DDE6"/>
                </a:solidFill>
                <a:latin typeface="Calibri" pitchFamily="34" charset="0"/>
                <a:ea typeface="Calibri" pitchFamily="34" charset="-122"/>
                <a:cs typeface="Calibri" pitchFamily="34" charset="-120"/>
              </a:rPr>
              <a:t>Perspectives on Payments: System Users</a:t>
            </a:r>
            <a:endParaRPr lang="en-US" sz="900" dirty="0"/>
          </a:p>
        </p:txBody>
      </p:sp>
      <p:sp>
        <p:nvSpPr>
          <p:cNvPr id="8" name="Shape 6"/>
          <p:cNvSpPr/>
          <p:nvPr/>
        </p:nvSpPr>
        <p:spPr>
          <a:xfrm>
            <a:off x="274320" y="1106264"/>
            <a:ext cx="329184" cy="329184"/>
          </a:xfrm>
          <a:prstGeom prst="ellipse">
            <a:avLst/>
          </a:prstGeom>
          <a:solidFill>
            <a:srgbClr val="028090"/>
          </a:solidFill>
          <a:ln w="12700">
            <a:solidFill>
              <a:srgbClr val="028090"/>
            </a:solidFill>
            <a:prstDash val="solid"/>
          </a:ln>
        </p:spPr>
        <p:txBody>
          <a:bodyPr/>
          <a:lstStyle/>
          <a:p>
            <a:endParaRPr lang="en-US"/>
          </a:p>
        </p:txBody>
      </p:sp>
      <p:sp>
        <p:nvSpPr>
          <p:cNvPr id="9" name="Text 7"/>
          <p:cNvSpPr/>
          <p:nvPr/>
        </p:nvSpPr>
        <p:spPr>
          <a:xfrm>
            <a:off x="274320" y="110626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713232" y="1051400"/>
            <a:ext cx="8156448" cy="438912"/>
          </a:xfrm>
          <a:prstGeom prst="rect">
            <a:avLst/>
          </a:prstGeom>
          <a:solidFill>
            <a:srgbClr val="FFFFFF"/>
          </a:solidFill>
          <a:ln w="9525">
            <a:solidFill>
              <a:srgbClr val="B2DDE6"/>
            </a:solidFill>
            <a:prstDash val="solid"/>
          </a:ln>
        </p:spPr>
        <p:txBody>
          <a:bodyPr/>
          <a:lstStyle/>
          <a:p>
            <a:endParaRPr lang="en-US"/>
          </a:p>
        </p:txBody>
      </p:sp>
      <p:sp>
        <p:nvSpPr>
          <p:cNvPr id="11" name="Text 9"/>
          <p:cNvSpPr/>
          <p:nvPr/>
        </p:nvSpPr>
        <p:spPr>
          <a:xfrm>
            <a:off x="841248" y="1115408"/>
            <a:ext cx="7909560" cy="310896"/>
          </a:xfrm>
          <a:prstGeom prst="rect">
            <a:avLst/>
          </a:prstGeom>
          <a:noFill/>
          <a:ln/>
        </p:spPr>
        <p:txBody>
          <a:bodyPr wrap="square" lIns="0" tIns="0" rIns="0" bIns="0" rtlCol="0" anchor="ctr"/>
          <a:lstStyle/>
          <a:p>
            <a:pPr marL="0" indent="0">
              <a:buNone/>
            </a:pPr>
            <a:r>
              <a:rPr lang="en-US" sz="1100" dirty="0">
                <a:solidFill>
                  <a:srgbClr val="01404A"/>
                </a:solidFill>
                <a:latin typeface="Calibri" pitchFamily="34" charset="0"/>
                <a:ea typeface="Calibri" pitchFamily="34" charset="-122"/>
                <a:cs typeface="Calibri" pitchFamily="34" charset="-120"/>
              </a:rPr>
              <a:t>Four types of system users shape the payments industry: Consumers, Merchants, Billers, and Enterprises — each with different goals and pressures.</a:t>
            </a:r>
            <a:endParaRPr lang="en-US" sz="1100" dirty="0"/>
          </a:p>
        </p:txBody>
      </p:sp>
      <p:sp>
        <p:nvSpPr>
          <p:cNvPr id="12" name="Shape 10"/>
          <p:cNvSpPr/>
          <p:nvPr/>
        </p:nvSpPr>
        <p:spPr>
          <a:xfrm>
            <a:off x="274320" y="1590896"/>
            <a:ext cx="329184" cy="329184"/>
          </a:xfrm>
          <a:prstGeom prst="ellipse">
            <a:avLst/>
          </a:prstGeom>
          <a:solidFill>
            <a:srgbClr val="D4860A"/>
          </a:solidFill>
          <a:ln w="12700">
            <a:solidFill>
              <a:srgbClr val="D4860A"/>
            </a:solidFill>
            <a:prstDash val="solid"/>
          </a:ln>
        </p:spPr>
        <p:txBody>
          <a:bodyPr/>
          <a:lstStyle/>
          <a:p>
            <a:endParaRPr lang="en-US"/>
          </a:p>
        </p:txBody>
      </p:sp>
      <p:sp>
        <p:nvSpPr>
          <p:cNvPr id="13" name="Text 11"/>
          <p:cNvSpPr/>
          <p:nvPr/>
        </p:nvSpPr>
        <p:spPr>
          <a:xfrm>
            <a:off x="274320" y="159089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Shape 12"/>
          <p:cNvSpPr/>
          <p:nvPr/>
        </p:nvSpPr>
        <p:spPr>
          <a:xfrm>
            <a:off x="713232" y="1536032"/>
            <a:ext cx="8156448" cy="438912"/>
          </a:xfrm>
          <a:prstGeom prst="rect">
            <a:avLst/>
          </a:prstGeom>
          <a:solidFill>
            <a:srgbClr val="EBF4F6"/>
          </a:solidFill>
          <a:ln w="9525">
            <a:solidFill>
              <a:srgbClr val="B2DDE6"/>
            </a:solidFill>
            <a:prstDash val="solid"/>
          </a:ln>
        </p:spPr>
        <p:txBody>
          <a:bodyPr/>
          <a:lstStyle/>
          <a:p>
            <a:endParaRPr lang="en-US"/>
          </a:p>
        </p:txBody>
      </p:sp>
      <p:sp>
        <p:nvSpPr>
          <p:cNvPr id="15" name="Text 13"/>
          <p:cNvSpPr/>
          <p:nvPr/>
        </p:nvSpPr>
        <p:spPr>
          <a:xfrm>
            <a:off x="841248" y="1600040"/>
            <a:ext cx="7909560" cy="310896"/>
          </a:xfrm>
          <a:prstGeom prst="rect">
            <a:avLst/>
          </a:prstGeom>
          <a:noFill/>
          <a:ln/>
        </p:spPr>
        <p:txBody>
          <a:bodyPr wrap="square" lIns="0" tIns="0" rIns="0" bIns="0" rtlCol="0" anchor="ctr"/>
          <a:lstStyle/>
          <a:p>
            <a:pPr marL="0" indent="0">
              <a:buNone/>
            </a:pPr>
            <a:r>
              <a:rPr lang="en-US" sz="1100" dirty="0">
                <a:solidFill>
                  <a:srgbClr val="01404A"/>
                </a:solidFill>
                <a:latin typeface="Calibri" pitchFamily="34" charset="0"/>
                <a:ea typeface="Calibri" pitchFamily="34" charset="-122"/>
                <a:cs typeface="Calibri" pitchFamily="34" charset="-120"/>
              </a:rPr>
              <a:t>Consumer payment behaviour is driven primarily by two things: convenience and financial incentives. Security matters — but rarely drives adoption on its own.</a:t>
            </a:r>
            <a:endParaRPr lang="en-US" sz="1100" dirty="0"/>
          </a:p>
        </p:txBody>
      </p:sp>
      <p:sp>
        <p:nvSpPr>
          <p:cNvPr id="16" name="Shape 14"/>
          <p:cNvSpPr/>
          <p:nvPr/>
        </p:nvSpPr>
        <p:spPr>
          <a:xfrm>
            <a:off x="274320" y="2075528"/>
            <a:ext cx="329184" cy="329184"/>
          </a:xfrm>
          <a:prstGeom prst="ellipse">
            <a:avLst/>
          </a:prstGeom>
          <a:solidFill>
            <a:srgbClr val="4AADBC"/>
          </a:solidFill>
          <a:ln w="12700">
            <a:solidFill>
              <a:srgbClr val="4AADBC"/>
            </a:solidFill>
            <a:prstDash val="solid"/>
          </a:ln>
        </p:spPr>
        <p:txBody>
          <a:bodyPr/>
          <a:lstStyle/>
          <a:p>
            <a:endParaRPr lang="en-US"/>
          </a:p>
        </p:txBody>
      </p:sp>
      <p:sp>
        <p:nvSpPr>
          <p:cNvPr id="17" name="Text 15"/>
          <p:cNvSpPr/>
          <p:nvPr/>
        </p:nvSpPr>
        <p:spPr>
          <a:xfrm>
            <a:off x="274320" y="2075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Shape 16"/>
          <p:cNvSpPr/>
          <p:nvPr/>
        </p:nvSpPr>
        <p:spPr>
          <a:xfrm>
            <a:off x="713232" y="2020664"/>
            <a:ext cx="8156448" cy="438912"/>
          </a:xfrm>
          <a:prstGeom prst="rect">
            <a:avLst/>
          </a:prstGeom>
          <a:solidFill>
            <a:srgbClr val="FFFFFF"/>
          </a:solidFill>
          <a:ln w="9525">
            <a:solidFill>
              <a:srgbClr val="B2DDE6"/>
            </a:solidFill>
            <a:prstDash val="solid"/>
          </a:ln>
        </p:spPr>
        <p:txBody>
          <a:bodyPr/>
          <a:lstStyle/>
          <a:p>
            <a:endParaRPr lang="en-US"/>
          </a:p>
        </p:txBody>
      </p:sp>
      <p:sp>
        <p:nvSpPr>
          <p:cNvPr id="19" name="Text 17"/>
          <p:cNvSpPr/>
          <p:nvPr/>
        </p:nvSpPr>
        <p:spPr>
          <a:xfrm>
            <a:off x="841248" y="2084672"/>
            <a:ext cx="7909560" cy="310896"/>
          </a:xfrm>
          <a:prstGeom prst="rect">
            <a:avLst/>
          </a:prstGeom>
          <a:noFill/>
          <a:ln/>
        </p:spPr>
        <p:txBody>
          <a:bodyPr wrap="square" lIns="0" tIns="0" rIns="0" bIns="0" rtlCol="0" anchor="ctr"/>
          <a:lstStyle/>
          <a:p>
            <a:pPr marL="0" indent="0">
              <a:buNone/>
            </a:pPr>
            <a:r>
              <a:rPr lang="en-US" sz="1100" dirty="0">
                <a:solidFill>
                  <a:srgbClr val="01404A"/>
                </a:solidFill>
                <a:latin typeface="Calibri" pitchFamily="34" charset="0"/>
                <a:ea typeface="Calibri" pitchFamily="34" charset="-122"/>
                <a:cs typeface="Calibri" pitchFamily="34" charset="-120"/>
              </a:rPr>
              <a:t>Demographic factors influence preferences, but psychographic factors (attitudes toward money, security, and convenience) matter even more.</a:t>
            </a:r>
            <a:endParaRPr lang="en-US" sz="1100" dirty="0"/>
          </a:p>
        </p:txBody>
      </p:sp>
      <p:sp>
        <p:nvSpPr>
          <p:cNvPr id="20" name="Shape 18"/>
          <p:cNvSpPr/>
          <p:nvPr/>
        </p:nvSpPr>
        <p:spPr>
          <a:xfrm>
            <a:off x="274320" y="2560160"/>
            <a:ext cx="329184" cy="329184"/>
          </a:xfrm>
          <a:prstGeom prst="ellipse">
            <a:avLst/>
          </a:prstGeom>
          <a:solidFill>
            <a:srgbClr val="01404A"/>
          </a:solidFill>
          <a:ln w="12700">
            <a:solidFill>
              <a:srgbClr val="01404A"/>
            </a:solidFill>
            <a:prstDash val="solid"/>
          </a:ln>
        </p:spPr>
        <p:txBody>
          <a:bodyPr/>
          <a:lstStyle/>
          <a:p>
            <a:endParaRPr lang="en-US"/>
          </a:p>
        </p:txBody>
      </p:sp>
      <p:sp>
        <p:nvSpPr>
          <p:cNvPr id="21" name="Text 19"/>
          <p:cNvSpPr/>
          <p:nvPr/>
        </p:nvSpPr>
        <p:spPr>
          <a:xfrm>
            <a:off x="274320" y="25601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Shape 20"/>
          <p:cNvSpPr/>
          <p:nvPr/>
        </p:nvSpPr>
        <p:spPr>
          <a:xfrm>
            <a:off x="713232" y="2505296"/>
            <a:ext cx="8156448" cy="438912"/>
          </a:xfrm>
          <a:prstGeom prst="rect">
            <a:avLst/>
          </a:prstGeom>
          <a:solidFill>
            <a:srgbClr val="EBF4F6"/>
          </a:solidFill>
          <a:ln w="9525">
            <a:solidFill>
              <a:srgbClr val="B2DDE6"/>
            </a:solidFill>
            <a:prstDash val="solid"/>
          </a:ln>
        </p:spPr>
        <p:txBody>
          <a:bodyPr/>
          <a:lstStyle/>
          <a:p>
            <a:endParaRPr lang="en-US"/>
          </a:p>
        </p:txBody>
      </p:sp>
      <p:sp>
        <p:nvSpPr>
          <p:cNvPr id="23" name="Text 21"/>
          <p:cNvSpPr/>
          <p:nvPr/>
        </p:nvSpPr>
        <p:spPr>
          <a:xfrm>
            <a:off x="841248" y="2569304"/>
            <a:ext cx="7909560" cy="310896"/>
          </a:xfrm>
          <a:prstGeom prst="rect">
            <a:avLst/>
          </a:prstGeom>
          <a:noFill/>
          <a:ln/>
        </p:spPr>
        <p:txBody>
          <a:bodyPr wrap="square" lIns="0" tIns="0" rIns="0" bIns="0" rtlCol="0" anchor="ctr"/>
          <a:lstStyle/>
          <a:p>
            <a:pPr marL="0" indent="0">
              <a:buNone/>
            </a:pPr>
            <a:r>
              <a:rPr lang="en-US" sz="1100" dirty="0">
                <a:solidFill>
                  <a:srgbClr val="01404A"/>
                </a:solidFill>
                <a:latin typeface="Calibri" pitchFamily="34" charset="0"/>
                <a:ea typeface="Calibri" pitchFamily="34" charset="-122"/>
                <a:cs typeface="Calibri" pitchFamily="34" charset="-120"/>
              </a:rPr>
              <a:t>Merchants adopt new payment methods when they drive more sales — not primarily to reduce costs. Revenue growth is the key motivator.</a:t>
            </a:r>
            <a:endParaRPr lang="en-US" sz="1100" dirty="0"/>
          </a:p>
        </p:txBody>
      </p:sp>
      <p:sp>
        <p:nvSpPr>
          <p:cNvPr id="24" name="Shape 22"/>
          <p:cNvSpPr/>
          <p:nvPr/>
        </p:nvSpPr>
        <p:spPr>
          <a:xfrm>
            <a:off x="274320" y="3044792"/>
            <a:ext cx="329184" cy="329184"/>
          </a:xfrm>
          <a:prstGeom prst="ellipse">
            <a:avLst/>
          </a:prstGeom>
          <a:solidFill>
            <a:srgbClr val="7B2D8B"/>
          </a:solidFill>
          <a:ln w="12700">
            <a:solidFill>
              <a:srgbClr val="7B2D8B"/>
            </a:solidFill>
            <a:prstDash val="solid"/>
          </a:ln>
        </p:spPr>
        <p:txBody>
          <a:bodyPr/>
          <a:lstStyle/>
          <a:p>
            <a:endParaRPr lang="en-US"/>
          </a:p>
        </p:txBody>
      </p:sp>
      <p:sp>
        <p:nvSpPr>
          <p:cNvPr id="25" name="Text 23"/>
          <p:cNvSpPr/>
          <p:nvPr/>
        </p:nvSpPr>
        <p:spPr>
          <a:xfrm>
            <a:off x="274320" y="304479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Shape 24"/>
          <p:cNvSpPr/>
          <p:nvPr/>
        </p:nvSpPr>
        <p:spPr>
          <a:xfrm>
            <a:off x="713232" y="2989928"/>
            <a:ext cx="8156448" cy="438912"/>
          </a:xfrm>
          <a:prstGeom prst="rect">
            <a:avLst/>
          </a:prstGeom>
          <a:solidFill>
            <a:srgbClr val="FFFFFF"/>
          </a:solidFill>
          <a:ln w="9525">
            <a:solidFill>
              <a:srgbClr val="B2DDE6"/>
            </a:solidFill>
            <a:prstDash val="solid"/>
          </a:ln>
        </p:spPr>
        <p:txBody>
          <a:bodyPr/>
          <a:lstStyle/>
          <a:p>
            <a:endParaRPr lang="en-US"/>
          </a:p>
        </p:txBody>
      </p:sp>
      <p:sp>
        <p:nvSpPr>
          <p:cNvPr id="27" name="Text 25"/>
          <p:cNvSpPr/>
          <p:nvPr/>
        </p:nvSpPr>
        <p:spPr>
          <a:xfrm>
            <a:off x="841248" y="3053936"/>
            <a:ext cx="7909560" cy="310896"/>
          </a:xfrm>
          <a:prstGeom prst="rect">
            <a:avLst/>
          </a:prstGeom>
          <a:noFill/>
          <a:ln/>
        </p:spPr>
        <p:txBody>
          <a:bodyPr wrap="square" lIns="0" tIns="0" rIns="0" bIns="0" rtlCol="0" anchor="ctr"/>
          <a:lstStyle/>
          <a:p>
            <a:pPr marL="0" indent="0">
              <a:buNone/>
            </a:pPr>
            <a:r>
              <a:rPr lang="en-US" sz="1100" dirty="0">
                <a:solidFill>
                  <a:srgbClr val="01404A"/>
                </a:solidFill>
                <a:latin typeface="Calibri" pitchFamily="34" charset="0"/>
                <a:ea typeface="Calibri" pitchFamily="34" charset="-122"/>
                <a:cs typeface="Calibri" pitchFamily="34" charset="-120"/>
              </a:rPr>
              <a:t>Online merchants bear fraud liability for card-not-present transactions — a direct carry-over from the original MOTO framework established long before eCommerce.</a:t>
            </a:r>
            <a:endParaRPr lang="en-US" sz="1100" dirty="0"/>
          </a:p>
        </p:txBody>
      </p:sp>
      <p:sp>
        <p:nvSpPr>
          <p:cNvPr id="28" name="Shape 26"/>
          <p:cNvSpPr/>
          <p:nvPr/>
        </p:nvSpPr>
        <p:spPr>
          <a:xfrm>
            <a:off x="274320" y="3529424"/>
            <a:ext cx="329184" cy="329184"/>
          </a:xfrm>
          <a:prstGeom prst="ellipse">
            <a:avLst/>
          </a:prstGeom>
          <a:solidFill>
            <a:srgbClr val="1E7145"/>
          </a:solidFill>
          <a:ln w="12700">
            <a:solidFill>
              <a:srgbClr val="1E7145"/>
            </a:solidFill>
            <a:prstDash val="solid"/>
          </a:ln>
        </p:spPr>
        <p:txBody>
          <a:bodyPr/>
          <a:lstStyle/>
          <a:p>
            <a:endParaRPr lang="en-US"/>
          </a:p>
        </p:txBody>
      </p:sp>
      <p:sp>
        <p:nvSpPr>
          <p:cNvPr id="29" name="Text 27"/>
          <p:cNvSpPr/>
          <p:nvPr/>
        </p:nvSpPr>
        <p:spPr>
          <a:xfrm>
            <a:off x="274320" y="352942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0" name="Shape 28"/>
          <p:cNvSpPr/>
          <p:nvPr/>
        </p:nvSpPr>
        <p:spPr>
          <a:xfrm>
            <a:off x="713232" y="3474560"/>
            <a:ext cx="8156448" cy="438912"/>
          </a:xfrm>
          <a:prstGeom prst="rect">
            <a:avLst/>
          </a:prstGeom>
          <a:solidFill>
            <a:srgbClr val="EBF4F6"/>
          </a:solidFill>
          <a:ln w="9525">
            <a:solidFill>
              <a:srgbClr val="B2DDE6"/>
            </a:solidFill>
            <a:prstDash val="solid"/>
          </a:ln>
        </p:spPr>
        <p:txBody>
          <a:bodyPr/>
          <a:lstStyle/>
          <a:p>
            <a:endParaRPr lang="en-US"/>
          </a:p>
        </p:txBody>
      </p:sp>
      <p:sp>
        <p:nvSpPr>
          <p:cNvPr id="31" name="Text 29"/>
          <p:cNvSpPr/>
          <p:nvPr/>
        </p:nvSpPr>
        <p:spPr>
          <a:xfrm>
            <a:off x="841248" y="3538568"/>
            <a:ext cx="7909560" cy="310896"/>
          </a:xfrm>
          <a:prstGeom prst="rect">
            <a:avLst/>
          </a:prstGeom>
          <a:noFill/>
          <a:ln/>
        </p:spPr>
        <p:txBody>
          <a:bodyPr wrap="square" lIns="0" tIns="0" rIns="0" bIns="0" rtlCol="0" anchor="ctr"/>
          <a:lstStyle/>
          <a:p>
            <a:pPr marL="0" indent="0">
              <a:buNone/>
            </a:pPr>
            <a:r>
              <a:rPr lang="en-US" sz="1100" dirty="0">
                <a:solidFill>
                  <a:srgbClr val="01404A"/>
                </a:solidFill>
                <a:latin typeface="Calibri" pitchFamily="34" charset="0"/>
                <a:ea typeface="Calibri" pitchFamily="34" charset="-122"/>
                <a:cs typeface="Calibri" pitchFamily="34" charset="-120"/>
              </a:rPr>
              <a:t>Billers have diverse objectives beyond simply collecting payment — cross-selling, customer retention, and eliminating paper statements all influence their choices.</a:t>
            </a:r>
            <a:endParaRPr lang="en-US" sz="1100" dirty="0"/>
          </a:p>
        </p:txBody>
      </p:sp>
      <p:sp>
        <p:nvSpPr>
          <p:cNvPr id="32" name="Shape 30"/>
          <p:cNvSpPr/>
          <p:nvPr/>
        </p:nvSpPr>
        <p:spPr>
          <a:xfrm>
            <a:off x="274320" y="4014056"/>
            <a:ext cx="329184" cy="329184"/>
          </a:xfrm>
          <a:prstGeom prst="ellipse">
            <a:avLst/>
          </a:prstGeom>
          <a:solidFill>
            <a:srgbClr val="D4860A"/>
          </a:solidFill>
          <a:ln w="12700">
            <a:solidFill>
              <a:srgbClr val="D4860A"/>
            </a:solidFill>
            <a:prstDash val="solid"/>
          </a:ln>
        </p:spPr>
        <p:txBody>
          <a:bodyPr/>
          <a:lstStyle/>
          <a:p>
            <a:endParaRPr lang="en-US"/>
          </a:p>
        </p:txBody>
      </p:sp>
      <p:sp>
        <p:nvSpPr>
          <p:cNvPr id="33" name="Text 31"/>
          <p:cNvSpPr/>
          <p:nvPr/>
        </p:nvSpPr>
        <p:spPr>
          <a:xfrm>
            <a:off x="274320" y="401405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4" name="Shape 32"/>
          <p:cNvSpPr/>
          <p:nvPr/>
        </p:nvSpPr>
        <p:spPr>
          <a:xfrm>
            <a:off x="713232" y="3959192"/>
            <a:ext cx="8156448" cy="438912"/>
          </a:xfrm>
          <a:prstGeom prst="rect">
            <a:avLst/>
          </a:prstGeom>
          <a:solidFill>
            <a:srgbClr val="FFFFFF"/>
          </a:solidFill>
          <a:ln w="9525">
            <a:solidFill>
              <a:srgbClr val="B2DDE6"/>
            </a:solidFill>
            <a:prstDash val="solid"/>
          </a:ln>
        </p:spPr>
        <p:txBody>
          <a:bodyPr/>
          <a:lstStyle/>
          <a:p>
            <a:endParaRPr lang="en-US"/>
          </a:p>
        </p:txBody>
      </p:sp>
      <p:sp>
        <p:nvSpPr>
          <p:cNvPr id="35" name="Text 33"/>
          <p:cNvSpPr/>
          <p:nvPr/>
        </p:nvSpPr>
        <p:spPr>
          <a:xfrm>
            <a:off x="841248" y="4023200"/>
            <a:ext cx="7909560" cy="310896"/>
          </a:xfrm>
          <a:prstGeom prst="rect">
            <a:avLst/>
          </a:prstGeom>
          <a:noFill/>
          <a:ln/>
        </p:spPr>
        <p:txBody>
          <a:bodyPr wrap="square" lIns="0" tIns="0" rIns="0" bIns="0" rtlCol="0" anchor="ctr"/>
          <a:lstStyle/>
          <a:p>
            <a:pPr marL="0" indent="0">
              <a:buNone/>
            </a:pPr>
            <a:r>
              <a:rPr lang="en-US" sz="1100" dirty="0">
                <a:solidFill>
                  <a:srgbClr val="01404A"/>
                </a:solidFill>
                <a:latin typeface="Calibri" pitchFamily="34" charset="0"/>
                <a:ea typeface="Calibri" pitchFamily="34" charset="-122"/>
                <a:cs typeface="Calibri" pitchFamily="34" charset="-120"/>
              </a:rPr>
              <a:t>Enterprises must reassess their entire risk management framework each time they change their mix of payment methods. Risk controls do not transfer automatically.</a:t>
            </a:r>
            <a:endParaRPr lang="en-US" sz="1100" dirty="0"/>
          </a:p>
        </p:txBody>
      </p:sp>
      <p:sp>
        <p:nvSpPr>
          <p:cNvPr id="36" name="Shape 34"/>
          <p:cNvSpPr/>
          <p:nvPr/>
        </p:nvSpPr>
        <p:spPr>
          <a:xfrm>
            <a:off x="274320" y="4498688"/>
            <a:ext cx="329184" cy="329184"/>
          </a:xfrm>
          <a:prstGeom prst="ellipse">
            <a:avLst/>
          </a:prstGeom>
          <a:solidFill>
            <a:srgbClr val="4A5568"/>
          </a:solidFill>
          <a:ln w="12700">
            <a:solidFill>
              <a:srgbClr val="4A5568"/>
            </a:solidFill>
            <a:prstDash val="solid"/>
          </a:ln>
        </p:spPr>
        <p:txBody>
          <a:bodyPr/>
          <a:lstStyle/>
          <a:p>
            <a:endParaRPr lang="en-US"/>
          </a:p>
        </p:txBody>
      </p:sp>
      <p:sp>
        <p:nvSpPr>
          <p:cNvPr id="37" name="Text 35"/>
          <p:cNvSpPr/>
          <p:nvPr/>
        </p:nvSpPr>
        <p:spPr>
          <a:xfrm>
            <a:off x="274320" y="449868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8" name="Shape 36"/>
          <p:cNvSpPr/>
          <p:nvPr/>
        </p:nvSpPr>
        <p:spPr>
          <a:xfrm>
            <a:off x="713232" y="4443824"/>
            <a:ext cx="8156448" cy="438912"/>
          </a:xfrm>
          <a:prstGeom prst="rect">
            <a:avLst/>
          </a:prstGeom>
          <a:solidFill>
            <a:srgbClr val="EBF4F6"/>
          </a:solidFill>
          <a:ln w="9525">
            <a:solidFill>
              <a:srgbClr val="B2DDE6"/>
            </a:solidFill>
            <a:prstDash val="solid"/>
          </a:ln>
        </p:spPr>
        <p:txBody>
          <a:bodyPr/>
          <a:lstStyle/>
          <a:p>
            <a:endParaRPr lang="en-US"/>
          </a:p>
        </p:txBody>
      </p:sp>
      <p:sp>
        <p:nvSpPr>
          <p:cNvPr id="39" name="Text 37"/>
          <p:cNvSpPr/>
          <p:nvPr/>
        </p:nvSpPr>
        <p:spPr>
          <a:xfrm>
            <a:off x="841248" y="4507832"/>
            <a:ext cx="7909560" cy="310896"/>
          </a:xfrm>
          <a:prstGeom prst="rect">
            <a:avLst/>
          </a:prstGeom>
          <a:noFill/>
          <a:ln/>
        </p:spPr>
        <p:txBody>
          <a:bodyPr wrap="square" lIns="0" tIns="0" rIns="0" bIns="0" rtlCol="0" anchor="ctr"/>
          <a:lstStyle/>
          <a:p>
            <a:pPr marL="0" indent="0">
              <a:buNone/>
            </a:pPr>
            <a:r>
              <a:rPr lang="en-US" sz="1100" dirty="0">
                <a:solidFill>
                  <a:srgbClr val="01404A"/>
                </a:solidFill>
                <a:latin typeface="Calibri" pitchFamily="34" charset="0"/>
                <a:ea typeface="Calibri" pitchFamily="34" charset="-122"/>
                <a:cs typeface="Calibri" pitchFamily="34" charset="-120"/>
              </a:rPr>
              <a:t>Cheques remain stubbornly dominant in large enterprise payments despite decades of predictions about their decline. Old habits are hard to change.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1404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D4860A"/>
          </a:solidFill>
          <a:ln w="12700">
            <a:solidFill>
              <a:srgbClr val="D4860A"/>
            </a:solidFill>
            <a:prstDash val="solid"/>
          </a:ln>
        </p:spPr>
        <p:txBody>
          <a:bodyPr/>
          <a:lstStyle/>
          <a:p>
            <a:endParaRPr lang="en-US"/>
          </a:p>
        </p:txBody>
      </p:sp>
      <p:sp>
        <p:nvSpPr>
          <p:cNvPr id="3" name="Shape 1"/>
          <p:cNvSpPr/>
          <p:nvPr/>
        </p:nvSpPr>
        <p:spPr>
          <a:xfrm>
            <a:off x="0" y="5061204"/>
            <a:ext cx="9144000" cy="82296"/>
          </a:xfrm>
          <a:prstGeom prst="rect">
            <a:avLst/>
          </a:prstGeom>
          <a:solidFill>
            <a:srgbClr val="D4860A"/>
          </a:solidFill>
          <a:ln w="12700">
            <a:solidFill>
              <a:srgbClr val="D4860A"/>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65760" y="822960"/>
            <a:ext cx="1920240" cy="1920240"/>
          </a:xfrm>
          <a:prstGeom prst="rect">
            <a:avLst/>
          </a:prstGeom>
        </p:spPr>
      </p:pic>
      <p:sp>
        <p:nvSpPr>
          <p:cNvPr id="5" name="Text 2"/>
          <p:cNvSpPr/>
          <p:nvPr/>
        </p:nvSpPr>
        <p:spPr>
          <a:xfrm>
            <a:off x="2651760" y="822960"/>
            <a:ext cx="621792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The Big Picture</a:t>
            </a:r>
            <a:endParaRPr lang="en-US" sz="3400" dirty="0"/>
          </a:p>
        </p:txBody>
      </p:sp>
      <p:sp>
        <p:nvSpPr>
          <p:cNvPr id="6" name="Text 3"/>
          <p:cNvSpPr/>
          <p:nvPr/>
        </p:nvSpPr>
        <p:spPr>
          <a:xfrm>
            <a:off x="2651760" y="1481328"/>
            <a:ext cx="6217920" cy="1005840"/>
          </a:xfrm>
          <a:prstGeom prst="rect">
            <a:avLst/>
          </a:prstGeom>
          <a:noFill/>
          <a:ln/>
        </p:spPr>
        <p:txBody>
          <a:bodyPr wrap="square" lIns="0" tIns="0" rIns="0" bIns="0" rtlCol="0" anchor="ctr"/>
          <a:lstStyle/>
          <a:p>
            <a:pPr marL="0" indent="0">
              <a:buNone/>
            </a:pPr>
            <a:r>
              <a:rPr lang="en-US" sz="1250" dirty="0">
                <a:solidFill>
                  <a:srgbClr val="B2DDE6"/>
                </a:solidFill>
                <a:latin typeface="Calibri" pitchFamily="34" charset="0"/>
                <a:ea typeface="Calibri" pitchFamily="34" charset="-122"/>
                <a:cs typeface="Calibri" pitchFamily="34" charset="-120"/>
              </a:rPr>
              <a:t>Payment systems exist to serve their users — not the other way around. Every feature, every rule, and every fee structure in the payment's ecosystem reflects the competing interests of the four groups we covered today: consumers who want convenience, merchants who want to sell more, billers who want to lower costs, and enterprises that need control.</a:t>
            </a:r>
            <a:endParaRPr lang="en-US" sz="1250" dirty="0"/>
          </a:p>
        </p:txBody>
      </p:sp>
      <p:sp>
        <p:nvSpPr>
          <p:cNvPr id="7" name="Text 4"/>
          <p:cNvSpPr/>
          <p:nvPr/>
        </p:nvSpPr>
        <p:spPr>
          <a:xfrm>
            <a:off x="2651760" y="2560320"/>
            <a:ext cx="6217920" cy="320040"/>
          </a:xfrm>
          <a:prstGeom prst="rect">
            <a:avLst/>
          </a:prstGeom>
          <a:noFill/>
          <a:ln/>
        </p:spPr>
        <p:txBody>
          <a:bodyPr wrap="square" lIns="0" tIns="0" rIns="0" bIns="0" rtlCol="0" anchor="ctr"/>
          <a:lstStyle/>
          <a:p>
            <a:pPr marL="0" indent="0">
              <a:buNone/>
            </a:pPr>
            <a:r>
              <a:rPr lang="en-US" sz="1400" b="1" dirty="0">
                <a:solidFill>
                  <a:srgbClr val="D4860A"/>
                </a:solidFill>
                <a:latin typeface="Calibri" pitchFamily="34" charset="0"/>
                <a:ea typeface="Calibri" pitchFamily="34" charset="-122"/>
                <a:cs typeface="Calibri" pitchFamily="34" charset="-120"/>
              </a:rPr>
              <a:t>What this means for us:</a:t>
            </a:r>
            <a:endParaRPr lang="en-US" sz="1400" dirty="0"/>
          </a:p>
        </p:txBody>
      </p:sp>
      <p:sp>
        <p:nvSpPr>
          <p:cNvPr id="8" name="Shape 5"/>
          <p:cNvSpPr/>
          <p:nvPr/>
        </p:nvSpPr>
        <p:spPr>
          <a:xfrm>
            <a:off x="2651760" y="2944368"/>
            <a:ext cx="54864" cy="256032"/>
          </a:xfrm>
          <a:prstGeom prst="rect">
            <a:avLst/>
          </a:prstGeom>
          <a:solidFill>
            <a:srgbClr val="D4860A"/>
          </a:solidFill>
          <a:ln w="12700">
            <a:solidFill>
              <a:srgbClr val="D4860A"/>
            </a:solidFill>
            <a:prstDash val="solid"/>
          </a:ln>
        </p:spPr>
        <p:txBody>
          <a:bodyPr/>
          <a:lstStyle/>
          <a:p>
            <a:endParaRPr lang="en-US"/>
          </a:p>
        </p:txBody>
      </p:sp>
      <p:sp>
        <p:nvSpPr>
          <p:cNvPr id="9" name="Text 6"/>
          <p:cNvSpPr/>
          <p:nvPr/>
        </p:nvSpPr>
        <p:spPr>
          <a:xfrm>
            <a:off x="2816352" y="2944368"/>
            <a:ext cx="5943600" cy="274320"/>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Understanding user motivations explains why payment systems are designed as they are</a:t>
            </a:r>
            <a:endParaRPr lang="en-US" sz="1200" dirty="0"/>
          </a:p>
        </p:txBody>
      </p:sp>
      <p:sp>
        <p:nvSpPr>
          <p:cNvPr id="10" name="Shape 7"/>
          <p:cNvSpPr/>
          <p:nvPr/>
        </p:nvSpPr>
        <p:spPr>
          <a:xfrm>
            <a:off x="2651760" y="3346704"/>
            <a:ext cx="54864" cy="256032"/>
          </a:xfrm>
          <a:prstGeom prst="rect">
            <a:avLst/>
          </a:prstGeom>
          <a:solidFill>
            <a:srgbClr val="D4860A"/>
          </a:solidFill>
          <a:ln w="12700">
            <a:solidFill>
              <a:srgbClr val="D4860A"/>
            </a:solidFill>
            <a:prstDash val="solid"/>
          </a:ln>
        </p:spPr>
        <p:txBody>
          <a:bodyPr/>
          <a:lstStyle/>
          <a:p>
            <a:endParaRPr lang="en-US"/>
          </a:p>
        </p:txBody>
      </p:sp>
      <p:sp>
        <p:nvSpPr>
          <p:cNvPr id="11" name="Text 8"/>
          <p:cNvSpPr/>
          <p:nvPr/>
        </p:nvSpPr>
        <p:spPr>
          <a:xfrm>
            <a:off x="2816352" y="3346704"/>
            <a:ext cx="5943600" cy="274320"/>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Friction is the enemy of adoption — for every group, in every context</a:t>
            </a:r>
            <a:endParaRPr lang="en-US" sz="1200" dirty="0"/>
          </a:p>
        </p:txBody>
      </p:sp>
      <p:sp>
        <p:nvSpPr>
          <p:cNvPr id="12" name="Shape 9"/>
          <p:cNvSpPr/>
          <p:nvPr/>
        </p:nvSpPr>
        <p:spPr>
          <a:xfrm>
            <a:off x="2651760" y="3749040"/>
            <a:ext cx="54864" cy="256032"/>
          </a:xfrm>
          <a:prstGeom prst="rect">
            <a:avLst/>
          </a:prstGeom>
          <a:solidFill>
            <a:srgbClr val="D4860A"/>
          </a:solidFill>
          <a:ln w="12700">
            <a:solidFill>
              <a:srgbClr val="D4860A"/>
            </a:solidFill>
            <a:prstDash val="solid"/>
          </a:ln>
        </p:spPr>
        <p:txBody>
          <a:bodyPr/>
          <a:lstStyle/>
          <a:p>
            <a:endParaRPr lang="en-US"/>
          </a:p>
        </p:txBody>
      </p:sp>
      <p:sp>
        <p:nvSpPr>
          <p:cNvPr id="13" name="Text 10"/>
          <p:cNvSpPr/>
          <p:nvPr/>
        </p:nvSpPr>
        <p:spPr>
          <a:xfrm>
            <a:off x="2816352" y="3749040"/>
            <a:ext cx="5943600" cy="274320"/>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Risk management must be specific to each payment type — there are no universal controls</a:t>
            </a:r>
            <a:endParaRPr lang="en-US" sz="1200" dirty="0"/>
          </a:p>
        </p:txBody>
      </p:sp>
      <p:sp>
        <p:nvSpPr>
          <p:cNvPr id="14" name="Shape 11"/>
          <p:cNvSpPr/>
          <p:nvPr/>
        </p:nvSpPr>
        <p:spPr>
          <a:xfrm>
            <a:off x="2651760" y="4151376"/>
            <a:ext cx="54864" cy="256032"/>
          </a:xfrm>
          <a:prstGeom prst="rect">
            <a:avLst/>
          </a:prstGeom>
          <a:solidFill>
            <a:srgbClr val="D4860A"/>
          </a:solidFill>
          <a:ln w="12700">
            <a:solidFill>
              <a:srgbClr val="D4860A"/>
            </a:solidFill>
            <a:prstDash val="solid"/>
          </a:ln>
        </p:spPr>
        <p:txBody>
          <a:bodyPr/>
          <a:lstStyle/>
          <a:p>
            <a:endParaRPr lang="en-US"/>
          </a:p>
        </p:txBody>
      </p:sp>
      <p:sp>
        <p:nvSpPr>
          <p:cNvPr id="15" name="Text 12"/>
          <p:cNvSpPr/>
          <p:nvPr/>
        </p:nvSpPr>
        <p:spPr>
          <a:xfrm>
            <a:off x="2816352" y="4151376"/>
            <a:ext cx="5943600" cy="274320"/>
          </a:xfrm>
          <a:prstGeom prst="rect">
            <a:avLst/>
          </a:prstGeom>
          <a:noFill/>
          <a:ln/>
        </p:spPr>
        <p:txBody>
          <a:bodyPr wrap="square" lIns="0" tIns="0" rIns="0" bIns="0" rtlCol="0" anchor="ctr"/>
          <a:lstStyle/>
          <a:p>
            <a:pPr marL="0" indent="0">
              <a:buNone/>
            </a:pPr>
            <a:r>
              <a:rPr lang="en-US" sz="1200" dirty="0">
                <a:solidFill>
                  <a:srgbClr val="B2DDE6"/>
                </a:solidFill>
                <a:latin typeface="Calibri" pitchFamily="34" charset="0"/>
                <a:ea typeface="Calibri" pitchFamily="34" charset="-122"/>
                <a:cs typeface="Calibri" pitchFamily="34" charset="-120"/>
              </a:rPr>
              <a:t>User needs evolve — and payment systems must evolve with them</a:t>
            </a:r>
            <a:endParaRPr lang="en-US" sz="1200" dirty="0"/>
          </a:p>
        </p:txBody>
      </p:sp>
      <p:sp>
        <p:nvSpPr>
          <p:cNvPr id="16" name="Text 13"/>
          <p:cNvSpPr/>
          <p:nvPr/>
        </p:nvSpPr>
        <p:spPr>
          <a:xfrm>
            <a:off x="365760" y="4645152"/>
            <a:ext cx="8412480" cy="274320"/>
          </a:xfrm>
          <a:prstGeom prst="rect">
            <a:avLst/>
          </a:prstGeom>
          <a:noFill/>
          <a:ln/>
        </p:spPr>
        <p:txBody>
          <a:bodyPr wrap="square" lIns="0" tIns="0" rIns="0" bIns="0" rtlCol="0" anchor="ctr"/>
          <a:lstStyle/>
          <a:p>
            <a:pPr marL="0" indent="0" algn="ctr">
              <a:buNone/>
            </a:pPr>
            <a:r>
              <a:rPr lang="en-US" sz="1300" b="1" i="1" dirty="0">
                <a:solidFill>
                  <a:srgbClr val="D4860A"/>
                </a:solidFill>
                <a:latin typeface="Calibri" pitchFamily="34" charset="0"/>
                <a:ea typeface="Calibri" pitchFamily="34" charset="-122"/>
                <a:cs typeface="Calibri" pitchFamily="34" charset="-120"/>
              </a:rPr>
              <a:t>Security · Convenience · Efficiency · Trust — always in tension, always in balance.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5D172D4-5C41-EBA4-2AE2-39F7EB344ECB}"/>
              </a:ext>
            </a:extLst>
          </p:cNvPr>
          <p:cNvSpPr/>
          <p:nvPr/>
        </p:nvSpPr>
        <p:spPr>
          <a:xfrm>
            <a:off x="0" y="0"/>
            <a:ext cx="9144000" cy="5143500"/>
          </a:xfrm>
          <a:prstGeom prst="rect">
            <a:avLst/>
          </a:prstGeom>
          <a:solidFill>
            <a:srgbClr val="0D1B3E"/>
          </a:solidFill>
          <a:ln w="12700">
            <a:solidFill>
              <a:srgbClr val="0D1B3E"/>
            </a:solidFill>
            <a:prstDash val="solid"/>
          </a:ln>
        </p:spPr>
        <p:txBody>
          <a:bodyPr/>
          <a:lstStyle/>
          <a:p>
            <a:endParaRPr lang="en-US"/>
          </a:p>
        </p:txBody>
      </p:sp>
      <p:sp>
        <p:nvSpPr>
          <p:cNvPr id="3" name="Shape 1">
            <a:extLst>
              <a:ext uri="{FF2B5EF4-FFF2-40B4-BE49-F238E27FC236}">
                <a16:creationId xmlns:a16="http://schemas.microsoft.com/office/drawing/2014/main" id="{91482D90-E18E-3964-4B75-1B2AB421547C}"/>
              </a:ext>
            </a:extLst>
          </p:cNvPr>
          <p:cNvSpPr/>
          <p:nvPr/>
        </p:nvSpPr>
        <p:spPr>
          <a:xfrm>
            <a:off x="0" y="0"/>
            <a:ext cx="164592" cy="5143500"/>
          </a:xfrm>
          <a:prstGeom prst="rect">
            <a:avLst/>
          </a:prstGeom>
          <a:solidFill>
            <a:srgbClr val="F5A623"/>
          </a:solidFill>
          <a:ln w="12700">
            <a:solidFill>
              <a:srgbClr val="F5A623"/>
            </a:solidFill>
            <a:prstDash val="solid"/>
          </a:ln>
        </p:spPr>
        <p:txBody>
          <a:bodyPr/>
          <a:lstStyle/>
          <a:p>
            <a:endParaRPr lang="en-US"/>
          </a:p>
        </p:txBody>
      </p:sp>
      <p:sp>
        <p:nvSpPr>
          <p:cNvPr id="5" name="Shape 2">
            <a:extLst>
              <a:ext uri="{FF2B5EF4-FFF2-40B4-BE49-F238E27FC236}">
                <a16:creationId xmlns:a16="http://schemas.microsoft.com/office/drawing/2014/main" id="{09A4C8F1-BC0C-DB07-14D7-33FEC8E912CD}"/>
              </a:ext>
            </a:extLst>
          </p:cNvPr>
          <p:cNvSpPr/>
          <p:nvPr/>
        </p:nvSpPr>
        <p:spPr>
          <a:xfrm>
            <a:off x="164592" y="0"/>
            <a:ext cx="8979408" cy="5143500"/>
          </a:xfrm>
          <a:prstGeom prst="rect">
            <a:avLst/>
          </a:prstGeom>
          <a:solidFill>
            <a:srgbClr val="013640"/>
          </a:solidFill>
          <a:ln w="12700">
            <a:solidFill>
              <a:srgbClr val="013640"/>
            </a:solidFill>
            <a:prstDash val="solid"/>
          </a:ln>
        </p:spPr>
        <p:txBody>
          <a:bodyPr/>
          <a:lstStyle/>
          <a:p>
            <a:endParaRPr lang="en-US"/>
          </a:p>
        </p:txBody>
      </p:sp>
      <p:sp>
        <p:nvSpPr>
          <p:cNvPr id="4" name="Text 2">
            <a:extLst>
              <a:ext uri="{FF2B5EF4-FFF2-40B4-BE49-F238E27FC236}">
                <a16:creationId xmlns:a16="http://schemas.microsoft.com/office/drawing/2014/main" id="{4F313200-2E58-DB89-DB14-D97D8D611F04}"/>
              </a:ext>
            </a:extLst>
          </p:cNvPr>
          <p:cNvSpPr/>
          <p:nvPr/>
        </p:nvSpPr>
        <p:spPr>
          <a:xfrm>
            <a:off x="877824" y="2166586"/>
            <a:ext cx="8503920" cy="54864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Thank You</a:t>
            </a:r>
            <a:endParaRPr lang="en-US" sz="3600" dirty="0"/>
          </a:p>
        </p:txBody>
      </p:sp>
    </p:spTree>
    <p:extLst>
      <p:ext uri="{BB962C8B-B14F-4D97-AF65-F5344CB8AC3E}">
        <p14:creationId xmlns:p14="http://schemas.microsoft.com/office/powerpoint/2010/main" val="2312533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9B8EE6072CCC949AE3B9F71595720CD" ma:contentTypeVersion="14" ma:contentTypeDescription="Create a new document." ma:contentTypeScope="" ma:versionID="d8cb1f135a5912bb290856803fdafd5b">
  <xsd:schema xmlns:xsd="http://www.w3.org/2001/XMLSchema" xmlns:xs="http://www.w3.org/2001/XMLSchema" xmlns:p="http://schemas.microsoft.com/office/2006/metadata/properties" xmlns:ns2="c9f1faa8-5418-4c35-877d-853ce2afda31" xmlns:ns3="61ea73c3-10a7-4d5d-9c58-c1e5c30e30dc" targetNamespace="http://schemas.microsoft.com/office/2006/metadata/properties" ma:root="true" ma:fieldsID="529b99e15a6c481cc6b667f0a6f1b08f" ns2:_="" ns3:_="">
    <xsd:import namespace="c9f1faa8-5418-4c35-877d-853ce2afda31"/>
    <xsd:import namespace="61ea73c3-10a7-4d5d-9c58-c1e5c30e30d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f1faa8-5418-4c35-877d-853ce2afda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ca363587-87ea-41e2-9a9e-8270a2079e61"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1ea73c3-10a7-4d5d-9c58-c1e5c30e30dc"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25c207fb-9e6e-4c5b-9eb2-d05082e3e9b3}" ma:internalName="TaxCatchAll" ma:showField="CatchAllData" ma:web="61ea73c3-10a7-4d5d-9c58-c1e5c30e30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1ea73c3-10a7-4d5d-9c58-c1e5c30e30dc" xsi:nil="true"/>
    <lcf76f155ced4ddcb4097134ff3c332f xmlns="c9f1faa8-5418-4c35-877d-853ce2afda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EB3962F-FBBE-4AD4-8401-ADDED2FA4BDE}"/>
</file>

<file path=customXml/itemProps2.xml><?xml version="1.0" encoding="utf-8"?>
<ds:datastoreItem xmlns:ds="http://schemas.openxmlformats.org/officeDocument/2006/customXml" ds:itemID="{FE9529B9-53C3-4A3E-AB24-4E5738D01467}"/>
</file>

<file path=customXml/itemProps3.xml><?xml version="1.0" encoding="utf-8"?>
<ds:datastoreItem xmlns:ds="http://schemas.openxmlformats.org/officeDocument/2006/customXml" ds:itemID="{7A3C9BCF-4530-47C9-8976-47430EB9F3B5}"/>
</file>

<file path=docProps/app.xml><?xml version="1.0" encoding="utf-8"?>
<Properties xmlns="http://schemas.openxmlformats.org/officeDocument/2006/extended-properties" xmlns:vt="http://schemas.openxmlformats.org/officeDocument/2006/docPropsVTypes">
  <TotalTime>2903</TotalTime>
  <Words>2243</Words>
  <Application>Microsoft Macintosh PowerPoint</Application>
  <PresentationFormat>On-screen Show (16:9)</PresentationFormat>
  <Paragraphs>230</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Perspectives on Payments: System Users</dc:title>
  <dc:subject>PptxGenJS Presentation</dc:subject>
  <dc:creator>PptxGenJS</dc:creator>
  <cp:lastModifiedBy>Ankit Arora(UST,IN)</cp:lastModifiedBy>
  <cp:revision>10</cp:revision>
  <dcterms:created xsi:type="dcterms:W3CDTF">2026-03-14T13:55:37Z</dcterms:created>
  <dcterms:modified xsi:type="dcterms:W3CDTF">2026-04-07T09:10:53Z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2026-03-15T07:54:27Z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0ca778ab-01a0-4eea-91a7-16688930b9e2</vt:lpwstr>
  </property>
  <property fmtid="{D5CDD505-2E9C-101B-9397-08002B2CF9AE}" pid="8" name="MSIP_Label_15ffddfa-74ad-4c1f-9757-a38a11902f1c_ContentBits">
    <vt:lpwstr>0</vt:lpwstr>
  </property>
  <property fmtid="{D5CDD505-2E9C-101B-9397-08002B2CF9AE}" pid="9" name="MSIP_Label_15ffddfa-74ad-4c1f-9757-a38a11902f1c_Tag">
    <vt:lpwstr>50, 3, 0, 1</vt:lpwstr>
  </property>
  <property fmtid="{D5CDD505-2E9C-101B-9397-08002B2CF9AE}" pid="10" name="ContentTypeId">
    <vt:lpwstr>0x010100E9B8EE6072CCC949AE3B9F71595720CD</vt:lpwstr>
  </property>
</Properties>
</file>